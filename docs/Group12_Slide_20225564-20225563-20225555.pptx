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4"/>
    <p:sldMasterId id="2147483674" r:id="rId5"/>
    <p:sldMasterId id="2147483713" r:id="rId6"/>
    <p:sldMasterId id="2147483726" r:id="rId7"/>
    <p:sldMasterId id="2147483739" r:id="rId8"/>
  </p:sldMasterIdLst>
  <p:notesMasterIdLst>
    <p:notesMasterId r:id="rId89"/>
  </p:notesMasterIdLst>
  <p:sldIdLst>
    <p:sldId id="257" r:id="rId9"/>
    <p:sldId id="262" r:id="rId10"/>
    <p:sldId id="258" r:id="rId11"/>
    <p:sldId id="269" r:id="rId12"/>
    <p:sldId id="263" r:id="rId13"/>
    <p:sldId id="314" r:id="rId14"/>
    <p:sldId id="315" r:id="rId15"/>
    <p:sldId id="316" r:id="rId16"/>
    <p:sldId id="275" r:id="rId17"/>
    <p:sldId id="318" r:id="rId18"/>
    <p:sldId id="320" r:id="rId19"/>
    <p:sldId id="322" r:id="rId20"/>
    <p:sldId id="323" r:id="rId21"/>
    <p:sldId id="324" r:id="rId22"/>
    <p:sldId id="325" r:id="rId23"/>
    <p:sldId id="330" r:id="rId24"/>
    <p:sldId id="331" r:id="rId25"/>
    <p:sldId id="332" r:id="rId26"/>
    <p:sldId id="333" r:id="rId27"/>
    <p:sldId id="379" r:id="rId28"/>
    <p:sldId id="334" r:id="rId29"/>
    <p:sldId id="335" r:id="rId30"/>
    <p:sldId id="336" r:id="rId31"/>
    <p:sldId id="340" r:id="rId32"/>
    <p:sldId id="338" r:id="rId33"/>
    <p:sldId id="337" r:id="rId34"/>
    <p:sldId id="339" r:id="rId35"/>
    <p:sldId id="345" r:id="rId36"/>
    <p:sldId id="343" r:id="rId37"/>
    <p:sldId id="344" r:id="rId38"/>
    <p:sldId id="293" r:id="rId39"/>
    <p:sldId id="329" r:id="rId40"/>
    <p:sldId id="295" r:id="rId41"/>
    <p:sldId id="296" r:id="rId42"/>
    <p:sldId id="294" r:id="rId43"/>
    <p:sldId id="362" r:id="rId44"/>
    <p:sldId id="364" r:id="rId45"/>
    <p:sldId id="365" r:id="rId46"/>
    <p:sldId id="328" r:id="rId47"/>
    <p:sldId id="363" r:id="rId48"/>
    <p:sldId id="297" r:id="rId49"/>
    <p:sldId id="298" r:id="rId50"/>
    <p:sldId id="366" r:id="rId51"/>
    <p:sldId id="300" r:id="rId52"/>
    <p:sldId id="367" r:id="rId53"/>
    <p:sldId id="369" r:id="rId54"/>
    <p:sldId id="368" r:id="rId55"/>
    <p:sldId id="301" r:id="rId56"/>
    <p:sldId id="370" r:id="rId57"/>
    <p:sldId id="326" r:id="rId58"/>
    <p:sldId id="371" r:id="rId59"/>
    <p:sldId id="327" r:id="rId60"/>
    <p:sldId id="380" r:id="rId61"/>
    <p:sldId id="302" r:id="rId62"/>
    <p:sldId id="274" r:id="rId63"/>
    <p:sldId id="373" r:id="rId64"/>
    <p:sldId id="372" r:id="rId65"/>
    <p:sldId id="374" r:id="rId66"/>
    <p:sldId id="303" r:id="rId67"/>
    <p:sldId id="351" r:id="rId68"/>
    <p:sldId id="353" r:id="rId69"/>
    <p:sldId id="381" r:id="rId70"/>
    <p:sldId id="352" r:id="rId71"/>
    <p:sldId id="354" r:id="rId72"/>
    <p:sldId id="356" r:id="rId73"/>
    <p:sldId id="375" r:id="rId74"/>
    <p:sldId id="357" r:id="rId75"/>
    <p:sldId id="376" r:id="rId76"/>
    <p:sldId id="358" r:id="rId77"/>
    <p:sldId id="359" r:id="rId78"/>
    <p:sldId id="377" r:id="rId79"/>
    <p:sldId id="360" r:id="rId80"/>
    <p:sldId id="361" r:id="rId81"/>
    <p:sldId id="378" r:id="rId82"/>
    <p:sldId id="346" r:id="rId83"/>
    <p:sldId id="347" r:id="rId84"/>
    <p:sldId id="348" r:id="rId85"/>
    <p:sldId id="350" r:id="rId86"/>
    <p:sldId id="349" r:id="rId87"/>
    <p:sldId id="264" r:id="rId8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3ABA43-91B9-6F3A-2A09-1914973F05CF}" v="810" dt="2025-12-22T00:01:16.184"/>
    <p1510:client id="{7C9BD655-2659-B230-1860-08C993C75AD5}" v="2126" vWet="2129" dt="2025-12-21T17:16:59.481"/>
    <p1510:client id="{806F8843-2B73-F888-F9E8-BF5A98239929}" v="1111" dt="2025-12-21T10:52:41.511"/>
    <p1510:client id="{91F3717B-E131-FECB-2993-DD6DA445F458}" v="926" dt="2025-12-21T09:46:15.677"/>
    <p1510:client id="{A2BA7F03-3C33-212B-529F-E9149893F19A}" v="770" dt="2025-12-22T03:10:16.448"/>
    <p1510:client id="{B0A39807-5C8E-4A64-B4CD-8639793E9D1E}" v="1572" dt="2025-12-22T01:12:21.73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notesMaster" Target="notesMasters/notesMaster1.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2.xml"/><Relationship Id="rId90" Type="http://schemas.openxmlformats.org/officeDocument/2006/relationships/presProps" Target="presProps.xml"/><Relationship Id="rId22" Type="http://schemas.openxmlformats.org/officeDocument/2006/relationships/slide" Target="slides/slide14.xml"/><Relationship Id="rId27" Type="http://schemas.openxmlformats.org/officeDocument/2006/relationships/slide" Target="slides/slide19.xml"/><Relationship Id="rId43" Type="http://schemas.openxmlformats.org/officeDocument/2006/relationships/slide" Target="slides/slide35.xml"/><Relationship Id="rId48" Type="http://schemas.openxmlformats.org/officeDocument/2006/relationships/slide" Target="slides/slide40.xml"/><Relationship Id="rId64" Type="http://schemas.openxmlformats.org/officeDocument/2006/relationships/slide" Target="slides/slide56.xml"/><Relationship Id="rId69" Type="http://schemas.openxmlformats.org/officeDocument/2006/relationships/slide" Target="slides/slide61.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slide" Target="slides/slide77.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slide" Target="slides/slide80.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slide" Target="slides/slide78.xml"/><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4.xml"/><Relationship Id="rId71" Type="http://schemas.openxmlformats.org/officeDocument/2006/relationships/slide" Target="slides/slide63.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slide" Target="slides/slide79.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 Id="rId14" Type="http://schemas.openxmlformats.org/officeDocument/2006/relationships/slide" Target="slides/slide6.xml"/><Relationship Id="rId30" Type="http://schemas.openxmlformats.org/officeDocument/2006/relationships/slide" Target="slides/slide22.xml"/><Relationship Id="rId35" Type="http://schemas.openxmlformats.org/officeDocument/2006/relationships/slide" Target="slides/slide27.xml"/><Relationship Id="rId56" Type="http://schemas.openxmlformats.org/officeDocument/2006/relationships/slide" Target="slides/slide48.xml"/><Relationship Id="rId77"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81E1A3D-488C-4EE6-B005-67C176D05ABD}" type="datetimeFigureOut">
              <a:rPr lang="en-US" smtClean="0"/>
              <a:t>12/22/2025</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A9FD0793-C8D7-4125-BD72-CB052C0E0E0B}" type="slidenum">
              <a:rPr lang="en-US" smtClean="0"/>
              <a:t>‹#›</a:t>
            </a:fld>
            <a:endParaRPr lang="en-US"/>
          </a:p>
        </p:txBody>
      </p:sp>
    </p:spTree>
    <p:extLst>
      <p:ext uri="{BB962C8B-B14F-4D97-AF65-F5344CB8AC3E}">
        <p14:creationId xmlns:p14="http://schemas.microsoft.com/office/powerpoint/2010/main" val="48710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000080"/>
                </a:solidFill>
                <a:highlight>
                  <a:srgbClr val="FFFFFF"/>
                </a:highlight>
              </a:rPr>
              <a:t>**</a:t>
            </a:r>
            <a:r>
              <a:rPr lang="en-US" b="1" err="1">
                <a:solidFill>
                  <a:srgbClr val="000080"/>
                </a:solidFill>
                <a:highlight>
                  <a:srgbClr val="FFFFFF"/>
                </a:highlight>
              </a:rPr>
              <a:t>Fuzzgoat</a:t>
            </a:r>
            <a:r>
              <a:rPr lang="en-US" b="1">
                <a:solidFill>
                  <a:srgbClr val="000080"/>
                </a:solidFill>
                <a:highlight>
                  <a:srgbClr val="FFFFFF"/>
                </a:highlight>
              </a:rPr>
              <a:t>**</a:t>
            </a:r>
            <a:r>
              <a:rPr lang="en-US">
                <a:solidFill>
                  <a:srgbClr val="3B3B3B"/>
                </a:solidFill>
                <a:highlight>
                  <a:srgbClr val="FFFFFF"/>
                </a:highlight>
              </a:rPr>
              <a:t> </a:t>
            </a:r>
            <a:r>
              <a:rPr lang="en-US" err="1">
                <a:solidFill>
                  <a:srgbClr val="3B3B3B"/>
                </a:solidFill>
                <a:highlight>
                  <a:srgbClr val="FFFFFF"/>
                </a:highlight>
              </a:rPr>
              <a:t>là</a:t>
            </a:r>
            <a:r>
              <a:rPr lang="en-US">
                <a:solidFill>
                  <a:srgbClr val="3B3B3B"/>
                </a:solidFill>
                <a:highlight>
                  <a:srgbClr val="FFFFFF"/>
                </a:highlight>
              </a:rPr>
              <a:t> </a:t>
            </a:r>
            <a:r>
              <a:rPr lang="en-US" err="1">
                <a:solidFill>
                  <a:srgbClr val="3B3B3B"/>
                </a:solidFill>
                <a:highlight>
                  <a:srgbClr val="FFFFFF"/>
                </a:highlight>
              </a:rPr>
              <a:t>một</a:t>
            </a:r>
            <a:r>
              <a:rPr lang="en-US">
                <a:solidFill>
                  <a:srgbClr val="3B3B3B"/>
                </a:solidFill>
                <a:highlight>
                  <a:srgbClr val="FFFFFF"/>
                </a:highlight>
              </a:rPr>
              <a:t> </a:t>
            </a:r>
            <a:r>
              <a:rPr lang="en-US" err="1">
                <a:solidFill>
                  <a:srgbClr val="3B3B3B"/>
                </a:solidFill>
                <a:highlight>
                  <a:srgbClr val="FFFFFF"/>
                </a:highlight>
              </a:rPr>
              <a:t>chương</a:t>
            </a:r>
            <a:r>
              <a:rPr lang="en-US">
                <a:solidFill>
                  <a:srgbClr val="3B3B3B"/>
                </a:solidFill>
                <a:highlight>
                  <a:srgbClr val="FFFFFF"/>
                </a:highlight>
              </a:rPr>
              <a:t> </a:t>
            </a:r>
            <a:r>
              <a:rPr lang="en-US" err="1">
                <a:solidFill>
                  <a:srgbClr val="3B3B3B"/>
                </a:solidFill>
                <a:highlight>
                  <a:srgbClr val="FFFFFF"/>
                </a:highlight>
              </a:rPr>
              <a:t>trình</a:t>
            </a:r>
            <a:r>
              <a:rPr lang="en-US">
                <a:solidFill>
                  <a:srgbClr val="3B3B3B"/>
                </a:solidFill>
                <a:highlight>
                  <a:srgbClr val="FFFFFF"/>
                </a:highlight>
              </a:rPr>
              <a:t> C </a:t>
            </a:r>
            <a:r>
              <a:rPr lang="en-US" err="1">
                <a:solidFill>
                  <a:srgbClr val="3B3B3B"/>
                </a:solidFill>
                <a:highlight>
                  <a:srgbClr val="FFFFFF"/>
                </a:highlight>
              </a:rPr>
              <a:t>mã</a:t>
            </a:r>
            <a:r>
              <a:rPr lang="en-US">
                <a:solidFill>
                  <a:srgbClr val="3B3B3B"/>
                </a:solidFill>
                <a:highlight>
                  <a:srgbClr val="FFFFFF"/>
                </a:highlight>
              </a:rPr>
              <a:t> </a:t>
            </a:r>
            <a:r>
              <a:rPr lang="en-US" err="1">
                <a:solidFill>
                  <a:srgbClr val="3B3B3B"/>
                </a:solidFill>
                <a:highlight>
                  <a:srgbClr val="FFFFFF"/>
                </a:highlight>
              </a:rPr>
              <a:t>nguồn</a:t>
            </a:r>
            <a:r>
              <a:rPr lang="en-US">
                <a:solidFill>
                  <a:srgbClr val="3B3B3B"/>
                </a:solidFill>
                <a:highlight>
                  <a:srgbClr val="FFFFFF"/>
                </a:highlight>
              </a:rPr>
              <a:t> </a:t>
            </a:r>
            <a:r>
              <a:rPr lang="en-US" err="1">
                <a:solidFill>
                  <a:srgbClr val="3B3B3B"/>
                </a:solidFill>
                <a:highlight>
                  <a:srgbClr val="FFFFFF"/>
                </a:highlight>
              </a:rPr>
              <a:t>mở</a:t>
            </a:r>
            <a:r>
              <a:rPr lang="en-US">
                <a:solidFill>
                  <a:srgbClr val="3B3B3B"/>
                </a:solidFill>
                <a:highlight>
                  <a:srgbClr val="FFFFFF"/>
                </a:highlight>
              </a:rPr>
              <a:t>, </a:t>
            </a:r>
            <a:r>
              <a:rPr lang="en-US" err="1">
                <a:solidFill>
                  <a:srgbClr val="3B3B3B"/>
                </a:solidFill>
                <a:highlight>
                  <a:srgbClr val="FFFFFF"/>
                </a:highlight>
              </a:rPr>
              <a:t>được</a:t>
            </a:r>
            <a:r>
              <a:rPr lang="en-US">
                <a:solidFill>
                  <a:srgbClr val="3B3B3B"/>
                </a:solidFill>
                <a:highlight>
                  <a:srgbClr val="FFFFFF"/>
                </a:highlight>
              </a:rPr>
              <a:t> </a:t>
            </a:r>
            <a:r>
              <a:rPr lang="en-US" err="1">
                <a:solidFill>
                  <a:srgbClr val="3B3B3B"/>
                </a:solidFill>
                <a:highlight>
                  <a:srgbClr val="FFFFFF"/>
                </a:highlight>
              </a:rPr>
              <a:t>sửa</a:t>
            </a:r>
            <a:r>
              <a:rPr lang="en-US">
                <a:solidFill>
                  <a:srgbClr val="3B3B3B"/>
                </a:solidFill>
                <a:highlight>
                  <a:srgbClr val="FFFFFF"/>
                </a:highlight>
              </a:rPr>
              <a:t> </a:t>
            </a:r>
            <a:r>
              <a:rPr lang="en-US" err="1">
                <a:solidFill>
                  <a:srgbClr val="3B3B3B"/>
                </a:solidFill>
                <a:highlight>
                  <a:srgbClr val="FFFFFF"/>
                </a:highlight>
              </a:rPr>
              <a:t>đổi</a:t>
            </a:r>
            <a:r>
              <a:rPr lang="en-US">
                <a:solidFill>
                  <a:srgbClr val="3B3B3B"/>
                </a:solidFill>
                <a:highlight>
                  <a:srgbClr val="FFFFFF"/>
                </a:highlight>
              </a:rPr>
              <a:t> </a:t>
            </a:r>
            <a:r>
              <a:rPr lang="en-US" err="1">
                <a:solidFill>
                  <a:srgbClr val="3B3B3B"/>
                </a:solidFill>
                <a:highlight>
                  <a:srgbClr val="FFFFFF"/>
                </a:highlight>
              </a:rPr>
              <a:t>từ</a:t>
            </a:r>
            <a:r>
              <a:rPr lang="en-US">
                <a:solidFill>
                  <a:srgbClr val="3B3B3B"/>
                </a:solidFill>
                <a:highlight>
                  <a:srgbClr val="FFFFFF"/>
                </a:highlight>
              </a:rPr>
              <a:t> </a:t>
            </a:r>
            <a:r>
              <a:rPr lang="en-US" err="1">
                <a:solidFill>
                  <a:srgbClr val="3B3B3B"/>
                </a:solidFill>
                <a:highlight>
                  <a:srgbClr val="FFFFFF"/>
                </a:highlight>
              </a:rPr>
              <a:t>thư</a:t>
            </a:r>
            <a:r>
              <a:rPr lang="en-US">
                <a:solidFill>
                  <a:srgbClr val="3B3B3B"/>
                </a:solidFill>
                <a:highlight>
                  <a:srgbClr val="FFFFFF"/>
                </a:highlight>
              </a:rPr>
              <a:t> </a:t>
            </a:r>
            <a:r>
              <a:rPr lang="en-US" err="1">
                <a:solidFill>
                  <a:srgbClr val="3B3B3B"/>
                </a:solidFill>
                <a:highlight>
                  <a:srgbClr val="FFFFFF"/>
                </a:highlight>
              </a:rPr>
              <a:t>viện</a:t>
            </a:r>
            <a:r>
              <a:rPr lang="en-US">
                <a:solidFill>
                  <a:srgbClr val="3B3B3B"/>
                </a:solidFill>
                <a:highlight>
                  <a:srgbClr val="FFFFFF"/>
                </a:highlight>
              </a:rPr>
              <a:t> </a:t>
            </a:r>
            <a:r>
              <a:rPr lang="en-US">
                <a:solidFill>
                  <a:srgbClr val="800000"/>
                </a:solidFill>
                <a:highlight>
                  <a:srgbClr val="FFFFFF"/>
                </a:highlight>
              </a:rPr>
              <a:t>`</a:t>
            </a:r>
            <a:r>
              <a:rPr lang="en-US" err="1">
                <a:solidFill>
                  <a:srgbClr val="800000"/>
                </a:solidFill>
                <a:highlight>
                  <a:srgbClr val="FFFFFF"/>
                </a:highlight>
              </a:rPr>
              <a:t>udp</a:t>
            </a:r>
            <a:r>
              <a:rPr lang="en-US">
                <a:solidFill>
                  <a:srgbClr val="800000"/>
                </a:solidFill>
                <a:highlight>
                  <a:srgbClr val="FFFFFF"/>
                </a:highlight>
              </a:rPr>
              <a:t>/</a:t>
            </a:r>
            <a:r>
              <a:rPr lang="en-US" err="1">
                <a:solidFill>
                  <a:srgbClr val="800000"/>
                </a:solidFill>
                <a:highlight>
                  <a:srgbClr val="FFFFFF"/>
                </a:highlight>
              </a:rPr>
              <a:t>json</a:t>
            </a:r>
            <a:r>
              <a:rPr lang="en-US">
                <a:solidFill>
                  <a:srgbClr val="800000"/>
                </a:solidFill>
                <a:highlight>
                  <a:srgbClr val="FFFFFF"/>
                </a:highlight>
              </a:rPr>
              <a:t>-parser`</a:t>
            </a:r>
            <a:r>
              <a:rPr lang="en-US">
                <a:solidFill>
                  <a:srgbClr val="3B3B3B"/>
                </a:solidFill>
                <a:highlight>
                  <a:srgbClr val="FFFFFF"/>
                </a:highlight>
              </a:rPr>
              <a:t>. </a:t>
            </a:r>
            <a:r>
              <a:rPr lang="en-US" err="1">
                <a:solidFill>
                  <a:srgbClr val="3B3B3B"/>
                </a:solidFill>
                <a:highlight>
                  <a:srgbClr val="FFFFFF"/>
                </a:highlight>
              </a:rPr>
              <a:t>Chức</a:t>
            </a:r>
            <a:r>
              <a:rPr lang="en-US">
                <a:solidFill>
                  <a:srgbClr val="3B3B3B"/>
                </a:solidFill>
                <a:highlight>
                  <a:srgbClr val="FFFFFF"/>
                </a:highlight>
              </a:rPr>
              <a:t> </a:t>
            </a:r>
            <a:r>
              <a:rPr lang="en-US" err="1">
                <a:solidFill>
                  <a:srgbClr val="3B3B3B"/>
                </a:solidFill>
                <a:highlight>
                  <a:srgbClr val="FFFFFF"/>
                </a:highlight>
              </a:rPr>
              <a:t>năng</a:t>
            </a:r>
            <a:r>
              <a:rPr lang="en-US">
                <a:solidFill>
                  <a:srgbClr val="3B3B3B"/>
                </a:solidFill>
                <a:highlight>
                  <a:srgbClr val="FFFFFF"/>
                </a:highlight>
              </a:rPr>
              <a:t> </a:t>
            </a:r>
            <a:r>
              <a:rPr lang="en-US" err="1">
                <a:solidFill>
                  <a:srgbClr val="3B3B3B"/>
                </a:solidFill>
                <a:highlight>
                  <a:srgbClr val="FFFFFF"/>
                </a:highlight>
              </a:rPr>
              <a:t>chính</a:t>
            </a:r>
            <a:r>
              <a:rPr lang="en-US">
                <a:solidFill>
                  <a:srgbClr val="3B3B3B"/>
                </a:solidFill>
                <a:highlight>
                  <a:srgbClr val="FFFFFF"/>
                </a:highlight>
              </a:rPr>
              <a:t> </a:t>
            </a:r>
            <a:r>
              <a:rPr lang="en-US" err="1">
                <a:solidFill>
                  <a:srgbClr val="3B3B3B"/>
                </a:solidFill>
                <a:highlight>
                  <a:srgbClr val="FFFFFF"/>
                </a:highlight>
              </a:rPr>
              <a:t>của</a:t>
            </a:r>
            <a:r>
              <a:rPr lang="en-US">
                <a:solidFill>
                  <a:srgbClr val="3B3B3B"/>
                </a:solidFill>
                <a:highlight>
                  <a:srgbClr val="FFFFFF"/>
                </a:highlight>
              </a:rPr>
              <a:t> </a:t>
            </a:r>
            <a:r>
              <a:rPr lang="en-US" err="1">
                <a:solidFill>
                  <a:srgbClr val="3B3B3B"/>
                </a:solidFill>
                <a:highlight>
                  <a:srgbClr val="FFFFFF"/>
                </a:highlight>
              </a:rPr>
              <a:t>nó</a:t>
            </a:r>
            <a:r>
              <a:rPr lang="en-US">
                <a:solidFill>
                  <a:srgbClr val="3B3B3B"/>
                </a:solidFill>
                <a:highlight>
                  <a:srgbClr val="FFFFFF"/>
                </a:highlight>
              </a:rPr>
              <a:t> </a:t>
            </a:r>
            <a:r>
              <a:rPr lang="en-US" err="1">
                <a:solidFill>
                  <a:srgbClr val="3B3B3B"/>
                </a:solidFill>
                <a:highlight>
                  <a:srgbClr val="FFFFFF"/>
                </a:highlight>
              </a:rPr>
              <a:t>là</a:t>
            </a:r>
            <a:r>
              <a:rPr lang="en-US">
                <a:solidFill>
                  <a:srgbClr val="3B3B3B"/>
                </a:solidFill>
                <a:highlight>
                  <a:srgbClr val="FFFFFF"/>
                </a:highlight>
              </a:rPr>
              <a:t> </a:t>
            </a:r>
            <a:r>
              <a:rPr lang="en-US" err="1">
                <a:solidFill>
                  <a:srgbClr val="3B3B3B"/>
                </a:solidFill>
                <a:highlight>
                  <a:srgbClr val="FFFFFF"/>
                </a:highlight>
              </a:rPr>
              <a:t>đọc</a:t>
            </a:r>
            <a:r>
              <a:rPr lang="en-US">
                <a:solidFill>
                  <a:srgbClr val="3B3B3B"/>
                </a:solidFill>
                <a:highlight>
                  <a:srgbClr val="FFFFFF"/>
                </a:highlight>
              </a:rPr>
              <a:t> </a:t>
            </a:r>
            <a:r>
              <a:rPr lang="en-US" err="1">
                <a:solidFill>
                  <a:srgbClr val="3B3B3B"/>
                </a:solidFill>
                <a:highlight>
                  <a:srgbClr val="FFFFFF"/>
                </a:highlight>
              </a:rPr>
              <a:t>một</a:t>
            </a:r>
            <a:r>
              <a:rPr lang="en-US">
                <a:solidFill>
                  <a:srgbClr val="3B3B3B"/>
                </a:solidFill>
                <a:highlight>
                  <a:srgbClr val="FFFFFF"/>
                </a:highlight>
              </a:rPr>
              <a:t> </a:t>
            </a:r>
            <a:r>
              <a:rPr lang="en-US" err="1">
                <a:solidFill>
                  <a:srgbClr val="3B3B3B"/>
                </a:solidFill>
                <a:highlight>
                  <a:srgbClr val="FFFFFF"/>
                </a:highlight>
              </a:rPr>
              <a:t>tệp</a:t>
            </a:r>
            <a:r>
              <a:rPr lang="en-US">
                <a:solidFill>
                  <a:srgbClr val="3B3B3B"/>
                </a:solidFill>
                <a:highlight>
                  <a:srgbClr val="FFFFFF"/>
                </a:highlight>
              </a:rPr>
              <a:t> JSON </a:t>
            </a:r>
            <a:r>
              <a:rPr lang="en-US" err="1">
                <a:solidFill>
                  <a:srgbClr val="3B3B3B"/>
                </a:solidFill>
                <a:highlight>
                  <a:srgbClr val="FFFFFF"/>
                </a:highlight>
              </a:rPr>
              <a:t>từ</a:t>
            </a:r>
            <a:r>
              <a:rPr lang="en-US">
                <a:solidFill>
                  <a:srgbClr val="3B3B3B"/>
                </a:solidFill>
                <a:highlight>
                  <a:srgbClr val="FFFFFF"/>
                </a:highlight>
              </a:rPr>
              <a:t> </a:t>
            </a:r>
            <a:r>
              <a:rPr lang="en-US" err="1">
                <a:solidFill>
                  <a:srgbClr val="3B3B3B"/>
                </a:solidFill>
                <a:highlight>
                  <a:srgbClr val="FFFFFF"/>
                </a:highlight>
              </a:rPr>
              <a:t>đầu</a:t>
            </a:r>
            <a:r>
              <a:rPr lang="en-US">
                <a:solidFill>
                  <a:srgbClr val="3B3B3B"/>
                </a:solidFill>
                <a:highlight>
                  <a:srgbClr val="FFFFFF"/>
                </a:highlight>
              </a:rPr>
              <a:t> </a:t>
            </a:r>
            <a:r>
              <a:rPr lang="en-US" err="1">
                <a:solidFill>
                  <a:srgbClr val="3B3B3B"/>
                </a:solidFill>
                <a:highlight>
                  <a:srgbClr val="FFFFFF"/>
                </a:highlight>
              </a:rPr>
              <a:t>vào</a:t>
            </a:r>
            <a:r>
              <a:rPr lang="en-US">
                <a:solidFill>
                  <a:srgbClr val="3B3B3B"/>
                </a:solidFill>
                <a:highlight>
                  <a:srgbClr val="FFFFFF"/>
                </a:highlight>
              </a:rPr>
              <a:t> </a:t>
            </a:r>
            <a:r>
              <a:rPr lang="en-US" err="1">
                <a:solidFill>
                  <a:srgbClr val="3B3B3B"/>
                </a:solidFill>
                <a:highlight>
                  <a:srgbClr val="FFFFFF"/>
                </a:highlight>
              </a:rPr>
              <a:t>chuẩn</a:t>
            </a:r>
            <a:r>
              <a:rPr lang="en-US">
                <a:solidFill>
                  <a:srgbClr val="3B3B3B"/>
                </a:solidFill>
                <a:highlight>
                  <a:srgbClr val="FFFFFF"/>
                </a:highlight>
              </a:rPr>
              <a:t> (stdin) </a:t>
            </a:r>
            <a:r>
              <a:rPr lang="en-US" err="1">
                <a:solidFill>
                  <a:srgbClr val="3B3B3B"/>
                </a:solidFill>
                <a:highlight>
                  <a:srgbClr val="FFFFFF"/>
                </a:highlight>
              </a:rPr>
              <a:t>hoặc</a:t>
            </a:r>
            <a:r>
              <a:rPr lang="en-US">
                <a:solidFill>
                  <a:srgbClr val="3B3B3B"/>
                </a:solidFill>
                <a:highlight>
                  <a:srgbClr val="FFFFFF"/>
                </a:highlight>
              </a:rPr>
              <a:t> </a:t>
            </a:r>
            <a:r>
              <a:rPr lang="en-US" err="1">
                <a:solidFill>
                  <a:srgbClr val="3B3B3B"/>
                </a:solidFill>
                <a:highlight>
                  <a:srgbClr val="FFFFFF"/>
                </a:highlight>
              </a:rPr>
              <a:t>từ</a:t>
            </a:r>
            <a:r>
              <a:rPr lang="en-US">
                <a:solidFill>
                  <a:srgbClr val="3B3B3B"/>
                </a:solidFill>
                <a:highlight>
                  <a:srgbClr val="FFFFFF"/>
                </a:highlight>
              </a:rPr>
              <a:t> </a:t>
            </a:r>
            <a:r>
              <a:rPr lang="en-US" err="1">
                <a:solidFill>
                  <a:srgbClr val="3B3B3B"/>
                </a:solidFill>
                <a:highlight>
                  <a:srgbClr val="FFFFFF"/>
                </a:highlight>
              </a:rPr>
              <a:t>tệp</a:t>
            </a:r>
            <a:r>
              <a:rPr lang="en-US">
                <a:solidFill>
                  <a:srgbClr val="3B3B3B"/>
                </a:solidFill>
                <a:highlight>
                  <a:srgbClr val="FFFFFF"/>
                </a:highlight>
              </a:rPr>
              <a:t>, </a:t>
            </a:r>
            <a:r>
              <a:rPr lang="en-US" err="1">
                <a:solidFill>
                  <a:srgbClr val="3B3B3B"/>
                </a:solidFill>
                <a:highlight>
                  <a:srgbClr val="FFFFFF"/>
                </a:highlight>
              </a:rPr>
              <a:t>phân</a:t>
            </a:r>
            <a:r>
              <a:rPr lang="en-US">
                <a:solidFill>
                  <a:srgbClr val="3B3B3B"/>
                </a:solidFill>
                <a:highlight>
                  <a:srgbClr val="FFFFFF"/>
                </a:highlight>
              </a:rPr>
              <a:t> </a:t>
            </a:r>
            <a:r>
              <a:rPr lang="en-US" err="1">
                <a:solidFill>
                  <a:srgbClr val="3B3B3B"/>
                </a:solidFill>
                <a:highlight>
                  <a:srgbClr val="FFFFFF"/>
                </a:highlight>
              </a:rPr>
              <a:t>tích</a:t>
            </a:r>
            <a:r>
              <a:rPr lang="en-US">
                <a:solidFill>
                  <a:srgbClr val="3B3B3B"/>
                </a:solidFill>
                <a:highlight>
                  <a:srgbClr val="FFFFFF"/>
                </a:highlight>
              </a:rPr>
              <a:t> </a:t>
            </a:r>
            <a:r>
              <a:rPr lang="en-US" err="1">
                <a:solidFill>
                  <a:srgbClr val="3B3B3B"/>
                </a:solidFill>
                <a:highlight>
                  <a:srgbClr val="FFFFFF"/>
                </a:highlight>
              </a:rPr>
              <a:t>cú</a:t>
            </a:r>
            <a:r>
              <a:rPr lang="en-US">
                <a:solidFill>
                  <a:srgbClr val="3B3B3B"/>
                </a:solidFill>
                <a:highlight>
                  <a:srgbClr val="FFFFFF"/>
                </a:highlight>
              </a:rPr>
              <a:t> </a:t>
            </a:r>
            <a:r>
              <a:rPr lang="en-US" err="1">
                <a:solidFill>
                  <a:srgbClr val="3B3B3B"/>
                </a:solidFill>
                <a:highlight>
                  <a:srgbClr val="FFFFFF"/>
                </a:highlight>
              </a:rPr>
              <a:t>pháp</a:t>
            </a:r>
            <a:r>
              <a:rPr lang="en-US">
                <a:solidFill>
                  <a:srgbClr val="3B3B3B"/>
                </a:solidFill>
                <a:highlight>
                  <a:srgbClr val="FFFFFF"/>
                </a:highlight>
              </a:rPr>
              <a:t> </a:t>
            </a:r>
            <a:r>
              <a:rPr lang="en-US" err="1">
                <a:solidFill>
                  <a:srgbClr val="3B3B3B"/>
                </a:solidFill>
                <a:highlight>
                  <a:srgbClr val="FFFFFF"/>
                </a:highlight>
              </a:rPr>
              <a:t>và</a:t>
            </a:r>
            <a:r>
              <a:rPr lang="en-US">
                <a:solidFill>
                  <a:srgbClr val="3B3B3B"/>
                </a:solidFill>
                <a:highlight>
                  <a:srgbClr val="FFFFFF"/>
                </a:highlight>
              </a:rPr>
              <a:t> in </a:t>
            </a:r>
            <a:r>
              <a:rPr lang="en-US" err="1">
                <a:solidFill>
                  <a:srgbClr val="3B3B3B"/>
                </a:solidFill>
                <a:highlight>
                  <a:srgbClr val="FFFFFF"/>
                </a:highlight>
              </a:rPr>
              <a:t>ra</a:t>
            </a:r>
            <a:r>
              <a:rPr lang="en-US">
                <a:solidFill>
                  <a:srgbClr val="3B3B3B"/>
                </a:solidFill>
                <a:highlight>
                  <a:srgbClr val="FFFFFF"/>
                </a:highlight>
              </a:rPr>
              <a:t> </a:t>
            </a:r>
            <a:r>
              <a:rPr lang="en-US" err="1">
                <a:solidFill>
                  <a:srgbClr val="3B3B3B"/>
                </a:solidFill>
                <a:highlight>
                  <a:srgbClr val="FFFFFF"/>
                </a:highlight>
              </a:rPr>
              <a:t>cấu</a:t>
            </a:r>
            <a:r>
              <a:rPr lang="en-US">
                <a:solidFill>
                  <a:srgbClr val="3B3B3B"/>
                </a:solidFill>
                <a:highlight>
                  <a:srgbClr val="FFFFFF"/>
                </a:highlight>
              </a:rPr>
              <a:t> </a:t>
            </a:r>
            <a:r>
              <a:rPr lang="en-US" err="1">
                <a:solidFill>
                  <a:srgbClr val="3B3B3B"/>
                </a:solidFill>
                <a:highlight>
                  <a:srgbClr val="FFFFFF"/>
                </a:highlight>
              </a:rPr>
              <a:t>trúc</a:t>
            </a:r>
            <a:r>
              <a:rPr lang="en-US">
                <a:solidFill>
                  <a:srgbClr val="3B3B3B"/>
                </a:solidFill>
                <a:highlight>
                  <a:srgbClr val="FFFFFF"/>
                </a:highlight>
              </a:rPr>
              <a:t> </a:t>
            </a:r>
            <a:r>
              <a:rPr lang="en-US" err="1">
                <a:solidFill>
                  <a:srgbClr val="3B3B3B"/>
                </a:solidFill>
                <a:highlight>
                  <a:srgbClr val="FFFFFF"/>
                </a:highlight>
              </a:rPr>
              <a:t>dữ</a:t>
            </a:r>
            <a:r>
              <a:rPr lang="en-US">
                <a:solidFill>
                  <a:srgbClr val="3B3B3B"/>
                </a:solidFill>
                <a:highlight>
                  <a:srgbClr val="FFFFFF"/>
                </a:highlight>
              </a:rPr>
              <a:t> </a:t>
            </a:r>
            <a:r>
              <a:rPr lang="en-US" err="1">
                <a:solidFill>
                  <a:srgbClr val="3B3B3B"/>
                </a:solidFill>
                <a:highlight>
                  <a:srgbClr val="FFFFFF"/>
                </a:highlight>
              </a:rPr>
              <a:t>liệu</a:t>
            </a:r>
            <a:r>
              <a:rPr lang="en-US">
                <a:solidFill>
                  <a:srgbClr val="3B3B3B"/>
                </a:solidFill>
                <a:highlight>
                  <a:srgbClr val="FFFFFF"/>
                </a:highlight>
              </a:rPr>
              <a:t> </a:t>
            </a:r>
            <a:r>
              <a:rPr lang="en-US" err="1">
                <a:solidFill>
                  <a:srgbClr val="3B3B3B"/>
                </a:solidFill>
                <a:highlight>
                  <a:srgbClr val="FFFFFF"/>
                </a:highlight>
              </a:rPr>
              <a:t>tương</a:t>
            </a:r>
            <a:r>
              <a:rPr lang="en-US">
                <a:solidFill>
                  <a:srgbClr val="3B3B3B"/>
                </a:solidFill>
                <a:highlight>
                  <a:srgbClr val="FFFFFF"/>
                </a:highlight>
              </a:rPr>
              <a:t> </a:t>
            </a:r>
            <a:r>
              <a:rPr lang="en-US" err="1">
                <a:solidFill>
                  <a:srgbClr val="3B3B3B"/>
                </a:solidFill>
                <a:highlight>
                  <a:srgbClr val="FFFFFF"/>
                </a:highlight>
              </a:rPr>
              <a:t>ứng</a:t>
            </a:r>
            <a:r>
              <a:rPr lang="en-US">
                <a:solidFill>
                  <a:srgbClr val="3B3B3B"/>
                </a:solidFill>
                <a:highlight>
                  <a:srgbClr val="FFFFFF"/>
                </a:highlight>
              </a:rPr>
              <a:t>. </a:t>
            </a:r>
            <a:endParaRPr lang="en-US"/>
          </a:p>
          <a:p>
            <a:br>
              <a:rPr lang="en-US"/>
            </a:br>
            <a:endParaRPr lang="en-US"/>
          </a:p>
          <a:p>
            <a:r>
              <a:rPr lang="en-US" err="1">
                <a:solidFill>
                  <a:srgbClr val="3B3B3B"/>
                </a:solidFill>
                <a:highlight>
                  <a:srgbClr val="FFFFFF"/>
                </a:highlight>
              </a:rPr>
              <a:t>Cụ</a:t>
            </a:r>
            <a:r>
              <a:rPr lang="en-US">
                <a:solidFill>
                  <a:srgbClr val="3B3B3B"/>
                </a:solidFill>
                <a:highlight>
                  <a:srgbClr val="FFFFFF"/>
                </a:highlight>
              </a:rPr>
              <a:t> </a:t>
            </a:r>
            <a:r>
              <a:rPr lang="en-US" err="1">
                <a:solidFill>
                  <a:srgbClr val="3B3B3B"/>
                </a:solidFill>
                <a:highlight>
                  <a:srgbClr val="FFFFFF"/>
                </a:highlight>
              </a:rPr>
              <a:t>thể</a:t>
            </a:r>
            <a:r>
              <a:rPr lang="en-US">
                <a:solidFill>
                  <a:srgbClr val="3B3B3B"/>
                </a:solidFill>
                <a:highlight>
                  <a:srgbClr val="FFFFFF"/>
                </a:highlight>
              </a:rPr>
              <a:t> </a:t>
            </a:r>
            <a:r>
              <a:rPr lang="en-US" err="1">
                <a:solidFill>
                  <a:srgbClr val="3B3B3B"/>
                </a:solidFill>
                <a:highlight>
                  <a:srgbClr val="FFFFFF"/>
                </a:highlight>
              </a:rPr>
              <a:t>chương</a:t>
            </a:r>
            <a:r>
              <a:rPr lang="en-US">
                <a:solidFill>
                  <a:srgbClr val="3B3B3B"/>
                </a:solidFill>
                <a:highlight>
                  <a:srgbClr val="FFFFFF"/>
                </a:highlight>
              </a:rPr>
              <a:t> trình hoạt động theo mô hình đệ quy (recursive descent parser). Nó đọc một chuỗi byte đầu vào và cố gắng xây dựng một cấu trúc dữ liệu cây đại diện cho đối tượng JSON.</a:t>
            </a:r>
            <a:endParaRPr lang="en-US"/>
          </a:p>
          <a:p>
            <a:br>
              <a:rPr lang="en-US"/>
            </a:br>
            <a:endParaRPr lang="en-US"/>
          </a:p>
          <a:p>
            <a:r>
              <a:rPr lang="en-US">
                <a:solidFill>
                  <a:srgbClr val="0451A5"/>
                </a:solidFill>
                <a:highlight>
                  <a:srgbClr val="FFFFFF"/>
                </a:highlight>
              </a:rPr>
              <a:t>-</a:t>
            </a:r>
            <a:r>
              <a:rPr lang="en-US">
                <a:solidFill>
                  <a:srgbClr val="3B3B3B"/>
                </a:solidFill>
                <a:highlight>
                  <a:srgbClr val="FFFFFF"/>
                </a:highlight>
              </a:rPr>
              <a:t> Input: File JSON </a:t>
            </a:r>
            <a:r>
              <a:rPr lang="en-US" err="1">
                <a:solidFill>
                  <a:srgbClr val="3B3B3B"/>
                </a:solidFill>
                <a:highlight>
                  <a:srgbClr val="FFFFFF"/>
                </a:highlight>
              </a:rPr>
              <a:t>hoặc</a:t>
            </a:r>
            <a:r>
              <a:rPr lang="en-US">
                <a:solidFill>
                  <a:srgbClr val="3B3B3B"/>
                </a:solidFill>
                <a:highlight>
                  <a:srgbClr val="FFFFFF"/>
                </a:highlight>
              </a:rPr>
              <a:t> </a:t>
            </a:r>
            <a:r>
              <a:rPr lang="en-US" err="1">
                <a:solidFill>
                  <a:srgbClr val="3B3B3B"/>
                </a:solidFill>
                <a:highlight>
                  <a:srgbClr val="FFFFFF"/>
                </a:highlight>
              </a:rPr>
              <a:t>luồng</a:t>
            </a:r>
            <a:r>
              <a:rPr lang="en-US">
                <a:solidFill>
                  <a:srgbClr val="3B3B3B"/>
                </a:solidFill>
                <a:highlight>
                  <a:srgbClr val="FFFFFF"/>
                </a:highlight>
              </a:rPr>
              <a:t> </a:t>
            </a:r>
            <a:r>
              <a:rPr lang="en-US" err="1">
                <a:solidFill>
                  <a:srgbClr val="3B3B3B"/>
                </a:solidFill>
                <a:highlight>
                  <a:srgbClr val="FFFFFF"/>
                </a:highlight>
              </a:rPr>
              <a:t>dữ</a:t>
            </a:r>
            <a:r>
              <a:rPr lang="en-US">
                <a:solidFill>
                  <a:srgbClr val="3B3B3B"/>
                </a:solidFill>
                <a:highlight>
                  <a:srgbClr val="FFFFFF"/>
                </a:highlight>
              </a:rPr>
              <a:t> </a:t>
            </a:r>
            <a:r>
              <a:rPr lang="en-US" err="1">
                <a:solidFill>
                  <a:srgbClr val="3B3B3B"/>
                </a:solidFill>
                <a:highlight>
                  <a:srgbClr val="FFFFFF"/>
                </a:highlight>
              </a:rPr>
              <a:t>liệu</a:t>
            </a:r>
            <a:r>
              <a:rPr lang="en-US">
                <a:solidFill>
                  <a:srgbClr val="3B3B3B"/>
                </a:solidFill>
                <a:highlight>
                  <a:srgbClr val="FFFFFF"/>
                </a:highlight>
              </a:rPr>
              <a:t> </a:t>
            </a:r>
            <a:r>
              <a:rPr lang="en-US" err="1">
                <a:solidFill>
                  <a:srgbClr val="3B3B3B"/>
                </a:solidFill>
                <a:highlight>
                  <a:srgbClr val="FFFFFF"/>
                </a:highlight>
              </a:rPr>
              <a:t>từ</a:t>
            </a:r>
            <a:r>
              <a:rPr lang="en-US">
                <a:solidFill>
                  <a:srgbClr val="3B3B3B"/>
                </a:solidFill>
                <a:highlight>
                  <a:srgbClr val="FFFFFF"/>
                </a:highlight>
              </a:rPr>
              <a:t> stdin.</a:t>
            </a:r>
            <a:endParaRPr lang="en-US"/>
          </a:p>
          <a:p>
            <a:r>
              <a:rPr lang="en-US">
                <a:solidFill>
                  <a:srgbClr val="0451A5"/>
                </a:solidFill>
                <a:highlight>
                  <a:srgbClr val="FFFFFF"/>
                </a:highlight>
              </a:rPr>
              <a:t>-</a:t>
            </a:r>
            <a:r>
              <a:rPr lang="en-US">
                <a:solidFill>
                  <a:srgbClr val="3B3B3B"/>
                </a:solidFill>
                <a:highlight>
                  <a:srgbClr val="FFFFFF"/>
                </a:highlight>
              </a:rPr>
              <a:t> Process: </a:t>
            </a:r>
            <a:r>
              <a:rPr lang="en-US" err="1">
                <a:solidFill>
                  <a:srgbClr val="3B3B3B"/>
                </a:solidFill>
                <a:highlight>
                  <a:srgbClr val="FFFFFF"/>
                </a:highlight>
              </a:rPr>
              <a:t>Hàm</a:t>
            </a:r>
            <a:r>
              <a:rPr lang="en-US">
                <a:solidFill>
                  <a:srgbClr val="3B3B3B"/>
                </a:solidFill>
                <a:highlight>
                  <a:srgbClr val="FFFFFF"/>
                </a:highlight>
              </a:rPr>
              <a:t> </a:t>
            </a:r>
            <a:r>
              <a:rPr lang="en-US" err="1">
                <a:solidFill>
                  <a:srgbClr val="3B3B3B"/>
                </a:solidFill>
                <a:highlight>
                  <a:srgbClr val="FFFFFF"/>
                </a:highlight>
              </a:rPr>
              <a:t>json_parse</a:t>
            </a:r>
            <a:r>
              <a:rPr lang="en-US">
                <a:solidFill>
                  <a:srgbClr val="3B3B3B"/>
                </a:solidFill>
                <a:highlight>
                  <a:srgbClr val="FFFFFF"/>
                </a:highlight>
              </a:rPr>
              <a:t> </a:t>
            </a:r>
            <a:r>
              <a:rPr lang="en-US" err="1">
                <a:solidFill>
                  <a:srgbClr val="3B3B3B"/>
                </a:solidFill>
                <a:highlight>
                  <a:srgbClr val="FFFFFF"/>
                </a:highlight>
              </a:rPr>
              <a:t>gọi</a:t>
            </a:r>
            <a:r>
              <a:rPr lang="en-US">
                <a:solidFill>
                  <a:srgbClr val="3B3B3B"/>
                </a:solidFill>
                <a:highlight>
                  <a:srgbClr val="FFFFFF"/>
                </a:highlight>
              </a:rPr>
              <a:t> </a:t>
            </a:r>
            <a:r>
              <a:rPr lang="en-US" err="1">
                <a:solidFill>
                  <a:srgbClr val="3B3B3B"/>
                </a:solidFill>
                <a:highlight>
                  <a:srgbClr val="FFFFFF"/>
                </a:highlight>
              </a:rPr>
              <a:t>các</a:t>
            </a:r>
            <a:r>
              <a:rPr lang="en-US">
                <a:solidFill>
                  <a:srgbClr val="3B3B3B"/>
                </a:solidFill>
                <a:highlight>
                  <a:srgbClr val="FFFFFF"/>
                </a:highlight>
              </a:rPr>
              <a:t> </a:t>
            </a:r>
            <a:r>
              <a:rPr lang="en-US" err="1">
                <a:solidFill>
                  <a:srgbClr val="3B3B3B"/>
                </a:solidFill>
                <a:highlight>
                  <a:srgbClr val="FFFFFF"/>
                </a:highlight>
              </a:rPr>
              <a:t>hàm</a:t>
            </a:r>
            <a:r>
              <a:rPr lang="en-US">
                <a:solidFill>
                  <a:srgbClr val="3B3B3B"/>
                </a:solidFill>
                <a:highlight>
                  <a:srgbClr val="FFFFFF"/>
                </a:highlight>
              </a:rPr>
              <a:t> con </a:t>
            </a:r>
            <a:r>
              <a:rPr lang="en-US" err="1">
                <a:solidFill>
                  <a:srgbClr val="3B3B3B"/>
                </a:solidFill>
                <a:highlight>
                  <a:srgbClr val="FFFFFF"/>
                </a:highlight>
              </a:rPr>
              <a:t>để</a:t>
            </a:r>
            <a:r>
              <a:rPr lang="en-US">
                <a:solidFill>
                  <a:srgbClr val="3B3B3B"/>
                </a:solidFill>
                <a:highlight>
                  <a:srgbClr val="FFFFFF"/>
                </a:highlight>
              </a:rPr>
              <a:t> </a:t>
            </a:r>
            <a:r>
              <a:rPr lang="en-US" err="1">
                <a:solidFill>
                  <a:srgbClr val="3B3B3B"/>
                </a:solidFill>
                <a:highlight>
                  <a:srgbClr val="FFFFFF"/>
                </a:highlight>
              </a:rPr>
              <a:t>xử</a:t>
            </a:r>
            <a:r>
              <a:rPr lang="en-US">
                <a:solidFill>
                  <a:srgbClr val="3B3B3B"/>
                </a:solidFill>
                <a:highlight>
                  <a:srgbClr val="FFFFFF"/>
                </a:highlight>
              </a:rPr>
              <a:t> </a:t>
            </a:r>
            <a:r>
              <a:rPr lang="en-US" err="1">
                <a:solidFill>
                  <a:srgbClr val="3B3B3B"/>
                </a:solidFill>
                <a:highlight>
                  <a:srgbClr val="FFFFFF"/>
                </a:highlight>
              </a:rPr>
              <a:t>lý</a:t>
            </a:r>
            <a:r>
              <a:rPr lang="en-US">
                <a:solidFill>
                  <a:srgbClr val="3B3B3B"/>
                </a:solidFill>
                <a:highlight>
                  <a:srgbClr val="FFFFFF"/>
                </a:highlight>
              </a:rPr>
              <a:t> Object, Array, String, Number, Boolean, v.v.</a:t>
            </a:r>
            <a:endParaRPr lang="en-US"/>
          </a:p>
          <a:p>
            <a:r>
              <a:rPr lang="en-US">
                <a:solidFill>
                  <a:srgbClr val="0451A5"/>
                </a:solidFill>
                <a:highlight>
                  <a:srgbClr val="FFFFFF"/>
                </a:highlight>
              </a:rPr>
              <a:t>-</a:t>
            </a:r>
            <a:r>
              <a:rPr lang="en-US">
                <a:solidFill>
                  <a:srgbClr val="3B3B3B"/>
                </a:solidFill>
                <a:highlight>
                  <a:srgbClr val="FFFFFF"/>
                </a:highlight>
              </a:rPr>
              <a:t> Output: </a:t>
            </a:r>
            <a:r>
              <a:rPr lang="en-US" err="1">
                <a:solidFill>
                  <a:srgbClr val="3B3B3B"/>
                </a:solidFill>
                <a:highlight>
                  <a:srgbClr val="FFFFFF"/>
                </a:highlight>
              </a:rPr>
              <a:t>Chương</a:t>
            </a:r>
            <a:r>
              <a:rPr lang="en-US">
                <a:solidFill>
                  <a:srgbClr val="3B3B3B"/>
                </a:solidFill>
                <a:highlight>
                  <a:srgbClr val="FFFFFF"/>
                </a:highlight>
              </a:rPr>
              <a:t> </a:t>
            </a:r>
            <a:r>
              <a:rPr lang="en-US" err="1">
                <a:solidFill>
                  <a:srgbClr val="3B3B3B"/>
                </a:solidFill>
                <a:highlight>
                  <a:srgbClr val="FFFFFF"/>
                </a:highlight>
              </a:rPr>
              <a:t>trình</a:t>
            </a:r>
            <a:r>
              <a:rPr lang="en-US">
                <a:solidFill>
                  <a:srgbClr val="3B3B3B"/>
                </a:solidFill>
                <a:highlight>
                  <a:srgbClr val="FFFFFF"/>
                </a:highlight>
              </a:rPr>
              <a:t> </a:t>
            </a:r>
            <a:r>
              <a:rPr lang="en-US" err="1">
                <a:solidFill>
                  <a:srgbClr val="3B3B3B"/>
                </a:solidFill>
                <a:highlight>
                  <a:srgbClr val="FFFFFF"/>
                </a:highlight>
              </a:rPr>
              <a:t>thường</a:t>
            </a:r>
            <a:r>
              <a:rPr lang="en-US">
                <a:solidFill>
                  <a:srgbClr val="3B3B3B"/>
                </a:solidFill>
                <a:highlight>
                  <a:srgbClr val="FFFFFF"/>
                </a:highlight>
              </a:rPr>
              <a:t> </a:t>
            </a:r>
            <a:r>
              <a:rPr lang="en-US" err="1">
                <a:solidFill>
                  <a:srgbClr val="3B3B3B"/>
                </a:solidFill>
                <a:highlight>
                  <a:srgbClr val="FFFFFF"/>
                </a:highlight>
              </a:rPr>
              <a:t>không</a:t>
            </a:r>
            <a:r>
              <a:rPr lang="en-US">
                <a:solidFill>
                  <a:srgbClr val="3B3B3B"/>
                </a:solidFill>
                <a:highlight>
                  <a:srgbClr val="FFFFFF"/>
                </a:highlight>
              </a:rPr>
              <a:t> in </a:t>
            </a:r>
            <a:r>
              <a:rPr lang="en-US" err="1">
                <a:solidFill>
                  <a:srgbClr val="3B3B3B"/>
                </a:solidFill>
                <a:highlight>
                  <a:srgbClr val="FFFFFF"/>
                </a:highlight>
              </a:rPr>
              <a:t>ra</a:t>
            </a:r>
            <a:r>
              <a:rPr lang="en-US">
                <a:solidFill>
                  <a:srgbClr val="3B3B3B"/>
                </a:solidFill>
                <a:highlight>
                  <a:srgbClr val="FFFFFF"/>
                </a:highlight>
              </a:rPr>
              <a:t> </a:t>
            </a:r>
            <a:r>
              <a:rPr lang="en-US" err="1">
                <a:solidFill>
                  <a:srgbClr val="3B3B3B"/>
                </a:solidFill>
                <a:highlight>
                  <a:srgbClr val="FFFFFF"/>
                </a:highlight>
              </a:rPr>
              <a:t>kết</a:t>
            </a:r>
            <a:r>
              <a:rPr lang="en-US">
                <a:solidFill>
                  <a:srgbClr val="3B3B3B"/>
                </a:solidFill>
                <a:highlight>
                  <a:srgbClr val="FFFFFF"/>
                </a:highlight>
              </a:rPr>
              <a:t> </a:t>
            </a:r>
            <a:r>
              <a:rPr lang="en-US" err="1">
                <a:solidFill>
                  <a:srgbClr val="3B3B3B"/>
                </a:solidFill>
                <a:highlight>
                  <a:srgbClr val="FFFFFF"/>
                </a:highlight>
              </a:rPr>
              <a:t>quả</a:t>
            </a:r>
            <a:r>
              <a:rPr lang="en-US">
                <a:solidFill>
                  <a:srgbClr val="3B3B3B"/>
                </a:solidFill>
                <a:highlight>
                  <a:srgbClr val="FFFFFF"/>
                </a:highlight>
              </a:rPr>
              <a:t> </a:t>
            </a:r>
            <a:r>
              <a:rPr lang="en-US" err="1">
                <a:solidFill>
                  <a:srgbClr val="3B3B3B"/>
                </a:solidFill>
                <a:highlight>
                  <a:srgbClr val="FFFFFF"/>
                </a:highlight>
              </a:rPr>
              <a:t>phân</a:t>
            </a:r>
            <a:r>
              <a:rPr lang="en-US">
                <a:solidFill>
                  <a:srgbClr val="3B3B3B"/>
                </a:solidFill>
                <a:highlight>
                  <a:srgbClr val="FFFFFF"/>
                </a:highlight>
              </a:rPr>
              <a:t> </a:t>
            </a:r>
            <a:r>
              <a:rPr lang="en-US" err="1">
                <a:solidFill>
                  <a:srgbClr val="3B3B3B"/>
                </a:solidFill>
                <a:highlight>
                  <a:srgbClr val="FFFFFF"/>
                </a:highlight>
              </a:rPr>
              <a:t>tích</a:t>
            </a:r>
            <a:r>
              <a:rPr lang="en-US">
                <a:solidFill>
                  <a:srgbClr val="3B3B3B"/>
                </a:solidFill>
                <a:highlight>
                  <a:srgbClr val="FFFFFF"/>
                </a:highlight>
              </a:rPr>
              <a:t> </a:t>
            </a:r>
            <a:r>
              <a:rPr lang="en-US" err="1">
                <a:solidFill>
                  <a:srgbClr val="3B3B3B"/>
                </a:solidFill>
                <a:highlight>
                  <a:srgbClr val="FFFFFF"/>
                </a:highlight>
              </a:rPr>
              <a:t>mà</a:t>
            </a:r>
            <a:r>
              <a:rPr lang="en-US">
                <a:solidFill>
                  <a:srgbClr val="3B3B3B"/>
                </a:solidFill>
                <a:highlight>
                  <a:srgbClr val="FFFFFF"/>
                </a:highlight>
              </a:rPr>
              <a:t> </a:t>
            </a:r>
            <a:r>
              <a:rPr lang="en-US" err="1">
                <a:solidFill>
                  <a:srgbClr val="3B3B3B"/>
                </a:solidFill>
                <a:highlight>
                  <a:srgbClr val="FFFFFF"/>
                </a:highlight>
              </a:rPr>
              <a:t>chỉ</a:t>
            </a:r>
            <a:r>
              <a:rPr lang="en-US">
                <a:solidFill>
                  <a:srgbClr val="3B3B3B"/>
                </a:solidFill>
                <a:highlight>
                  <a:srgbClr val="FFFFFF"/>
                </a:highlight>
              </a:rPr>
              <a:t> </a:t>
            </a:r>
            <a:r>
              <a:rPr lang="en-US" err="1">
                <a:solidFill>
                  <a:srgbClr val="3B3B3B"/>
                </a:solidFill>
                <a:highlight>
                  <a:srgbClr val="FFFFFF"/>
                </a:highlight>
              </a:rPr>
              <a:t>trả</a:t>
            </a:r>
            <a:r>
              <a:rPr lang="en-US">
                <a:solidFill>
                  <a:srgbClr val="3B3B3B"/>
                </a:solidFill>
                <a:highlight>
                  <a:srgbClr val="FFFFFF"/>
                </a:highlight>
              </a:rPr>
              <a:t> </a:t>
            </a:r>
            <a:r>
              <a:rPr lang="en-US" err="1">
                <a:solidFill>
                  <a:srgbClr val="3B3B3B"/>
                </a:solidFill>
                <a:highlight>
                  <a:srgbClr val="FFFFFF"/>
                </a:highlight>
              </a:rPr>
              <a:t>về</a:t>
            </a:r>
            <a:r>
              <a:rPr lang="en-US">
                <a:solidFill>
                  <a:srgbClr val="3B3B3B"/>
                </a:solidFill>
                <a:highlight>
                  <a:srgbClr val="FFFFFF"/>
                </a:highlight>
              </a:rPr>
              <a:t> </a:t>
            </a:r>
            <a:r>
              <a:rPr lang="en-US" err="1">
                <a:solidFill>
                  <a:srgbClr val="3B3B3B"/>
                </a:solidFill>
                <a:highlight>
                  <a:srgbClr val="FFFFFF"/>
                </a:highlight>
              </a:rPr>
              <a:t>mã</a:t>
            </a:r>
            <a:r>
              <a:rPr lang="en-US">
                <a:solidFill>
                  <a:srgbClr val="3B3B3B"/>
                </a:solidFill>
                <a:highlight>
                  <a:srgbClr val="FFFFFF"/>
                </a:highlight>
              </a:rPr>
              <a:t> </a:t>
            </a:r>
            <a:r>
              <a:rPr lang="en-US" err="1">
                <a:solidFill>
                  <a:srgbClr val="3B3B3B"/>
                </a:solidFill>
                <a:highlight>
                  <a:srgbClr val="FFFFFF"/>
                </a:highlight>
              </a:rPr>
              <a:t>thoát</a:t>
            </a:r>
            <a:r>
              <a:rPr lang="en-US">
                <a:solidFill>
                  <a:srgbClr val="3B3B3B"/>
                </a:solidFill>
                <a:highlight>
                  <a:srgbClr val="FFFFFF"/>
                </a:highlight>
              </a:rPr>
              <a:t>, </a:t>
            </a:r>
            <a:r>
              <a:rPr lang="en-US" err="1">
                <a:solidFill>
                  <a:srgbClr val="3B3B3B"/>
                </a:solidFill>
                <a:highlight>
                  <a:srgbClr val="FFFFFF"/>
                </a:highlight>
              </a:rPr>
              <a:t>trừ</a:t>
            </a:r>
            <a:r>
              <a:rPr lang="en-US">
                <a:solidFill>
                  <a:srgbClr val="3B3B3B"/>
                </a:solidFill>
                <a:highlight>
                  <a:srgbClr val="FFFFFF"/>
                </a:highlight>
              </a:rPr>
              <a:t> </a:t>
            </a:r>
            <a:r>
              <a:rPr lang="en-US" err="1">
                <a:solidFill>
                  <a:srgbClr val="3B3B3B"/>
                </a:solidFill>
                <a:highlight>
                  <a:srgbClr val="FFFFFF"/>
                </a:highlight>
              </a:rPr>
              <a:t>khi</a:t>
            </a:r>
            <a:r>
              <a:rPr lang="en-US">
                <a:solidFill>
                  <a:srgbClr val="3B3B3B"/>
                </a:solidFill>
                <a:highlight>
                  <a:srgbClr val="FFFFFF"/>
                </a:highlight>
              </a:rPr>
              <a:t> </a:t>
            </a:r>
            <a:r>
              <a:rPr lang="en-US" err="1">
                <a:solidFill>
                  <a:srgbClr val="3B3B3B"/>
                </a:solidFill>
                <a:highlight>
                  <a:srgbClr val="FFFFFF"/>
                </a:highlight>
              </a:rPr>
              <a:t>gặp</a:t>
            </a:r>
            <a:r>
              <a:rPr lang="en-US">
                <a:solidFill>
                  <a:srgbClr val="3B3B3B"/>
                </a:solidFill>
                <a:highlight>
                  <a:srgbClr val="FFFFFF"/>
                </a:highlight>
              </a:rPr>
              <a:t> </a:t>
            </a:r>
            <a:r>
              <a:rPr lang="en-US" err="1">
                <a:solidFill>
                  <a:srgbClr val="3B3B3B"/>
                </a:solidFill>
                <a:highlight>
                  <a:srgbClr val="FFFFFF"/>
                </a:highlight>
              </a:rPr>
              <a:t>lỗi</a:t>
            </a:r>
            <a:r>
              <a:rPr lang="en-US">
                <a:solidFill>
                  <a:srgbClr val="3B3B3B"/>
                </a:solidFill>
                <a:highlight>
                  <a:srgbClr val="FFFFFF"/>
                </a:highlight>
              </a:rPr>
              <a:t> crash do </a:t>
            </a:r>
            <a:r>
              <a:rPr lang="en-US" err="1">
                <a:solidFill>
                  <a:srgbClr val="3B3B3B"/>
                </a:solidFill>
                <a:highlight>
                  <a:srgbClr val="FFFFFF"/>
                </a:highlight>
              </a:rPr>
              <a:t>các</a:t>
            </a:r>
            <a:r>
              <a:rPr lang="en-US">
                <a:solidFill>
                  <a:srgbClr val="3B3B3B"/>
                </a:solidFill>
                <a:highlight>
                  <a:srgbClr val="FFFFFF"/>
                </a:highlight>
              </a:rPr>
              <a:t> </a:t>
            </a:r>
            <a:r>
              <a:rPr lang="en-US" err="1">
                <a:solidFill>
                  <a:srgbClr val="3B3B3B"/>
                </a:solidFill>
                <a:highlight>
                  <a:srgbClr val="FFFFFF"/>
                </a:highlight>
              </a:rPr>
              <a:t>lỗ</a:t>
            </a:r>
            <a:r>
              <a:rPr lang="en-US">
                <a:solidFill>
                  <a:srgbClr val="3B3B3B"/>
                </a:solidFill>
                <a:highlight>
                  <a:srgbClr val="FFFFFF"/>
                </a:highlight>
              </a:rPr>
              <a:t> </a:t>
            </a:r>
            <a:r>
              <a:rPr lang="en-US" err="1">
                <a:solidFill>
                  <a:srgbClr val="3B3B3B"/>
                </a:solidFill>
                <a:highlight>
                  <a:srgbClr val="FFFFFF"/>
                </a:highlight>
              </a:rPr>
              <a:t>hổng</a:t>
            </a:r>
            <a:r>
              <a:rPr lang="en-US">
                <a:solidFill>
                  <a:srgbClr val="3B3B3B"/>
                </a:solidFill>
                <a:highlight>
                  <a:srgbClr val="FFFFFF"/>
                </a:highlight>
              </a:rPr>
              <a:t>.</a:t>
            </a:r>
            <a:endParaRPr lang="en-US"/>
          </a:p>
          <a:p>
            <a:br>
              <a:rPr lang="en-US"/>
            </a:br>
            <a:br>
              <a:rPr lang="en-US"/>
            </a:br>
            <a:endParaRPr lang="en-US"/>
          </a:p>
          <a:p>
            <a:r>
              <a:rPr lang="en-US" err="1">
                <a:solidFill>
                  <a:srgbClr val="3B3B3B"/>
                </a:solidFill>
                <a:highlight>
                  <a:srgbClr val="FFFFFF"/>
                </a:highlight>
              </a:rPr>
              <a:t>Cấu</a:t>
            </a:r>
            <a:r>
              <a:rPr lang="en-US">
                <a:solidFill>
                  <a:srgbClr val="3B3B3B"/>
                </a:solidFill>
                <a:highlight>
                  <a:srgbClr val="FFFFFF"/>
                </a:highlight>
              </a:rPr>
              <a:t> </a:t>
            </a:r>
            <a:r>
              <a:rPr lang="en-US" err="1">
                <a:solidFill>
                  <a:srgbClr val="3B3B3B"/>
                </a:solidFill>
                <a:highlight>
                  <a:srgbClr val="FFFFFF"/>
                </a:highlight>
              </a:rPr>
              <a:t>trúc</a:t>
            </a:r>
            <a:r>
              <a:rPr lang="en-US">
                <a:solidFill>
                  <a:srgbClr val="3B3B3B"/>
                </a:solidFill>
                <a:highlight>
                  <a:srgbClr val="FFFFFF"/>
                </a:highlight>
              </a:rPr>
              <a:t> </a:t>
            </a:r>
            <a:r>
              <a:rPr lang="en-US" err="1">
                <a:solidFill>
                  <a:srgbClr val="3B3B3B"/>
                </a:solidFill>
                <a:highlight>
                  <a:srgbClr val="FFFFFF"/>
                </a:highlight>
              </a:rPr>
              <a:t>thư</a:t>
            </a:r>
            <a:r>
              <a:rPr lang="en-US">
                <a:solidFill>
                  <a:srgbClr val="3B3B3B"/>
                </a:solidFill>
                <a:highlight>
                  <a:srgbClr val="FFFFFF"/>
                </a:highlight>
              </a:rPr>
              <a:t> mục:</a:t>
            </a:r>
            <a:endParaRPr lang="en-US"/>
          </a:p>
          <a:p>
            <a:br>
              <a:rPr lang="en-US"/>
            </a:br>
            <a:endParaRPr lang="en-US"/>
          </a:p>
          <a:p>
            <a:r>
              <a:rPr lang="en-US">
                <a:solidFill>
                  <a:srgbClr val="3B3B3B"/>
                </a:solidFill>
                <a:highlight>
                  <a:srgbClr val="FFFFFF"/>
                </a:highlight>
              </a:rPr>
              <a:t>```</a:t>
            </a:r>
            <a:endParaRPr lang="en-US"/>
          </a:p>
          <a:p>
            <a:r>
              <a:rPr lang="en-US" err="1">
                <a:solidFill>
                  <a:srgbClr val="3B3B3B"/>
                </a:solidFill>
                <a:highlight>
                  <a:srgbClr val="FFFFFF"/>
                </a:highlight>
              </a:rPr>
              <a:t>fuzzgoat_source_code</a:t>
            </a:r>
            <a:r>
              <a:rPr lang="en-US">
                <a:solidFill>
                  <a:srgbClr val="3B3B3B"/>
                </a:solidFill>
                <a:highlight>
                  <a:srgbClr val="FFFFFF"/>
                </a:highlight>
              </a:rPr>
              <a:t>/</a:t>
            </a:r>
            <a:endParaRPr lang="en-US"/>
          </a:p>
          <a:p>
            <a:r>
              <a:rPr lang="en-US">
                <a:solidFill>
                  <a:srgbClr val="3B3B3B"/>
                </a:solidFill>
                <a:highlight>
                  <a:srgbClr val="FFFFFF"/>
                </a:highlight>
              </a:rPr>
              <a:t>├── in/seed # Chứa seed đầu vào cho AFL++ fuzzing</a:t>
            </a:r>
            <a:endParaRPr lang="en-US"/>
          </a:p>
          <a:p>
            <a:r>
              <a:rPr lang="en-US">
                <a:solidFill>
                  <a:srgbClr val="3B3B3B"/>
                </a:solidFill>
                <a:highlight>
                  <a:srgbClr val="FFFFFF"/>
                </a:highlight>
              </a:rPr>
              <a:t>├── input-files # Chứa các payload sẽ trigger lỗ hổng (dùng để đối chiếu kết quả)</a:t>
            </a:r>
            <a:endParaRPr lang="en-US"/>
          </a:p>
          <a:p>
            <a:r>
              <a:rPr lang="en-US">
                <a:solidFill>
                  <a:srgbClr val="3B3B3B"/>
                </a:solidFill>
                <a:highlight>
                  <a:srgbClr val="FFFFFF"/>
                </a:highlight>
              </a:rPr>
              <a:t>├── </a:t>
            </a:r>
            <a:r>
              <a:rPr lang="en-US" err="1">
                <a:solidFill>
                  <a:srgbClr val="3B3B3B"/>
                </a:solidFill>
                <a:highlight>
                  <a:srgbClr val="FFFFFF"/>
                </a:highlight>
              </a:rPr>
              <a:t>fuzzgoat.c</a:t>
            </a:r>
            <a:r>
              <a:rPr lang="en-US">
                <a:solidFill>
                  <a:srgbClr val="3B3B3B"/>
                </a:solidFill>
                <a:highlight>
                  <a:srgbClr val="FFFFFF"/>
                </a:highlight>
              </a:rPr>
              <a:t> # Mã nguồn chính của chương trình</a:t>
            </a:r>
            <a:endParaRPr lang="en-US"/>
          </a:p>
          <a:p>
            <a:r>
              <a:rPr lang="en-US">
                <a:solidFill>
                  <a:srgbClr val="3B3B3B"/>
                </a:solidFill>
                <a:highlight>
                  <a:srgbClr val="FFFFFF"/>
                </a:highlight>
              </a:rPr>
              <a:t>├── </a:t>
            </a:r>
            <a:r>
              <a:rPr lang="en-US" err="1">
                <a:solidFill>
                  <a:srgbClr val="3B3B3B"/>
                </a:solidFill>
                <a:highlight>
                  <a:srgbClr val="FFFFFF"/>
                </a:highlight>
              </a:rPr>
              <a:t>fuzzgoat.h</a:t>
            </a:r>
            <a:r>
              <a:rPr lang="en-US">
                <a:solidFill>
                  <a:srgbClr val="3B3B3B"/>
                </a:solidFill>
                <a:highlight>
                  <a:srgbClr val="FFFFFF"/>
                </a:highlight>
              </a:rPr>
              <a:t> # Khai báo hàm, macro cho fuzzgoat.c</a:t>
            </a:r>
            <a:endParaRPr lang="en-US"/>
          </a:p>
          <a:p>
            <a:r>
              <a:rPr lang="en-US">
                <a:solidFill>
                  <a:srgbClr val="3B3B3B"/>
                </a:solidFill>
                <a:highlight>
                  <a:srgbClr val="FFFFFF"/>
                </a:highlight>
              </a:rPr>
              <a:t>├── </a:t>
            </a:r>
            <a:r>
              <a:rPr lang="en-US" err="1">
                <a:solidFill>
                  <a:srgbClr val="3B3B3B"/>
                </a:solidFill>
                <a:highlight>
                  <a:srgbClr val="FFFFFF"/>
                </a:highlight>
              </a:rPr>
              <a:t>main.c</a:t>
            </a:r>
            <a:r>
              <a:rPr lang="en-US">
                <a:solidFill>
                  <a:srgbClr val="3B3B3B"/>
                </a:solidFill>
                <a:highlight>
                  <a:srgbClr val="FFFFFF"/>
                </a:highlight>
              </a:rPr>
              <a:t> # Hàm main để khởi động chương trình</a:t>
            </a:r>
            <a:endParaRPr lang="en-US"/>
          </a:p>
          <a:p>
            <a:r>
              <a:rPr lang="en-US">
                <a:solidFill>
                  <a:srgbClr val="3B3B3B"/>
                </a:solidFill>
                <a:highlight>
                  <a:srgbClr val="FFFFFF"/>
                </a:highlight>
              </a:rPr>
              <a:t>└── </a:t>
            </a:r>
            <a:r>
              <a:rPr lang="en-US" err="1">
                <a:solidFill>
                  <a:srgbClr val="3B3B3B"/>
                </a:solidFill>
                <a:highlight>
                  <a:srgbClr val="FFFFFF"/>
                </a:highlight>
              </a:rPr>
              <a:t>fuzzgoatNoVulns.c</a:t>
            </a:r>
            <a:r>
              <a:rPr lang="en-US">
                <a:solidFill>
                  <a:srgbClr val="3B3B3B"/>
                </a:solidFill>
                <a:highlight>
                  <a:srgbClr val="FFFFFF"/>
                </a:highlight>
              </a:rPr>
              <a:t> # Phiên bản không có lỗ hổng của </a:t>
            </a:r>
            <a:endParaRPr lang="en-US"/>
          </a:p>
          <a:p>
            <a:r>
              <a:rPr lang="en-US">
                <a:solidFill>
                  <a:srgbClr val="3B3B3B"/>
                </a:solidFill>
                <a:highlight>
                  <a:srgbClr val="FFFFFF"/>
                </a:highlight>
              </a:rPr>
              <a:t>```</a:t>
            </a:r>
            <a:endParaRPr lang="en-US"/>
          </a:p>
          <a:p>
            <a:br>
              <a:rPr lang="en-US"/>
            </a:br>
            <a:endParaRPr lang="en-US"/>
          </a:p>
          <a:p>
            <a:r>
              <a:rPr lang="en-US">
                <a:solidFill>
                  <a:srgbClr val="800000"/>
                </a:solidFill>
                <a:highlight>
                  <a:srgbClr val="FFFFFF"/>
                </a:highlight>
              </a:rPr>
              <a:t>`</a:t>
            </a:r>
            <a:r>
              <a:rPr lang="en-US" err="1">
                <a:solidFill>
                  <a:srgbClr val="800000"/>
                </a:solidFill>
                <a:highlight>
                  <a:srgbClr val="FFFFFF"/>
                </a:highlight>
              </a:rPr>
              <a:t>main.c</a:t>
            </a:r>
            <a:r>
              <a:rPr lang="en-US">
                <a:solidFill>
                  <a:srgbClr val="800000"/>
                </a:solidFill>
                <a:highlight>
                  <a:srgbClr val="FFFFFF"/>
                </a:highlight>
              </a:rPr>
              <a:t>`</a:t>
            </a:r>
            <a:r>
              <a:rPr lang="en-US">
                <a:solidFill>
                  <a:srgbClr val="3B3B3B"/>
                </a:solidFill>
                <a:highlight>
                  <a:srgbClr val="FFFFFF"/>
                </a:highlight>
              </a:rPr>
              <a:t> </a:t>
            </a:r>
            <a:r>
              <a:rPr lang="en-US" err="1">
                <a:solidFill>
                  <a:srgbClr val="3B3B3B"/>
                </a:solidFill>
                <a:highlight>
                  <a:srgbClr val="FFFFFF"/>
                </a:highlight>
              </a:rPr>
              <a:t>là</a:t>
            </a:r>
            <a:r>
              <a:rPr lang="en-US">
                <a:solidFill>
                  <a:srgbClr val="3B3B3B"/>
                </a:solidFill>
                <a:highlight>
                  <a:srgbClr val="FFFFFF"/>
                </a:highlight>
              </a:rPr>
              <a:t> entry point </a:t>
            </a:r>
            <a:r>
              <a:rPr lang="en-US" err="1">
                <a:solidFill>
                  <a:srgbClr val="3B3B3B"/>
                </a:solidFill>
                <a:highlight>
                  <a:srgbClr val="FFFFFF"/>
                </a:highlight>
              </a:rPr>
              <a:t>khi</a:t>
            </a:r>
            <a:r>
              <a:rPr lang="en-US">
                <a:solidFill>
                  <a:srgbClr val="3B3B3B"/>
                </a:solidFill>
                <a:highlight>
                  <a:srgbClr val="FFFFFF"/>
                </a:highlight>
              </a:rPr>
              <a:t> </a:t>
            </a:r>
            <a:r>
              <a:rPr lang="en-US" err="1">
                <a:solidFill>
                  <a:srgbClr val="3B3B3B"/>
                </a:solidFill>
                <a:highlight>
                  <a:srgbClr val="FFFFFF"/>
                </a:highlight>
              </a:rPr>
              <a:t>chạy</a:t>
            </a:r>
            <a:r>
              <a:rPr lang="en-US">
                <a:solidFill>
                  <a:srgbClr val="3B3B3B"/>
                </a:solidFill>
                <a:highlight>
                  <a:srgbClr val="FFFFFF"/>
                </a:highlight>
              </a:rPr>
              <a:t> </a:t>
            </a:r>
            <a:r>
              <a:rPr lang="en-US" err="1">
                <a:solidFill>
                  <a:srgbClr val="3B3B3B"/>
                </a:solidFill>
                <a:highlight>
                  <a:srgbClr val="FFFFFF"/>
                </a:highlight>
              </a:rPr>
              <a:t>theo</a:t>
            </a:r>
            <a:r>
              <a:rPr lang="en-US">
                <a:solidFill>
                  <a:srgbClr val="3B3B3B"/>
                </a:solidFill>
                <a:highlight>
                  <a:srgbClr val="FFFFFF"/>
                </a:highlight>
              </a:rPr>
              <a:t> </a:t>
            </a:r>
            <a:r>
              <a:rPr lang="en-US" err="1">
                <a:solidFill>
                  <a:srgbClr val="3B3B3B"/>
                </a:solidFill>
                <a:highlight>
                  <a:srgbClr val="FFFFFF"/>
                </a:highlight>
              </a:rPr>
              <a:t>cách</a:t>
            </a:r>
            <a:r>
              <a:rPr lang="en-US">
                <a:solidFill>
                  <a:srgbClr val="3B3B3B"/>
                </a:solidFill>
                <a:highlight>
                  <a:srgbClr val="FFFFFF"/>
                </a:highlight>
              </a:rPr>
              <a:t> </a:t>
            </a:r>
            <a:r>
              <a:rPr lang="en-US" err="1">
                <a:solidFill>
                  <a:srgbClr val="3B3B3B"/>
                </a:solidFill>
                <a:highlight>
                  <a:srgbClr val="FFFFFF"/>
                </a:highlight>
              </a:rPr>
              <a:t>truyền</a:t>
            </a:r>
            <a:r>
              <a:rPr lang="en-US">
                <a:solidFill>
                  <a:srgbClr val="3B3B3B"/>
                </a:solidFill>
                <a:highlight>
                  <a:srgbClr val="FFFFFF"/>
                </a:highlight>
              </a:rPr>
              <a:t> </a:t>
            </a:r>
            <a:r>
              <a:rPr lang="en-US" err="1">
                <a:solidFill>
                  <a:srgbClr val="3B3B3B"/>
                </a:solidFill>
                <a:highlight>
                  <a:srgbClr val="FFFFFF"/>
                </a:highlight>
              </a:rPr>
              <a:t>thống</a:t>
            </a:r>
            <a:r>
              <a:rPr lang="en-US">
                <a:solidFill>
                  <a:srgbClr val="3B3B3B"/>
                </a:solidFill>
                <a:highlight>
                  <a:srgbClr val="FFFFFF"/>
                </a:highlight>
              </a:rPr>
              <a:t> (</a:t>
            </a:r>
            <a:r>
              <a:rPr lang="en-US" err="1">
                <a:solidFill>
                  <a:srgbClr val="3B3B3B"/>
                </a:solidFill>
                <a:highlight>
                  <a:srgbClr val="FFFFFF"/>
                </a:highlight>
              </a:rPr>
              <a:t>không</a:t>
            </a:r>
            <a:r>
              <a:rPr lang="en-US">
                <a:solidFill>
                  <a:srgbClr val="3B3B3B"/>
                </a:solidFill>
                <a:highlight>
                  <a:srgbClr val="FFFFFF"/>
                </a:highlight>
              </a:rPr>
              <a:t> fuzz), </a:t>
            </a:r>
            <a:r>
              <a:rPr lang="en-US" err="1">
                <a:solidFill>
                  <a:srgbClr val="3B3B3B"/>
                </a:solidFill>
                <a:highlight>
                  <a:srgbClr val="FFFFFF"/>
                </a:highlight>
              </a:rPr>
              <a:t>hoặc</a:t>
            </a:r>
            <a:r>
              <a:rPr lang="en-US">
                <a:solidFill>
                  <a:srgbClr val="3B3B3B"/>
                </a:solidFill>
                <a:highlight>
                  <a:srgbClr val="FFFFFF"/>
                </a:highlight>
              </a:rPr>
              <a:t> </a:t>
            </a:r>
            <a:r>
              <a:rPr lang="en-US" err="1">
                <a:solidFill>
                  <a:srgbClr val="3B3B3B"/>
                </a:solidFill>
                <a:highlight>
                  <a:srgbClr val="FFFFFF"/>
                </a:highlight>
              </a:rPr>
              <a:t>được</a:t>
            </a:r>
            <a:r>
              <a:rPr lang="en-US">
                <a:solidFill>
                  <a:srgbClr val="3B3B3B"/>
                </a:solidFill>
                <a:highlight>
                  <a:srgbClr val="FFFFFF"/>
                </a:highlight>
              </a:rPr>
              <a:t> </a:t>
            </a:r>
            <a:r>
              <a:rPr lang="en-US" err="1">
                <a:solidFill>
                  <a:srgbClr val="3B3B3B"/>
                </a:solidFill>
                <a:highlight>
                  <a:srgbClr val="FFFFFF"/>
                </a:highlight>
              </a:rPr>
              <a:t>dùng</a:t>
            </a:r>
            <a:r>
              <a:rPr lang="en-US">
                <a:solidFill>
                  <a:srgbClr val="3B3B3B"/>
                </a:solidFill>
                <a:highlight>
                  <a:srgbClr val="FFFFFF"/>
                </a:highlight>
              </a:rPr>
              <a:t> </a:t>
            </a:r>
            <a:r>
              <a:rPr lang="en-US" err="1">
                <a:solidFill>
                  <a:srgbClr val="3B3B3B"/>
                </a:solidFill>
                <a:highlight>
                  <a:srgbClr val="FFFFFF"/>
                </a:highlight>
              </a:rPr>
              <a:t>làm</a:t>
            </a:r>
            <a:r>
              <a:rPr lang="en-US">
                <a:solidFill>
                  <a:srgbClr val="3B3B3B"/>
                </a:solidFill>
                <a:highlight>
                  <a:srgbClr val="FFFFFF"/>
                </a:highlight>
              </a:rPr>
              <a:t> </a:t>
            </a:r>
            <a:r>
              <a:rPr lang="en-US" b="1">
                <a:solidFill>
                  <a:srgbClr val="000080"/>
                </a:solidFill>
                <a:highlight>
                  <a:srgbClr val="FFFFFF"/>
                </a:highlight>
              </a:rPr>
              <a:t>**harness**</a:t>
            </a:r>
            <a:r>
              <a:rPr lang="en-US">
                <a:solidFill>
                  <a:srgbClr val="3B3B3B"/>
                </a:solidFill>
                <a:highlight>
                  <a:srgbClr val="FFFFFF"/>
                </a:highlight>
              </a:rPr>
              <a:t> </a:t>
            </a:r>
            <a:r>
              <a:rPr lang="en-US" err="1">
                <a:solidFill>
                  <a:srgbClr val="3B3B3B"/>
                </a:solidFill>
                <a:highlight>
                  <a:srgbClr val="FFFFFF"/>
                </a:highlight>
              </a:rPr>
              <a:t>tối</a:t>
            </a:r>
            <a:r>
              <a:rPr lang="en-US">
                <a:solidFill>
                  <a:srgbClr val="3B3B3B"/>
                </a:solidFill>
                <a:highlight>
                  <a:srgbClr val="FFFFFF"/>
                </a:highlight>
              </a:rPr>
              <a:t> </a:t>
            </a:r>
            <a:r>
              <a:rPr lang="en-US" err="1">
                <a:solidFill>
                  <a:srgbClr val="3B3B3B"/>
                </a:solidFill>
                <a:highlight>
                  <a:srgbClr val="FFFFFF"/>
                </a:highlight>
              </a:rPr>
              <a:t>giản</a:t>
            </a:r>
            <a:r>
              <a:rPr lang="en-US">
                <a:solidFill>
                  <a:srgbClr val="3B3B3B"/>
                </a:solidFill>
                <a:highlight>
                  <a:srgbClr val="FFFFFF"/>
                </a:highlight>
              </a:rPr>
              <a:t> </a:t>
            </a:r>
            <a:r>
              <a:rPr lang="en-US" err="1">
                <a:solidFill>
                  <a:srgbClr val="3B3B3B"/>
                </a:solidFill>
                <a:highlight>
                  <a:srgbClr val="FFFFFF"/>
                </a:highlight>
              </a:rPr>
              <a:t>để</a:t>
            </a:r>
            <a:r>
              <a:rPr lang="en-US">
                <a:solidFill>
                  <a:srgbClr val="3B3B3B"/>
                </a:solidFill>
                <a:highlight>
                  <a:srgbClr val="FFFFFF"/>
                </a:highlight>
              </a:rPr>
              <a:t> AFL/</a:t>
            </a:r>
            <a:r>
              <a:rPr lang="en-US" err="1">
                <a:solidFill>
                  <a:srgbClr val="3B3B3B"/>
                </a:solidFill>
                <a:highlight>
                  <a:srgbClr val="FFFFFF"/>
                </a:highlight>
              </a:rPr>
              <a:t>LibFuzzer</a:t>
            </a:r>
            <a:r>
              <a:rPr lang="en-US">
                <a:solidFill>
                  <a:srgbClr val="3B3B3B"/>
                </a:solidFill>
                <a:highlight>
                  <a:srgbClr val="FFFFFF"/>
                </a:highlight>
              </a:rPr>
              <a:t> </a:t>
            </a:r>
            <a:r>
              <a:rPr lang="en-US" err="1">
                <a:solidFill>
                  <a:srgbClr val="3B3B3B"/>
                </a:solidFill>
                <a:highlight>
                  <a:srgbClr val="FFFFFF"/>
                </a:highlight>
              </a:rPr>
              <a:t>có</a:t>
            </a:r>
            <a:r>
              <a:rPr lang="en-US">
                <a:solidFill>
                  <a:srgbClr val="3B3B3B"/>
                </a:solidFill>
                <a:highlight>
                  <a:srgbClr val="FFFFFF"/>
                </a:highlight>
              </a:rPr>
              <a:t> </a:t>
            </a:r>
            <a:r>
              <a:rPr lang="en-US" err="1">
                <a:solidFill>
                  <a:srgbClr val="3B3B3B"/>
                </a:solidFill>
                <a:highlight>
                  <a:srgbClr val="FFFFFF"/>
                </a:highlight>
              </a:rPr>
              <a:t>điểm</a:t>
            </a:r>
            <a:r>
              <a:rPr lang="en-US">
                <a:solidFill>
                  <a:srgbClr val="3B3B3B"/>
                </a:solidFill>
                <a:highlight>
                  <a:srgbClr val="FFFFFF"/>
                </a:highlight>
              </a:rPr>
              <a:t> </a:t>
            </a:r>
            <a:r>
              <a:rPr lang="en-US" err="1">
                <a:solidFill>
                  <a:srgbClr val="3B3B3B"/>
                </a:solidFill>
                <a:highlight>
                  <a:srgbClr val="FFFFFF"/>
                </a:highlight>
              </a:rPr>
              <a:t>vào</a:t>
            </a:r>
            <a:r>
              <a:rPr lang="en-US">
                <a:solidFill>
                  <a:srgbClr val="3B3B3B"/>
                </a:solidFill>
                <a:highlight>
                  <a:srgbClr val="FFFFFF"/>
                </a:highlight>
              </a:rPr>
              <a:t>.</a:t>
            </a:r>
            <a:endParaRPr lang="en-US"/>
          </a:p>
          <a:p>
            <a:br>
              <a:rPr lang="en-US"/>
            </a:br>
            <a:endParaRPr lang="en-US"/>
          </a:p>
          <a:p>
            <a:r>
              <a:rPr lang="en-US">
                <a:solidFill>
                  <a:srgbClr val="3B3B3B"/>
                </a:solidFill>
                <a:highlight>
                  <a:srgbClr val="FFFFFF"/>
                </a:highlight>
              </a:rPr>
              <a:t>Với fuzzers như AFL++, harness thường là một chương trình có hàm main() đọc dữ liệu từ stdin hoặc @@ (đường dẫn file do AFL cấp) rồi chuyển dữ liệu đó vào hàm bạn muốn fuzz. Trong repo này, </a:t>
            </a:r>
            <a:r>
              <a:rPr lang="en-US">
                <a:solidFill>
                  <a:srgbClr val="800000"/>
                </a:solidFill>
                <a:highlight>
                  <a:srgbClr val="FFFFFF"/>
                </a:highlight>
              </a:rPr>
              <a:t>`main.c`</a:t>
            </a:r>
            <a:r>
              <a:rPr lang="en-US">
                <a:solidFill>
                  <a:srgbClr val="3B3B3B"/>
                </a:solidFill>
                <a:highlight>
                  <a:srgbClr val="FFFFFF"/>
                </a:highlight>
              </a:rPr>
              <a:t> chính là harness để chạy AFL++.</a:t>
            </a:r>
            <a:endParaRPr lang="en-US"/>
          </a:p>
          <a:p>
            <a:br>
              <a:rPr lang="en-US"/>
            </a:br>
            <a:endParaRPr lang="en-US"/>
          </a:p>
          <a:p>
            <a:r>
              <a:rPr lang="en-US">
                <a:solidFill>
                  <a:srgbClr val="3B3B3B"/>
                </a:solidFill>
                <a:highlight>
                  <a:srgbClr val="FFFFFF"/>
                </a:highlight>
              </a:rPr>
              <a:t>Biên dịch:</a:t>
            </a:r>
            <a:endParaRPr lang="en-US"/>
          </a:p>
          <a:p>
            <a:br>
              <a:rPr lang="en-US"/>
            </a:br>
            <a:endParaRPr lang="en-US"/>
          </a:p>
          <a:p>
            <a:r>
              <a:rPr lang="en-US">
                <a:solidFill>
                  <a:srgbClr val="3B3B3B"/>
                </a:solidFill>
                <a:highlight>
                  <a:srgbClr val="FFFFFF"/>
                </a:highlight>
              </a:rPr>
              <a:t>```bash</a:t>
            </a:r>
            <a:endParaRPr lang="en-US"/>
          </a:p>
          <a:p>
            <a:r>
              <a:rPr lang="en-US">
                <a:solidFill>
                  <a:srgbClr val="008000"/>
                </a:solidFill>
                <a:highlight>
                  <a:srgbClr val="FFFFFF"/>
                </a:highlight>
              </a:rPr>
              <a:t># Using -lm to link the math library</a:t>
            </a:r>
            <a:endParaRPr lang="en-US"/>
          </a:p>
          <a:p>
            <a:r>
              <a:rPr lang="en-US">
                <a:solidFill>
                  <a:srgbClr val="795E26"/>
                </a:solidFill>
                <a:highlight>
                  <a:srgbClr val="FFFFFF"/>
                </a:highlight>
              </a:rPr>
              <a:t>gcc</a:t>
            </a:r>
            <a:r>
              <a:rPr lang="en-US">
                <a:highlight>
                  <a:srgbClr val="FFFFFF"/>
                </a:highlight>
              </a:rPr>
              <a:t> </a:t>
            </a:r>
            <a:r>
              <a:rPr lang="en-US">
                <a:solidFill>
                  <a:srgbClr val="A31515"/>
                </a:solidFill>
                <a:highlight>
                  <a:srgbClr val="FFFFFF"/>
                </a:highlight>
              </a:rPr>
              <a:t>main.c</a:t>
            </a:r>
            <a:r>
              <a:rPr lang="en-US">
                <a:highlight>
                  <a:srgbClr val="FFFFFF"/>
                </a:highlight>
              </a:rPr>
              <a:t> </a:t>
            </a:r>
            <a:r>
              <a:rPr lang="en-US">
                <a:solidFill>
                  <a:srgbClr val="A31515"/>
                </a:solidFill>
                <a:highlight>
                  <a:srgbClr val="FFFFFF"/>
                </a:highlight>
              </a:rPr>
              <a:t>fuzzgoat.c</a:t>
            </a:r>
            <a:r>
              <a:rPr lang="en-US">
                <a:highlight>
                  <a:srgbClr val="FFFFFF"/>
                </a:highlight>
              </a:rPr>
              <a:t> </a:t>
            </a:r>
            <a:r>
              <a:rPr lang="en-US">
                <a:solidFill>
                  <a:srgbClr val="0000FF"/>
                </a:solidFill>
                <a:highlight>
                  <a:srgbClr val="FFFFFF"/>
                </a:highlight>
              </a:rPr>
              <a:t>-o</a:t>
            </a:r>
            <a:r>
              <a:rPr lang="en-US">
                <a:highlight>
                  <a:srgbClr val="FFFFFF"/>
                </a:highlight>
              </a:rPr>
              <a:t> </a:t>
            </a:r>
            <a:r>
              <a:rPr lang="en-US">
                <a:solidFill>
                  <a:srgbClr val="A31515"/>
                </a:solidFill>
                <a:highlight>
                  <a:srgbClr val="FFFFFF"/>
                </a:highlight>
              </a:rPr>
              <a:t>fuzzgoat-bin</a:t>
            </a:r>
            <a:r>
              <a:rPr lang="en-US">
                <a:highlight>
                  <a:srgbClr val="FFFFFF"/>
                </a:highlight>
              </a:rPr>
              <a:t> </a:t>
            </a:r>
            <a:r>
              <a:rPr lang="en-US">
                <a:solidFill>
                  <a:srgbClr val="0000FF"/>
                </a:solidFill>
                <a:highlight>
                  <a:srgbClr val="FFFFFF"/>
                </a:highlight>
              </a:rPr>
              <a:t>-lm</a:t>
            </a:r>
            <a:endParaRPr lang="en-US"/>
          </a:p>
          <a:p>
            <a:r>
              <a:rPr lang="en-US">
                <a:solidFill>
                  <a:srgbClr val="3B3B3B"/>
                </a:solidFill>
                <a:highlight>
                  <a:srgbClr val="FFFFFF"/>
                </a:highlight>
              </a:rPr>
              <a:t>```</a:t>
            </a:r>
            <a:endParaRPr lang="en-US"/>
          </a:p>
          <a:p>
            <a:br>
              <a:rPr lang="en-US"/>
            </a:br>
            <a:endParaRPr lang="en-US"/>
          </a:p>
          <a:p>
            <a:r>
              <a:rPr lang="en-US">
                <a:solidFill>
                  <a:srgbClr val="3B3B3B"/>
                </a:solidFill>
                <a:highlight>
                  <a:srgbClr val="FFFFFF"/>
                </a:highlight>
              </a:rPr>
              <a:t>Chạy thử:</a:t>
            </a:r>
            <a:endParaRPr lang="en-US"/>
          </a:p>
          <a:p>
            <a:br>
              <a:rPr lang="en-US"/>
            </a:br>
            <a:endParaRPr lang="en-US"/>
          </a:p>
          <a:p>
            <a:r>
              <a:rPr lang="en-US">
                <a:solidFill>
                  <a:srgbClr val="3B3B3B"/>
                </a:solidFill>
                <a:highlight>
                  <a:srgbClr val="FFFFFF"/>
                </a:highlight>
              </a:rPr>
              <a:t>```bash</a:t>
            </a:r>
            <a:endParaRPr lang="en-US"/>
          </a:p>
          <a:p>
            <a:r>
              <a:rPr lang="en-US">
                <a:solidFill>
                  <a:srgbClr val="795E26"/>
                </a:solidFill>
                <a:highlight>
                  <a:srgbClr val="FFFFFF"/>
                </a:highlight>
              </a:rPr>
              <a:t>./fuzzgoat-bin</a:t>
            </a:r>
            <a:r>
              <a:rPr lang="en-US">
                <a:highlight>
                  <a:srgbClr val="FFFFFF"/>
                </a:highlight>
              </a:rPr>
              <a:t> </a:t>
            </a:r>
            <a:r>
              <a:rPr lang="en-US">
                <a:solidFill>
                  <a:srgbClr val="A31515"/>
                </a:solidFill>
                <a:highlight>
                  <a:srgbClr val="FFFFFF"/>
                </a:highlight>
              </a:rPr>
              <a:t>test_sample.json</a:t>
            </a:r>
            <a:endParaRPr lang="en-US"/>
          </a:p>
          <a:p>
            <a:r>
              <a:rPr lang="en-US">
                <a:solidFill>
                  <a:srgbClr val="3B3B3B"/>
                </a:solidFill>
                <a:highlight>
                  <a:srgbClr val="FFFFFF"/>
                </a:highlight>
              </a:rPr>
              <a:t>```</a:t>
            </a:r>
            <a:endParaRPr lang="en-US"/>
          </a:p>
          <a:p>
            <a:br>
              <a:rPr lang="en-US"/>
            </a:br>
            <a:endParaRPr lang="en-US"/>
          </a:p>
          <a:p>
            <a:r>
              <a:rPr lang="en-US">
                <a:solidFill>
                  <a:srgbClr val="3B3B3B"/>
                </a:solidFill>
                <a:highlight>
                  <a:srgbClr val="FFFFFF"/>
                </a:highlight>
              </a:rPr>
              <a:t>``` </a:t>
            </a:r>
            <a:endParaRPr lang="en-US"/>
          </a:p>
          <a:p>
            <a:r>
              <a:rPr lang="en-US">
                <a:solidFill>
                  <a:srgbClr val="3B3B3B"/>
                </a:solidFill>
                <a:highlight>
                  <a:srgbClr val="FFFFFF"/>
                </a:highlight>
              </a:rPr>
              <a:t>{</a:t>
            </a:r>
            <a:endParaRPr lang="en-US"/>
          </a:p>
          <a:p>
            <a:r>
              <a:rPr lang="en-US">
                <a:solidFill>
                  <a:srgbClr val="3B3B3B"/>
                </a:solidFill>
                <a:highlight>
                  <a:srgbClr val="FFFFFF"/>
                </a:highlight>
              </a:rPr>
              <a:t>"id": 1,</a:t>
            </a:r>
            <a:endParaRPr lang="en-US"/>
          </a:p>
          <a:p>
            <a:r>
              <a:rPr lang="en-US">
                <a:solidFill>
                  <a:srgbClr val="3B3B3B"/>
                </a:solidFill>
                <a:highlight>
                  <a:srgbClr val="FFFFFF"/>
                </a:highlight>
              </a:rPr>
              <a:t>"name": "Sample Item",</a:t>
            </a:r>
            <a:endParaRPr lang="en-US"/>
          </a:p>
          <a:p>
            <a:r>
              <a:rPr lang="en-US">
                <a:solidFill>
                  <a:srgbClr val="3B3B3B"/>
                </a:solidFill>
                <a:highlight>
                  <a:srgbClr val="FFFFFF"/>
                </a:highlight>
              </a:rPr>
              <a:t>"tags": ["test", "demo", "json"],</a:t>
            </a:r>
            <a:endParaRPr lang="en-US"/>
          </a:p>
          <a:p>
            <a:r>
              <a:rPr lang="en-US">
                <a:solidFill>
                  <a:srgbClr val="3B3B3B"/>
                </a:solidFill>
                <a:highlight>
                  <a:srgbClr val="FFFFFF"/>
                </a:highlight>
              </a:rPr>
              <a:t>"details": {</a:t>
            </a:r>
            <a:endParaRPr lang="en-US"/>
          </a:p>
          <a:p>
            <a:r>
              <a:rPr lang="en-US">
                <a:solidFill>
                  <a:srgbClr val="3B3B3B"/>
                </a:solidFill>
                <a:highlight>
                  <a:srgbClr val="FFFFFF"/>
                </a:highlight>
              </a:rPr>
              <a:t>"created_at": "2025-01-01",</a:t>
            </a:r>
            <a:endParaRPr lang="en-US"/>
          </a:p>
          <a:p>
            <a:r>
              <a:rPr lang="en-US">
                <a:solidFill>
                  <a:srgbClr val="3B3B3B"/>
                </a:solidFill>
                <a:highlight>
                  <a:srgbClr val="FFFFFF"/>
                </a:highlight>
              </a:rPr>
              <a:t>"description": "This is a dummy JSON object."</a:t>
            </a:r>
            <a:endParaRPr lang="en-US"/>
          </a:p>
          <a:p>
            <a:r>
              <a:rPr lang="en-US">
                <a:solidFill>
                  <a:srgbClr val="3B3B3B"/>
                </a:solidFill>
                <a:highlight>
                  <a:srgbClr val="FFFFFF"/>
                </a:highlight>
              </a:rPr>
              <a:t>}</a:t>
            </a:r>
            <a:endParaRPr lang="en-US"/>
          </a:p>
          <a:p>
            <a:r>
              <a:rPr lang="en-US">
                <a:solidFill>
                  <a:srgbClr val="3B3B3B"/>
                </a:solidFill>
                <a:highlight>
                  <a:srgbClr val="FFFFFF"/>
                </a:highlight>
              </a:rPr>
              <a:t>}</a:t>
            </a:r>
            <a:endParaRPr lang="en-US"/>
          </a:p>
          <a:p>
            <a:br>
              <a:rPr lang="en-US"/>
            </a:br>
            <a:endParaRPr lang="en-US"/>
          </a:p>
          <a:p>
            <a:r>
              <a:rPr lang="en-US">
                <a:solidFill>
                  <a:srgbClr val="3B3B3B"/>
                </a:solidFill>
                <a:highlight>
                  <a:srgbClr val="FFFFFF"/>
                </a:highlight>
              </a:rPr>
              <a:t>--------------------------------</a:t>
            </a:r>
            <a:endParaRPr lang="en-US"/>
          </a:p>
          <a:p>
            <a:br>
              <a:rPr lang="en-US"/>
            </a:br>
            <a:endParaRPr lang="en-US"/>
          </a:p>
          <a:p>
            <a:r>
              <a:rPr lang="en-US">
                <a:solidFill>
                  <a:srgbClr val="3B3B3B"/>
                </a:solidFill>
                <a:highlight>
                  <a:srgbClr val="FFFFFF"/>
                </a:highlight>
              </a:rPr>
              <a:t>object[0].name = id</a:t>
            </a:r>
            <a:endParaRPr lang="en-US"/>
          </a:p>
          <a:p>
            <a:r>
              <a:rPr lang="en-US">
                <a:solidFill>
                  <a:srgbClr val="3B3B3B"/>
                </a:solidFill>
                <a:highlight>
                  <a:srgbClr val="FFFFFF"/>
                </a:highlight>
              </a:rPr>
              <a:t>int: 1</a:t>
            </a:r>
            <a:endParaRPr lang="en-US"/>
          </a:p>
          <a:p>
            <a:r>
              <a:rPr lang="en-US">
                <a:solidFill>
                  <a:srgbClr val="3B3B3B"/>
                </a:solidFill>
                <a:highlight>
                  <a:srgbClr val="FFFFFF"/>
                </a:highlight>
              </a:rPr>
              <a:t>object[1].name = name</a:t>
            </a:r>
            <a:endParaRPr lang="en-US"/>
          </a:p>
          <a:p>
            <a:r>
              <a:rPr lang="en-US">
                <a:solidFill>
                  <a:srgbClr val="3B3B3B"/>
                </a:solidFill>
                <a:highlight>
                  <a:srgbClr val="FFFFFF"/>
                </a:highlight>
              </a:rPr>
              <a:t>string: Sample Item</a:t>
            </a:r>
            <a:endParaRPr lang="en-US"/>
          </a:p>
          <a:p>
            <a:r>
              <a:rPr lang="en-US">
                <a:solidFill>
                  <a:srgbClr val="3B3B3B"/>
                </a:solidFill>
                <a:highlight>
                  <a:srgbClr val="FFFFFF"/>
                </a:highlight>
              </a:rPr>
              <a:t>object[2].name = tags</a:t>
            </a:r>
            <a:endParaRPr lang="en-US"/>
          </a:p>
          <a:p>
            <a:r>
              <a:rPr lang="en-US">
                <a:solidFill>
                  <a:srgbClr val="3B3B3B"/>
                </a:solidFill>
                <a:highlight>
                  <a:srgbClr val="FFFFFF"/>
                </a:highlight>
              </a:rPr>
              <a:t>array</a:t>
            </a:r>
            <a:endParaRPr lang="en-US"/>
          </a:p>
          <a:p>
            <a:r>
              <a:rPr lang="en-US">
                <a:solidFill>
                  <a:srgbClr val="3B3B3B"/>
                </a:solidFill>
                <a:highlight>
                  <a:srgbClr val="FFFFFF"/>
                </a:highlight>
              </a:rPr>
              <a:t>string: test</a:t>
            </a:r>
            <a:endParaRPr lang="en-US"/>
          </a:p>
          <a:p>
            <a:r>
              <a:rPr lang="en-US">
                <a:solidFill>
                  <a:srgbClr val="3B3B3B"/>
                </a:solidFill>
                <a:highlight>
                  <a:srgbClr val="FFFFFF"/>
                </a:highlight>
              </a:rPr>
              <a:t>string: demo</a:t>
            </a:r>
            <a:endParaRPr lang="en-US"/>
          </a:p>
          <a:p>
            <a:r>
              <a:rPr lang="en-US">
                <a:solidFill>
                  <a:srgbClr val="3B3B3B"/>
                </a:solidFill>
                <a:highlight>
                  <a:srgbClr val="FFFFFF"/>
                </a:highlight>
              </a:rPr>
              <a:t>string: json</a:t>
            </a:r>
            <a:endParaRPr lang="en-US"/>
          </a:p>
          <a:p>
            <a:r>
              <a:rPr lang="en-US">
                <a:solidFill>
                  <a:srgbClr val="3B3B3B"/>
                </a:solidFill>
                <a:highlight>
                  <a:srgbClr val="FFFFFF"/>
                </a:highlight>
              </a:rPr>
              <a:t>object[3].name = details</a:t>
            </a:r>
            <a:endParaRPr lang="en-US"/>
          </a:p>
          <a:p>
            <a:r>
              <a:rPr lang="en-US">
                <a:solidFill>
                  <a:srgbClr val="3B3B3B"/>
                </a:solidFill>
                <a:highlight>
                  <a:srgbClr val="FFFFFF"/>
                </a:highlight>
              </a:rPr>
              <a:t>object[0].name = created_at</a:t>
            </a:r>
            <a:endParaRPr lang="en-US"/>
          </a:p>
          <a:p>
            <a:r>
              <a:rPr lang="en-US">
                <a:solidFill>
                  <a:srgbClr val="3B3B3B"/>
                </a:solidFill>
                <a:highlight>
                  <a:srgbClr val="FFFFFF"/>
                </a:highlight>
              </a:rPr>
              <a:t>string: 2025-01-01</a:t>
            </a:r>
            <a:endParaRPr lang="en-US"/>
          </a:p>
          <a:p>
            <a:r>
              <a:rPr lang="en-US">
                <a:solidFill>
                  <a:srgbClr val="3B3B3B"/>
                </a:solidFill>
                <a:highlight>
                  <a:srgbClr val="FFFFFF"/>
                </a:highlight>
              </a:rPr>
              <a:t>object[1].name = description</a:t>
            </a:r>
            <a:endParaRPr lang="en-US"/>
          </a:p>
          <a:p>
            <a:r>
              <a:rPr lang="en-US">
                <a:solidFill>
                  <a:srgbClr val="3B3B3B"/>
                </a:solidFill>
                <a:highlight>
                  <a:srgbClr val="FFFFFF"/>
                </a:highlight>
              </a:rPr>
              <a:t>string: This is a dummy JSON object.</a:t>
            </a:r>
            <a:endParaRPr lang="en-US"/>
          </a:p>
          <a:p>
            <a:r>
              <a:rPr lang="en-US">
                <a:solidFill>
                  <a:srgbClr val="3B3B3B"/>
                </a:solidFill>
                <a:highlight>
                  <a:srgbClr val="FFFFFF"/>
                </a:highlight>
              </a:rPr>
              <a:t>Segmentation fault (core dumped)</a:t>
            </a:r>
            <a:endParaRPr lang="en-US"/>
          </a:p>
          <a:p>
            <a:r>
              <a:rPr lang="en-US">
                <a:solidFill>
                  <a:srgbClr val="3B3B3B"/>
                </a:solidFill>
                <a:highlight>
                  <a:srgbClr val="FFFFFF"/>
                </a:highlight>
              </a:rPr>
              <a:t>```</a:t>
            </a:r>
            <a:endParaRPr lang="en-US"/>
          </a:p>
          <a:p>
            <a:br>
              <a:rPr lang="en-US"/>
            </a:br>
            <a:br>
              <a:rPr lang="en-US"/>
            </a:br>
            <a:br>
              <a:rPr lang="en-US"/>
            </a:br>
            <a:endParaRPr lang="en-US"/>
          </a:p>
          <a:p>
            <a:r>
              <a:rPr lang="en-US">
                <a:solidFill>
                  <a:srgbClr val="3B3B3B"/>
                </a:solidFill>
                <a:highlight>
                  <a:srgbClr val="FFFFFF"/>
                </a:highlight>
              </a:rPr>
              <a:t>Mã nguồn của Fuzzgoat (</a:t>
            </a:r>
            <a:r>
              <a:rPr lang="en-US">
                <a:solidFill>
                  <a:srgbClr val="800000"/>
                </a:solidFill>
                <a:highlight>
                  <a:srgbClr val="FFFFFF"/>
                </a:highlight>
              </a:rPr>
              <a:t>`fuzzgoat.c`</a:t>
            </a:r>
            <a:r>
              <a:rPr lang="en-US">
                <a:solidFill>
                  <a:srgbClr val="3B3B3B"/>
                </a:solidFill>
                <a:highlight>
                  <a:srgbClr val="FFFFFF"/>
                </a:highlight>
              </a:rPr>
              <a:t>) tương đối nhỏ gọn (~1200 dòng). Fuzzgoat được cấy ghép nhiều lỗ hổng điển hình để làm thước đo cho các công cụ kiểm thử. Các lỗ hổng này đã được comment lại trong mã nguồn. Bảng dưới đây tóm tắt các lỗ hổng chính cần tìm:</a:t>
            </a:r>
            <a:endParaRPr lang="en-US"/>
          </a:p>
          <a:p>
            <a:endParaRPr lang="en-US"/>
          </a:p>
        </p:txBody>
      </p:sp>
      <p:sp>
        <p:nvSpPr>
          <p:cNvPr id="4" name="Slide Number Placeholder 3"/>
          <p:cNvSpPr>
            <a:spLocks noGrp="1"/>
          </p:cNvSpPr>
          <p:nvPr>
            <p:ph type="sldNum" sz="quarter" idx="5"/>
          </p:nvPr>
        </p:nvSpPr>
        <p:spPr/>
        <p:txBody>
          <a:bodyPr/>
          <a:lstStyle/>
          <a:p>
            <a:fld id="{A9FD0793-C8D7-4125-BD72-CB052C0E0E0B}" type="slidenum">
              <a:rPr lang="en-US" smtClean="0"/>
              <a:t>3</a:t>
            </a:fld>
            <a:endParaRPr lang="en-US"/>
          </a:p>
        </p:txBody>
      </p:sp>
    </p:spTree>
    <p:extLst>
      <p:ext uri="{BB962C8B-B14F-4D97-AF65-F5344CB8AC3E}">
        <p14:creationId xmlns:p14="http://schemas.microsoft.com/office/powerpoint/2010/main" val="3926451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FD0793-C8D7-4125-BD72-CB052C0E0E0B}" type="slidenum">
              <a:rPr lang="en-US" smtClean="0"/>
              <a:t>4</a:t>
            </a:fld>
            <a:endParaRPr lang="en-US"/>
          </a:p>
        </p:txBody>
      </p:sp>
    </p:spTree>
    <p:extLst>
      <p:ext uri="{BB962C8B-B14F-4D97-AF65-F5344CB8AC3E}">
        <p14:creationId xmlns:p14="http://schemas.microsoft.com/office/powerpoint/2010/main" val="4077612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000080"/>
                </a:solidFill>
              </a:rPr>
              <a:t>**1.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Use After Free (</a:t>
            </a:r>
            <a:r>
              <a:rPr lang="en-US" b="1" err="1">
                <a:solidFill>
                  <a:srgbClr val="000080"/>
                </a:solidFill>
              </a:rPr>
              <a:t>Sử</a:t>
            </a:r>
            <a:r>
              <a:rPr lang="en-US" b="1">
                <a:solidFill>
                  <a:srgbClr val="000080"/>
                </a:solidFill>
              </a:rPr>
              <a:t> </a:t>
            </a:r>
            <a:r>
              <a:rPr lang="en-US" b="1" err="1">
                <a:solidFill>
                  <a:srgbClr val="000080"/>
                </a:solidFill>
              </a:rPr>
              <a:t>dụng</a:t>
            </a:r>
            <a:r>
              <a:rPr lang="en-US" b="1">
                <a:solidFill>
                  <a:srgbClr val="000080"/>
                </a:solidFill>
              </a:rPr>
              <a:t> </a:t>
            </a:r>
            <a:r>
              <a:rPr lang="en-US" b="1" err="1">
                <a:solidFill>
                  <a:srgbClr val="000080"/>
                </a:solidFill>
              </a:rPr>
              <a:t>bộ</a:t>
            </a:r>
            <a:r>
              <a:rPr lang="en-US" b="1">
                <a:solidFill>
                  <a:srgbClr val="000080"/>
                </a:solidFill>
              </a:rPr>
              <a:t> </a:t>
            </a:r>
            <a:r>
              <a:rPr lang="en-US" b="1" err="1">
                <a:solidFill>
                  <a:srgbClr val="000080"/>
                </a:solidFill>
              </a:rPr>
              <a:t>nhớ</a:t>
            </a:r>
            <a:r>
              <a:rPr lang="en-US" b="1">
                <a:solidFill>
                  <a:srgbClr val="000080"/>
                </a:solidFill>
              </a:rPr>
              <a:t> </a:t>
            </a:r>
            <a:r>
              <a:rPr lang="en-US" b="1" err="1">
                <a:solidFill>
                  <a:srgbClr val="000080"/>
                </a:solidFill>
              </a:rPr>
              <a:t>sau</a:t>
            </a:r>
            <a:r>
              <a:rPr lang="en-US" b="1">
                <a:solidFill>
                  <a:srgbClr val="000080"/>
                </a:solidFill>
              </a:rPr>
              <a:t> </a:t>
            </a:r>
            <a:r>
              <a:rPr lang="en-US" b="1" err="1">
                <a:solidFill>
                  <a:srgbClr val="000080"/>
                </a:solidFill>
              </a:rPr>
              <a:t>khi</a:t>
            </a:r>
            <a:r>
              <a:rPr lang="en-US" b="1">
                <a:solidFill>
                  <a:srgbClr val="000080"/>
                </a:solidFill>
              </a:rPr>
              <a:t>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new_value</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a:t>
            </a:r>
            <a:r>
              <a:rPr lang="en-US">
                <a:solidFill>
                  <a:srgbClr val="800000"/>
                </a:solidFill>
              </a:rPr>
              <a:t>`case </a:t>
            </a:r>
            <a:r>
              <a:rPr lang="en-US" err="1">
                <a:solidFill>
                  <a:srgbClr val="800000"/>
                </a:solidFill>
              </a:rPr>
              <a:t>json_array</a:t>
            </a:r>
            <a:r>
              <a:rPr lang="en-US">
                <a:solidFill>
                  <a:srgbClr val="800000"/>
                </a:solidFill>
              </a:rPr>
              <a:t>`</a:t>
            </a:r>
            <a:r>
              <a:rPr lang="en-US">
                <a:solidFill>
                  <a:srgbClr val="3B3B3B"/>
                </a:solidFill>
              </a:rPr>
              <a:t>.</a:t>
            </a:r>
            <a:endParaRPr lang="en-US"/>
          </a:p>
          <a:p>
            <a:br>
              <a:rPr lang="en-US"/>
            </a:br>
            <a:endParaRPr lang="en-US"/>
          </a:p>
          <a:p>
            <a:r>
              <a:rPr lang="en-US">
                <a:solidFill>
                  <a:srgbClr val="3B3B3B"/>
                </a:solidFill>
              </a:rPr>
              <a:t>```c</a:t>
            </a:r>
            <a:endParaRPr lang="en-US"/>
          </a:p>
          <a:p>
            <a:r>
              <a:rPr lang="en-US">
                <a:solidFill>
                  <a:srgbClr val="AF00DB"/>
                </a:solidFill>
              </a:rPr>
              <a:t>if</a:t>
            </a:r>
            <a:r>
              <a:rPr lang="en-US"/>
              <a:t> (value-&gt;</a:t>
            </a:r>
            <a:r>
              <a:rPr lang="en-US" err="1"/>
              <a:t>u.array.length</a:t>
            </a:r>
            <a:r>
              <a:rPr lang="en-US"/>
              <a:t> == </a:t>
            </a:r>
            <a:r>
              <a:rPr lang="en-US">
                <a:solidFill>
                  <a:srgbClr val="098658"/>
                </a:solidFill>
              </a:rPr>
              <a:t>0</a:t>
            </a:r>
            <a:r>
              <a:rPr lang="en-US"/>
              <a:t>)</a:t>
            </a:r>
          </a:p>
          <a:p>
            <a:r>
              <a:rPr lang="en-US"/>
              <a:t>{</a:t>
            </a:r>
          </a:p>
          <a:p>
            <a:r>
              <a:rPr lang="en-US">
                <a:solidFill>
                  <a:srgbClr val="795E26"/>
                </a:solidFill>
              </a:rPr>
              <a:t>free</a:t>
            </a:r>
            <a:r>
              <a:rPr lang="en-US"/>
              <a:t>(*top);</a:t>
            </a:r>
            <a:r>
              <a:rPr lang="en-US">
                <a:solidFill>
                  <a:srgbClr val="008000"/>
                </a:solidFill>
              </a:rPr>
              <a:t> // </a:t>
            </a:r>
            <a:r>
              <a:rPr lang="en-US" err="1">
                <a:solidFill>
                  <a:srgbClr val="008000"/>
                </a:solidFill>
              </a:rPr>
              <a:t>Dòng</a:t>
            </a:r>
            <a:r>
              <a:rPr lang="en-US">
                <a:solidFill>
                  <a:srgbClr val="008000"/>
                </a:solidFill>
              </a:rPr>
              <a:t> </a:t>
            </a:r>
            <a:r>
              <a:rPr lang="en-US" err="1">
                <a:solidFill>
                  <a:srgbClr val="008000"/>
                </a:solidFill>
              </a:rPr>
              <a:t>gây</a:t>
            </a:r>
            <a:r>
              <a:rPr lang="en-US">
                <a:solidFill>
                  <a:srgbClr val="008000"/>
                </a:solidFill>
              </a:rPr>
              <a:t> </a:t>
            </a:r>
            <a:r>
              <a:rPr lang="en-US" err="1">
                <a:solidFill>
                  <a:srgbClr val="008000"/>
                </a:solidFill>
              </a:rPr>
              <a:t>lỗi</a:t>
            </a:r>
            <a:endParaRPr lang="en-US" err="1"/>
          </a:p>
          <a:p>
            <a:r>
              <a:rPr lang="en-US">
                <a:solidFill>
                  <a:srgbClr val="AF00DB"/>
                </a:solidFill>
              </a:rPr>
              <a:t>break</a:t>
            </a:r>
            <a:r>
              <a:rPr lang="en-US"/>
              <a:t>;</a:t>
            </a:r>
          </a:p>
          <a:p>
            <a:r>
              <a:rPr lang="en-US"/>
              <a:t>}</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Khi </a:t>
            </a:r>
            <a:r>
              <a:rPr lang="en-US" err="1">
                <a:solidFill>
                  <a:srgbClr val="3B3B3B"/>
                </a:solidFill>
              </a:rPr>
              <a:t>trình</a:t>
            </a:r>
            <a:r>
              <a:rPr lang="en-US">
                <a:solidFill>
                  <a:srgbClr val="3B3B3B"/>
                </a:solidFill>
              </a:rPr>
              <a:t> </a:t>
            </a:r>
            <a:r>
              <a:rPr lang="en-US" err="1">
                <a:solidFill>
                  <a:srgbClr val="3B3B3B"/>
                </a:solidFill>
              </a:rPr>
              <a:t>phân</a:t>
            </a:r>
            <a:r>
              <a:rPr lang="en-US">
                <a:solidFill>
                  <a:srgbClr val="3B3B3B"/>
                </a:solidFill>
              </a:rPr>
              <a:t> </a:t>
            </a:r>
            <a:r>
              <a:rPr lang="en-US" err="1">
                <a:solidFill>
                  <a:srgbClr val="3B3B3B"/>
                </a:solidFill>
              </a:rPr>
              <a:t>tích</a:t>
            </a:r>
            <a:r>
              <a:rPr lang="en-US">
                <a:solidFill>
                  <a:srgbClr val="3B3B3B"/>
                </a:solidFill>
              </a:rPr>
              <a:t> </a:t>
            </a:r>
            <a:r>
              <a:rPr lang="en-US" err="1">
                <a:solidFill>
                  <a:srgbClr val="3B3B3B"/>
                </a:solidFill>
              </a:rPr>
              <a:t>cú</a:t>
            </a:r>
            <a:r>
              <a:rPr lang="en-US">
                <a:solidFill>
                  <a:srgbClr val="3B3B3B"/>
                </a:solidFill>
              </a:rPr>
              <a:t> </a:t>
            </a:r>
            <a:r>
              <a:rPr lang="en-US" err="1">
                <a:solidFill>
                  <a:srgbClr val="3B3B3B"/>
                </a:solidFill>
              </a:rPr>
              <a:t>pháp</a:t>
            </a:r>
            <a:r>
              <a:rPr lang="en-US">
                <a:solidFill>
                  <a:srgbClr val="3B3B3B"/>
                </a:solidFill>
              </a:rPr>
              <a:t> (parser) </a:t>
            </a:r>
            <a:r>
              <a:rPr lang="en-US" err="1">
                <a:solidFill>
                  <a:srgbClr val="3B3B3B"/>
                </a:solidFill>
              </a:rPr>
              <a:t>gặp</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mảng</a:t>
            </a:r>
            <a:r>
              <a:rPr lang="en-US">
                <a:solidFill>
                  <a:srgbClr val="3B3B3B"/>
                </a:solidFill>
              </a:rPr>
              <a:t> JSON </a:t>
            </a:r>
            <a:r>
              <a:rPr lang="en-US" err="1">
                <a:solidFill>
                  <a:srgbClr val="3B3B3B"/>
                </a:solidFill>
              </a:rPr>
              <a:t>rỗng</a:t>
            </a:r>
            <a:r>
              <a:rPr lang="en-US">
                <a:solidFill>
                  <a:srgbClr val="3B3B3B"/>
                </a:solidFill>
              </a:rPr>
              <a:t> (</a:t>
            </a:r>
            <a:r>
              <a:rPr lang="en-US">
                <a:solidFill>
                  <a:srgbClr val="800000"/>
                </a:solidFill>
              </a:rPr>
              <a:t>`[]`</a:t>
            </a:r>
            <a:r>
              <a:rPr lang="en-US">
                <a:solidFill>
                  <a:srgbClr val="3B3B3B"/>
                </a:solidFill>
              </a:rPr>
              <a:t>), </a:t>
            </a:r>
            <a:r>
              <a:rPr lang="en-US" err="1">
                <a:solidFill>
                  <a:srgbClr val="3B3B3B"/>
                </a:solidFill>
              </a:rPr>
              <a:t>nó</a:t>
            </a:r>
            <a:r>
              <a:rPr lang="en-US">
                <a:solidFill>
                  <a:srgbClr val="3B3B3B"/>
                </a:solidFill>
              </a:rPr>
              <a:t> </a:t>
            </a:r>
            <a:r>
              <a:rPr lang="en-US" err="1">
                <a:solidFill>
                  <a:srgbClr val="3B3B3B"/>
                </a:solidFill>
              </a:rPr>
              <a:t>thực</a:t>
            </a:r>
            <a:r>
              <a:rPr lang="en-US">
                <a:solidFill>
                  <a:srgbClr val="3B3B3B"/>
                </a:solidFill>
              </a:rPr>
              <a:t> </a:t>
            </a:r>
            <a:r>
              <a:rPr lang="en-US" err="1">
                <a:solidFill>
                  <a:srgbClr val="3B3B3B"/>
                </a:solidFill>
              </a:rPr>
              <a:t>hiện</a:t>
            </a:r>
            <a:r>
              <a:rPr lang="en-US">
                <a:solidFill>
                  <a:srgbClr val="3B3B3B"/>
                </a:solidFill>
              </a:rPr>
              <a:t> </a:t>
            </a:r>
            <a:r>
              <a:rPr lang="en-US" err="1">
                <a:solidFill>
                  <a:srgbClr val="3B3B3B"/>
                </a:solidFill>
              </a:rPr>
              <a:t>lệnh</a:t>
            </a:r>
            <a:r>
              <a:rPr lang="en-US">
                <a:solidFill>
                  <a:srgbClr val="3B3B3B"/>
                </a:solidFill>
              </a:rPr>
              <a:t> </a:t>
            </a:r>
            <a:r>
              <a:rPr lang="en-US">
                <a:solidFill>
                  <a:srgbClr val="800000"/>
                </a:solidFill>
              </a:rPr>
              <a:t>`free(*top)`</a:t>
            </a:r>
            <a:r>
              <a:rPr lang="en-US">
                <a:solidFill>
                  <a:srgbClr val="3B3B3B"/>
                </a:solidFill>
              </a:rPr>
              <a:t> </a:t>
            </a:r>
            <a:r>
              <a:rPr lang="en-US" err="1">
                <a:solidFill>
                  <a:srgbClr val="3B3B3B"/>
                </a:solidFill>
              </a:rPr>
              <a:t>để</a:t>
            </a:r>
            <a:r>
              <a:rPr lang="en-US">
                <a:solidFill>
                  <a:srgbClr val="3B3B3B"/>
                </a:solidFill>
              </a:rPr>
              <a:t> </a:t>
            </a:r>
            <a:r>
              <a:rPr lang="en-US" err="1">
                <a:solidFill>
                  <a:srgbClr val="3B3B3B"/>
                </a:solidFill>
              </a:rPr>
              <a:t>giải</a:t>
            </a:r>
            <a:r>
              <a:rPr lang="en-US">
                <a:solidFill>
                  <a:srgbClr val="3B3B3B"/>
                </a:solidFill>
              </a:rPr>
              <a:t> </a:t>
            </a:r>
            <a:r>
              <a:rPr lang="en-US" err="1">
                <a:solidFill>
                  <a:srgbClr val="3B3B3B"/>
                </a:solidFill>
              </a:rPr>
              <a:t>phóng</a:t>
            </a:r>
            <a:r>
              <a:rPr lang="en-US">
                <a:solidFill>
                  <a:srgbClr val="3B3B3B"/>
                </a:solidFill>
              </a:rPr>
              <a:t> </a:t>
            </a:r>
            <a:r>
              <a:rPr lang="en-US" err="1">
                <a:solidFill>
                  <a:srgbClr val="3B3B3B"/>
                </a:solidFill>
              </a:rPr>
              <a:t>khối</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`*top`</a:t>
            </a:r>
            <a:r>
              <a:rPr lang="en-US">
                <a:solidFill>
                  <a:srgbClr val="3B3B3B"/>
                </a:solidFill>
              </a:rPr>
              <a:t>. Tuy </a:t>
            </a:r>
            <a:r>
              <a:rPr lang="en-US" err="1">
                <a:solidFill>
                  <a:srgbClr val="3B3B3B"/>
                </a:solidFill>
              </a:rPr>
              <a:t>nhiên</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gán</a:t>
            </a:r>
            <a:r>
              <a:rPr lang="en-US">
                <a:solidFill>
                  <a:srgbClr val="3B3B3B"/>
                </a:solidFill>
              </a:rPr>
              <a:t> </a:t>
            </a:r>
            <a:r>
              <a:rPr lang="en-US" err="1">
                <a:solidFill>
                  <a:srgbClr val="3B3B3B"/>
                </a:solidFill>
              </a:rPr>
              <a:t>lại</a:t>
            </a:r>
            <a:r>
              <a:rPr lang="en-US">
                <a:solidFill>
                  <a:srgbClr val="3B3B3B"/>
                </a:solidFill>
              </a:rPr>
              <a:t> </a:t>
            </a:r>
            <a:r>
              <a:rPr lang="en-US" err="1">
                <a:solidFill>
                  <a:srgbClr val="3B3B3B"/>
                </a:solidFill>
              </a:rPr>
              <a:t>thành</a:t>
            </a:r>
            <a:r>
              <a:rPr lang="en-US">
                <a:solidFill>
                  <a:srgbClr val="3B3B3B"/>
                </a:solidFill>
              </a:rPr>
              <a:t> </a:t>
            </a:r>
            <a:r>
              <a:rPr lang="en-US">
                <a:solidFill>
                  <a:srgbClr val="800000"/>
                </a:solidFill>
              </a:rPr>
              <a:t>`NULL`</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xử</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đúng</a:t>
            </a:r>
            <a:r>
              <a:rPr lang="en-US">
                <a:solidFill>
                  <a:srgbClr val="3B3B3B"/>
                </a:solidFill>
              </a:rPr>
              <a:t> </a:t>
            </a:r>
            <a:r>
              <a:rPr lang="en-US" err="1">
                <a:solidFill>
                  <a:srgbClr val="3B3B3B"/>
                </a:solidFill>
              </a:rPr>
              <a:t>cách</a:t>
            </a:r>
            <a:r>
              <a:rPr lang="en-US">
                <a:solidFill>
                  <a:srgbClr val="3B3B3B"/>
                </a:solidFill>
              </a:rPr>
              <a:t> </a:t>
            </a:r>
            <a:r>
              <a:rPr lang="en-US" err="1">
                <a:solidFill>
                  <a:srgbClr val="3B3B3B"/>
                </a:solidFill>
              </a:rPr>
              <a:t>để</a:t>
            </a:r>
            <a:r>
              <a:rPr lang="en-US">
                <a:solidFill>
                  <a:srgbClr val="3B3B3B"/>
                </a:solidFill>
              </a:rPr>
              <a:t> </a:t>
            </a:r>
            <a:r>
              <a:rPr lang="en-US" err="1">
                <a:solidFill>
                  <a:srgbClr val="3B3B3B"/>
                </a:solidFill>
              </a:rPr>
              <a:t>ngăn</a:t>
            </a:r>
            <a:r>
              <a:rPr lang="en-US">
                <a:solidFill>
                  <a:srgbClr val="3B3B3B"/>
                </a:solidFill>
              </a:rPr>
              <a:t> </a:t>
            </a:r>
            <a:r>
              <a:rPr lang="en-US" err="1">
                <a:solidFill>
                  <a:srgbClr val="3B3B3B"/>
                </a:solidFill>
              </a:rPr>
              <a:t>chặn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Chương</a:t>
            </a:r>
            <a:r>
              <a:rPr lang="en-US">
                <a:solidFill>
                  <a:srgbClr val="3B3B3B"/>
                </a:solidFill>
              </a:rPr>
              <a:t> </a:t>
            </a:r>
            <a:r>
              <a:rPr lang="en-US" err="1">
                <a:solidFill>
                  <a:srgbClr val="3B3B3B"/>
                </a:solidFill>
              </a:rPr>
              <a:t>trình</a:t>
            </a:r>
            <a:r>
              <a:rPr lang="en-US">
                <a:solidFill>
                  <a:srgbClr val="3B3B3B"/>
                </a:solidFill>
              </a:rPr>
              <a:t> </a:t>
            </a:r>
            <a:r>
              <a:rPr lang="en-US" err="1">
                <a:solidFill>
                  <a:srgbClr val="3B3B3B"/>
                </a:solidFill>
              </a:rPr>
              <a:t>vẫn</a:t>
            </a:r>
            <a:r>
              <a:rPr lang="en-US">
                <a:solidFill>
                  <a:srgbClr val="3B3B3B"/>
                </a:solidFill>
              </a:rPr>
              <a:t> </a:t>
            </a:r>
            <a:r>
              <a:rPr lang="en-US" err="1">
                <a:solidFill>
                  <a:srgbClr val="3B3B3B"/>
                </a:solidFill>
              </a:rPr>
              <a:t>tiếp</a:t>
            </a:r>
            <a:r>
              <a:rPr lang="en-US">
                <a:solidFill>
                  <a:srgbClr val="3B3B3B"/>
                </a:solidFill>
              </a:rPr>
              <a:t> </a:t>
            </a:r>
            <a:r>
              <a:rPr lang="en-US" err="1">
                <a:solidFill>
                  <a:srgbClr val="3B3B3B"/>
                </a:solidFill>
              </a:rPr>
              <a:t>tục</a:t>
            </a:r>
            <a:r>
              <a:rPr lang="en-US">
                <a:solidFill>
                  <a:srgbClr val="3B3B3B"/>
                </a:solidFill>
              </a:rPr>
              <a:t> </a:t>
            </a:r>
            <a:r>
              <a:rPr lang="en-US" err="1">
                <a:solidFill>
                  <a:srgbClr val="3B3B3B"/>
                </a:solidFill>
              </a:rPr>
              <a:t>chạy</a:t>
            </a:r>
            <a:r>
              <a:rPr lang="en-US">
                <a:solidFill>
                  <a:srgbClr val="3B3B3B"/>
                </a:solidFill>
              </a:rPr>
              <a:t> </a:t>
            </a:r>
            <a:r>
              <a:rPr lang="en-US" err="1">
                <a:solidFill>
                  <a:srgbClr val="3B3B3B"/>
                </a:solidFill>
              </a:rPr>
              <a:t>và</a:t>
            </a:r>
            <a:r>
              <a:rPr lang="en-US">
                <a:solidFill>
                  <a:srgbClr val="3B3B3B"/>
                </a:solidFill>
              </a:rPr>
              <a:t> </a:t>
            </a:r>
            <a:r>
              <a:rPr lang="en-US" err="1">
                <a:solidFill>
                  <a:srgbClr val="3B3B3B"/>
                </a:solidFill>
              </a:rPr>
              <a:t>cố</a:t>
            </a:r>
            <a:r>
              <a:rPr lang="en-US">
                <a:solidFill>
                  <a:srgbClr val="3B3B3B"/>
                </a:solidFill>
              </a:rPr>
              <a:t> </a:t>
            </a:r>
            <a:r>
              <a:rPr lang="en-US" err="1">
                <a:solidFill>
                  <a:srgbClr val="3B3B3B"/>
                </a:solidFill>
              </a:rPr>
              <a:t>gắng</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đã</a:t>
            </a:r>
            <a:r>
              <a:rPr lang="en-US">
                <a:solidFill>
                  <a:srgbClr val="3B3B3B"/>
                </a:solidFill>
              </a:rPr>
              <a:t> </a:t>
            </a:r>
            <a:r>
              <a:rPr lang="en-US" err="1">
                <a:solidFill>
                  <a:srgbClr val="3B3B3B"/>
                </a:solidFill>
              </a:rPr>
              <a:t>bị</a:t>
            </a:r>
            <a:r>
              <a:rPr lang="en-US">
                <a:solidFill>
                  <a:srgbClr val="3B3B3B"/>
                </a:solidFill>
              </a:rPr>
              <a:t> </a:t>
            </a:r>
            <a:r>
              <a:rPr lang="en-US" err="1">
                <a:solidFill>
                  <a:srgbClr val="3B3B3B"/>
                </a:solidFill>
              </a:rPr>
              <a:t>giải</a:t>
            </a:r>
            <a:r>
              <a:rPr lang="en-US">
                <a:solidFill>
                  <a:srgbClr val="3B3B3B"/>
                </a:solidFill>
              </a:rPr>
              <a:t> </a:t>
            </a:r>
            <a:r>
              <a:rPr lang="en-US" err="1">
                <a:solidFill>
                  <a:srgbClr val="3B3B3B"/>
                </a:solidFill>
              </a:rPr>
              <a:t>phóng</a:t>
            </a:r>
            <a:r>
              <a:rPr lang="en-US">
                <a:solidFill>
                  <a:srgbClr val="3B3B3B"/>
                </a:solidFill>
              </a:rPr>
              <a:t> </a:t>
            </a:r>
            <a:r>
              <a:rPr lang="en-US" err="1">
                <a:solidFill>
                  <a:srgbClr val="3B3B3B"/>
                </a:solidFill>
              </a:rPr>
              <a:t>này</a:t>
            </a:r>
            <a:r>
              <a:rPr lang="en-US">
                <a:solidFill>
                  <a:srgbClr val="3B3B3B"/>
                </a:solidFill>
              </a:rPr>
              <a:t> ở </a:t>
            </a:r>
            <a:r>
              <a:rPr lang="en-US" err="1">
                <a:solidFill>
                  <a:srgbClr val="3B3B3B"/>
                </a:solidFill>
              </a:rPr>
              <a:t>các</a:t>
            </a:r>
            <a:r>
              <a:rPr lang="en-US">
                <a:solidFill>
                  <a:srgbClr val="3B3B3B"/>
                </a:solidFill>
              </a:rPr>
              <a:t> </a:t>
            </a:r>
            <a:r>
              <a:rPr lang="en-US" err="1">
                <a:solidFill>
                  <a:srgbClr val="3B3B3B"/>
                </a:solidFill>
              </a:rPr>
              <a:t>bước</a:t>
            </a:r>
            <a:r>
              <a:rPr lang="en-US">
                <a:solidFill>
                  <a:srgbClr val="3B3B3B"/>
                </a:solidFill>
              </a:rPr>
              <a:t> </a:t>
            </a:r>
            <a:r>
              <a:rPr lang="en-US" err="1">
                <a:solidFill>
                  <a:srgbClr val="3B3B3B"/>
                </a:solidFill>
              </a:rPr>
              <a:t>tiếp</a:t>
            </a:r>
            <a:r>
              <a:rPr lang="en-US">
                <a:solidFill>
                  <a:srgbClr val="3B3B3B"/>
                </a:solidFill>
              </a:rPr>
              <a:t> </a:t>
            </a:r>
            <a:r>
              <a:rPr lang="en-US" err="1">
                <a:solidFill>
                  <a:srgbClr val="3B3B3B"/>
                </a:solidFill>
              </a:rPr>
              <a:t>theo.</a:t>
            </a:r>
            <a:endParaRPr lang="en-US" err="1"/>
          </a:p>
          <a:p>
            <a:br>
              <a:rPr lang="en-US"/>
            </a:br>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a:t>
            </a:r>
            <a:r>
              <a:rPr lang="en-US" err="1">
                <a:solidFill>
                  <a:srgbClr val="3B3B3B"/>
                </a:solidFill>
              </a:rPr>
              <a:t>hư</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bộ</a:t>
            </a:r>
            <a:r>
              <a:rPr lang="en-US">
                <a:solidFill>
                  <a:srgbClr val="3B3B3B"/>
                </a:solidFill>
              </a:rPr>
              <a:t> </a:t>
            </a:r>
            <a:r>
              <a:rPr lang="en-US" err="1">
                <a:solidFill>
                  <a:srgbClr val="3B3B3B"/>
                </a:solidFill>
              </a:rPr>
              <a:t>nhớ</a:t>
            </a:r>
            <a:r>
              <a:rPr lang="en-US">
                <a:solidFill>
                  <a:srgbClr val="3B3B3B"/>
                </a:solidFill>
              </a:rPr>
              <a:t> (memory corruption), </a:t>
            </a:r>
            <a:r>
              <a:rPr lang="en-US" err="1">
                <a:solidFill>
                  <a:srgbClr val="3B3B3B"/>
                </a:solidFill>
              </a:rPr>
              <a:t>có</a:t>
            </a:r>
            <a:r>
              <a:rPr lang="en-US">
                <a:solidFill>
                  <a:srgbClr val="3B3B3B"/>
                </a:solidFill>
              </a:rPr>
              <a:t> </a:t>
            </a:r>
            <a:r>
              <a:rPr lang="en-US" err="1">
                <a:solidFill>
                  <a:srgbClr val="3B3B3B"/>
                </a:solidFill>
              </a:rPr>
              <a:t>thể</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crash </a:t>
            </a:r>
            <a:r>
              <a:rPr lang="en-US" err="1">
                <a:solidFill>
                  <a:srgbClr val="3B3B3B"/>
                </a:solidFill>
              </a:rPr>
              <a:t>chương</a:t>
            </a:r>
            <a:r>
              <a:rPr lang="en-US">
                <a:solidFill>
                  <a:srgbClr val="3B3B3B"/>
                </a:solidFill>
              </a:rPr>
              <a:t> </a:t>
            </a:r>
            <a:r>
              <a:rPr lang="en-US" err="1">
                <a:solidFill>
                  <a:srgbClr val="3B3B3B"/>
                </a:solidFill>
              </a:rPr>
              <a:t>trình</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trong</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tình</a:t>
            </a:r>
            <a:r>
              <a:rPr lang="en-US">
                <a:solidFill>
                  <a:srgbClr val="3B3B3B"/>
                </a:solidFill>
              </a:rPr>
              <a:t> </a:t>
            </a:r>
            <a:r>
              <a:rPr lang="en-US" err="1">
                <a:solidFill>
                  <a:srgbClr val="3B3B3B"/>
                </a:solidFill>
              </a:rPr>
              <a:t>huống</a:t>
            </a:r>
            <a:r>
              <a:rPr lang="en-US">
                <a:solidFill>
                  <a:srgbClr val="3B3B3B"/>
                </a:solidFill>
              </a:rPr>
              <a:t> </a:t>
            </a:r>
            <a:r>
              <a:rPr lang="en-US" err="1">
                <a:solidFill>
                  <a:srgbClr val="3B3B3B"/>
                </a:solidFill>
              </a:rPr>
              <a:t>thực</a:t>
            </a:r>
            <a:r>
              <a:rPr lang="en-US">
                <a:solidFill>
                  <a:srgbClr val="3B3B3B"/>
                </a:solidFill>
              </a:rPr>
              <a:t> </a:t>
            </a:r>
            <a:r>
              <a:rPr lang="en-US" err="1">
                <a:solidFill>
                  <a:srgbClr val="3B3B3B"/>
                </a:solidFill>
              </a:rPr>
              <a:t>tế</a:t>
            </a:r>
            <a:r>
              <a:rPr lang="en-US">
                <a:solidFill>
                  <a:srgbClr val="3B3B3B"/>
                </a:solidFill>
              </a:rPr>
              <a:t> </a:t>
            </a:r>
            <a:r>
              <a:rPr lang="en-US" err="1">
                <a:solidFill>
                  <a:srgbClr val="3B3B3B"/>
                </a:solidFill>
              </a:rPr>
              <a:t>nghiêm</a:t>
            </a:r>
            <a:r>
              <a:rPr lang="en-US">
                <a:solidFill>
                  <a:srgbClr val="3B3B3B"/>
                </a:solidFill>
              </a:rPr>
              <a:t> </a:t>
            </a:r>
            <a:r>
              <a:rPr lang="en-US" err="1">
                <a:solidFill>
                  <a:srgbClr val="3B3B3B"/>
                </a:solidFill>
              </a:rPr>
              <a:t>trọng</a:t>
            </a:r>
            <a:r>
              <a:rPr lang="en-US">
                <a:solidFill>
                  <a:srgbClr val="3B3B3B"/>
                </a:solidFill>
              </a:rPr>
              <a:t> </a:t>
            </a:r>
            <a:r>
              <a:rPr lang="en-US" err="1">
                <a:solidFill>
                  <a:srgbClr val="3B3B3B"/>
                </a:solidFill>
              </a:rPr>
              <a:t>hơn</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thực</a:t>
            </a:r>
            <a:r>
              <a:rPr lang="en-US">
                <a:solidFill>
                  <a:srgbClr val="3B3B3B"/>
                </a:solidFill>
              </a:rPr>
              <a:t> </a:t>
            </a:r>
            <a:r>
              <a:rPr lang="en-US" err="1">
                <a:solidFill>
                  <a:srgbClr val="3B3B3B"/>
                </a:solidFill>
              </a:rPr>
              <a:t>thi</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tùy</a:t>
            </a:r>
            <a:r>
              <a:rPr lang="en-US">
                <a:solidFill>
                  <a:srgbClr val="3B3B3B"/>
                </a:solidFill>
              </a:rPr>
              <a:t> ý (arbitrary code execution).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input </a:t>
            </a:r>
            <a:r>
              <a:rPr lang="en-US" err="1">
                <a:solidFill>
                  <a:srgbClr val="3B3B3B"/>
                </a:solidFill>
              </a:rPr>
              <a:t>là</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mảng</a:t>
            </a:r>
            <a:r>
              <a:rPr lang="en-US">
                <a:solidFill>
                  <a:srgbClr val="3B3B3B"/>
                </a:solidFill>
              </a:rPr>
              <a:t> JSON </a:t>
            </a:r>
            <a:r>
              <a:rPr lang="en-US" err="1">
                <a:solidFill>
                  <a:srgbClr val="3B3B3B"/>
                </a:solidFill>
              </a:rPr>
              <a:t>rỗng</a:t>
            </a:r>
            <a:r>
              <a:rPr lang="en-US">
                <a:solidFill>
                  <a:srgbClr val="3B3B3B"/>
                </a:solidFill>
              </a:rPr>
              <a:t>: </a:t>
            </a:r>
            <a:endParaRPr lang="en-US"/>
          </a:p>
          <a:p>
            <a:r>
              <a:rPr lang="en-US">
                <a:solidFill>
                  <a:srgbClr val="0451A5"/>
                </a:solidFill>
              </a:rPr>
              <a:t>-</a:t>
            </a:r>
            <a:r>
              <a:rPr lang="en-US">
                <a:solidFill>
                  <a:srgbClr val="3B3B3B"/>
                </a:solidFill>
              </a:rPr>
              <a:t> Payload: </a:t>
            </a:r>
            <a:r>
              <a:rPr lang="en-US">
                <a:solidFill>
                  <a:srgbClr val="800000"/>
                </a:solidFill>
              </a:rPr>
              <a:t>`[]`</a:t>
            </a: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emptyArray</a:t>
            </a:r>
            <a:r>
              <a:rPr lang="en-US">
                <a:solidFill>
                  <a:srgbClr val="800000"/>
                </a:solidFill>
              </a:rPr>
              <a:t>`</a:t>
            </a:r>
            <a:endParaRPr lang="en-US"/>
          </a:p>
          <a:p>
            <a:endParaRPr lang="en-US">
              <a:cs typeface="+mn-lt"/>
            </a:endParaRPr>
          </a:p>
        </p:txBody>
      </p:sp>
      <p:sp>
        <p:nvSpPr>
          <p:cNvPr id="4" name="Slide Number Placeholder 3"/>
          <p:cNvSpPr>
            <a:spLocks noGrp="1"/>
          </p:cNvSpPr>
          <p:nvPr>
            <p:ph type="sldNum" sz="quarter" idx="5"/>
          </p:nvPr>
        </p:nvSpPr>
        <p:spPr/>
        <p:txBody>
          <a:bodyPr/>
          <a:lstStyle/>
          <a:p>
            <a:fld id="{A9FD0793-C8D7-4125-BD72-CB052C0E0E0B}" type="slidenum">
              <a:rPr lang="en-US" smtClean="0"/>
              <a:t>5</a:t>
            </a:fld>
            <a:endParaRPr lang="en-US"/>
          </a:p>
        </p:txBody>
      </p:sp>
    </p:spTree>
    <p:extLst>
      <p:ext uri="{BB962C8B-B14F-4D97-AF65-F5344CB8AC3E}">
        <p14:creationId xmlns:p14="http://schemas.microsoft.com/office/powerpoint/2010/main" val="3994987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A9FD0793-C8D7-4125-BD72-CB052C0E0E0B}" type="slidenum">
              <a:rPr lang="en-US" smtClean="0"/>
              <a:t>6</a:t>
            </a:fld>
            <a:endParaRPr lang="en-US"/>
          </a:p>
        </p:txBody>
      </p:sp>
    </p:spTree>
    <p:extLst>
      <p:ext uri="{BB962C8B-B14F-4D97-AF65-F5344CB8AC3E}">
        <p14:creationId xmlns:p14="http://schemas.microsoft.com/office/powerpoint/2010/main" val="25186703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CAF63-907F-FFDA-3E13-E96E4577B9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C63EAB-6F45-3654-5BE5-7CF06FF9E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ADE155-6101-3FD9-D2BD-80AC2F3F5C84}"/>
              </a:ext>
            </a:extLst>
          </p:cNvPr>
          <p:cNvSpPr>
            <a:spLocks noGrp="1"/>
          </p:cNvSpPr>
          <p:nvPr>
            <p:ph type="body" idx="1"/>
          </p:nvPr>
        </p:nvSpPr>
        <p:spPr/>
        <p:txBody>
          <a:bodyPr/>
          <a:lstStyle/>
          <a:p>
            <a:r>
              <a:rPr lang="en-US" b="1">
                <a:solidFill>
                  <a:srgbClr val="000080"/>
                </a:solidFill>
              </a:rPr>
              <a:t>**3.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Invalid Pointer Free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con </a:t>
            </a:r>
            <a:r>
              <a:rPr lang="en-US" b="1" err="1">
                <a:solidFill>
                  <a:srgbClr val="000080"/>
                </a:solidFill>
              </a:rPr>
              <a:t>trỏ</a:t>
            </a:r>
            <a:r>
              <a:rPr lang="en-US" b="1">
                <a:solidFill>
                  <a:srgbClr val="000080"/>
                </a:solidFill>
              </a:rPr>
              <a:t> </a:t>
            </a:r>
            <a:r>
              <a:rPr lang="en-US" b="1" err="1">
                <a:solidFill>
                  <a:srgbClr val="000080"/>
                </a:solidFill>
              </a:rPr>
              <a:t>không</a:t>
            </a:r>
            <a:r>
              <a:rPr lang="en-US" b="1">
                <a:solidFill>
                  <a:srgbClr val="000080"/>
                </a:solidFill>
              </a:rPr>
              <a:t> </a:t>
            </a:r>
            <a:r>
              <a:rPr lang="en-US" b="1" err="1">
                <a:solidFill>
                  <a:srgbClr val="000080"/>
                </a:solidFill>
              </a:rPr>
              <a:t>hợp</a:t>
            </a:r>
            <a:r>
              <a:rPr lang="en-US" b="1">
                <a:solidFill>
                  <a:srgbClr val="000080"/>
                </a:solidFill>
              </a:rPr>
              <a:t> </a:t>
            </a:r>
            <a:r>
              <a:rPr lang="en-US" b="1" err="1">
                <a:solidFill>
                  <a:srgbClr val="000080"/>
                </a:solidFill>
              </a:rPr>
              <a:t>lệ</a:t>
            </a:r>
            <a:r>
              <a:rPr lang="en-US" b="1">
                <a:solidFill>
                  <a:srgbClr val="000080"/>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json_string</a:t>
            </a:r>
            <a:r>
              <a:rPr lang="en-US">
                <a:solidFill>
                  <a:srgbClr val="800000"/>
                </a:solidFill>
              </a:rPr>
              <a:t>`</a:t>
            </a:r>
            <a:r>
              <a:rPr lang="en-US">
                <a:solidFill>
                  <a:srgbClr val="3B3B3B"/>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3B3B3B"/>
                </a:solidFill>
              </a:rPr>
              <a:t>```c</a:t>
            </a:r>
            <a:endParaRPr lang="en-US">
              <a:solidFill>
                <a:srgbClr val="000080"/>
              </a:solidFill>
            </a:endParaRPr>
          </a:p>
          <a:p>
            <a:r>
              <a:rPr lang="en-US">
                <a:solidFill>
                  <a:srgbClr val="AF00DB"/>
                </a:solidFill>
              </a:rPr>
              <a:t>if</a:t>
            </a:r>
            <a:r>
              <a:rPr lang="en-US">
                <a:solidFill>
                  <a:srgbClr val="000000"/>
                </a:solidFill>
              </a:rPr>
              <a:t> (!value-&gt;</a:t>
            </a:r>
            <a:r>
              <a:rPr lang="en-US" err="1">
                <a:solidFill>
                  <a:srgbClr val="000000"/>
                </a:solidFill>
              </a:rPr>
              <a:t>u.string.length</a:t>
            </a:r>
            <a:r>
              <a:rPr lang="en-US">
                <a:solidFill>
                  <a:srgbClr val="000000"/>
                </a:solidFill>
              </a:rPr>
              <a:t>){</a:t>
            </a:r>
            <a:endParaRPr lang="en-US">
              <a:solidFill>
                <a:srgbClr val="000080"/>
              </a:solidFill>
            </a:endParaRPr>
          </a:p>
          <a:p>
            <a:r>
              <a:rPr lang="en-US">
                <a:solidFill>
                  <a:srgbClr val="001080"/>
                </a:solidFill>
              </a:rPr>
              <a:t>value</a:t>
            </a:r>
            <a:r>
              <a:rPr lang="en-US">
                <a:solidFill>
                  <a:srgbClr val="000000"/>
                </a:solidFill>
              </a:rPr>
              <a:t>-&gt;</a:t>
            </a:r>
            <a:r>
              <a:rPr lang="en-US" err="1">
                <a:solidFill>
                  <a:srgbClr val="001080"/>
                </a:solidFill>
              </a:rPr>
              <a:t>u</a:t>
            </a:r>
            <a:r>
              <a:rPr lang="en-US" err="1">
                <a:solidFill>
                  <a:srgbClr val="000000"/>
                </a:solidFill>
              </a:rPr>
              <a:t>.</a:t>
            </a:r>
            <a:r>
              <a:rPr lang="en-US" err="1">
                <a:solidFill>
                  <a:srgbClr val="001080"/>
                </a:solidFill>
              </a:rPr>
              <a:t>string</a:t>
            </a:r>
            <a:r>
              <a:rPr lang="en-US" err="1">
                <a:solidFill>
                  <a:srgbClr val="000000"/>
                </a:solidFill>
              </a:rPr>
              <a:t>.</a:t>
            </a:r>
            <a:r>
              <a:rPr lang="en-US" err="1">
                <a:solidFill>
                  <a:srgbClr val="001080"/>
                </a:solidFill>
              </a:rPr>
              <a:t>ptr</a:t>
            </a:r>
            <a:r>
              <a:rPr lang="en-US">
                <a:solidFill>
                  <a:srgbClr val="000000"/>
                </a:solidFill>
              </a:rPr>
              <a:t>--;</a:t>
            </a:r>
            <a:r>
              <a:rPr lang="en-US">
                <a:solidFill>
                  <a:srgbClr val="008000"/>
                </a:solidFill>
              </a:rPr>
              <a:t> // </a:t>
            </a:r>
            <a:r>
              <a:rPr lang="en-US" err="1">
                <a:solidFill>
                  <a:srgbClr val="008000"/>
                </a:solidFill>
              </a:rPr>
              <a:t>Dòng</a:t>
            </a:r>
            <a:r>
              <a:rPr lang="en-US">
                <a:solidFill>
                  <a:srgbClr val="008000"/>
                </a:solidFill>
              </a:rPr>
              <a:t> </a:t>
            </a:r>
            <a:r>
              <a:rPr lang="en-US" err="1">
                <a:solidFill>
                  <a:srgbClr val="008000"/>
                </a:solidFill>
              </a:rPr>
              <a:t>gây</a:t>
            </a:r>
            <a:r>
              <a:rPr lang="en-US">
                <a:solidFill>
                  <a:srgbClr val="008000"/>
                </a:solidFill>
              </a:rPr>
              <a:t> </a:t>
            </a:r>
            <a:r>
              <a:rPr lang="en-US" err="1">
                <a:solidFill>
                  <a:srgbClr val="008000"/>
                </a:solidFill>
              </a:rPr>
              <a:t>lỗi</a:t>
            </a:r>
            <a:endParaRPr lang="en-US" err="1">
              <a:solidFill>
                <a:srgbClr val="000080"/>
              </a:solidFill>
            </a:endParaRPr>
          </a:p>
          <a:p>
            <a:r>
              <a:rPr lang="en-US">
                <a:solidFill>
                  <a:srgbClr val="000000"/>
                </a:solidFill>
              </a:rPr>
              <a:t>}</a:t>
            </a:r>
            <a:endParaRPr lang="en-US">
              <a:solidFill>
                <a:srgbClr val="000080"/>
              </a:solidFill>
            </a:endParaRPr>
          </a:p>
          <a:p>
            <a:r>
              <a:rPr lang="en-US">
                <a:solidFill>
                  <a:srgbClr val="008000"/>
                </a:solidFill>
              </a:rPr>
              <a:t>// ... </a:t>
            </a:r>
            <a:r>
              <a:rPr lang="en-US" err="1">
                <a:solidFill>
                  <a:srgbClr val="008000"/>
                </a:solidFill>
              </a:rPr>
              <a:t>sau</a:t>
            </a:r>
            <a:r>
              <a:rPr lang="en-US">
                <a:solidFill>
                  <a:srgbClr val="008000"/>
                </a:solidFill>
              </a:rPr>
              <a:t> </a:t>
            </a:r>
            <a:r>
              <a:rPr lang="en-US" err="1">
                <a:solidFill>
                  <a:srgbClr val="008000"/>
                </a:solidFill>
              </a:rPr>
              <a:t>đó</a:t>
            </a:r>
            <a:r>
              <a:rPr lang="en-US">
                <a:solidFill>
                  <a:srgbClr val="008000"/>
                </a:solidFill>
              </a:rPr>
              <a:t> ...</a:t>
            </a:r>
            <a:endParaRPr lang="en-US">
              <a:solidFill>
                <a:srgbClr val="000080"/>
              </a:solidFill>
            </a:endParaRPr>
          </a:p>
          <a:p>
            <a:r>
              <a:rPr lang="en-US">
                <a:solidFill>
                  <a:srgbClr val="000000"/>
                </a:solidFill>
              </a:rPr>
              <a:t>settings-&gt;</a:t>
            </a:r>
            <a:r>
              <a:rPr lang="en-US" err="1">
                <a:solidFill>
                  <a:srgbClr val="795E26"/>
                </a:solidFill>
              </a:rPr>
              <a:t>mem_free</a:t>
            </a:r>
            <a:r>
              <a:rPr lang="en-US">
                <a:solidFill>
                  <a:srgbClr val="000000"/>
                </a:solidFill>
              </a:rPr>
              <a:t> (value-&gt;</a:t>
            </a:r>
            <a:r>
              <a:rPr lang="en-US" err="1">
                <a:solidFill>
                  <a:srgbClr val="000000"/>
                </a:solidFill>
              </a:rPr>
              <a:t>u.string.ptr</a:t>
            </a:r>
            <a:r>
              <a:rPr lang="en-US">
                <a:solidFill>
                  <a:srgbClr val="000000"/>
                </a:solidFill>
              </a:rPr>
              <a:t>, settings-&gt;</a:t>
            </a:r>
            <a:r>
              <a:rPr lang="en-US" err="1">
                <a:solidFill>
                  <a:srgbClr val="001080"/>
                </a:solidFill>
              </a:rPr>
              <a:t>user_data</a:t>
            </a:r>
            <a:r>
              <a:rPr lang="en-US">
                <a:solidFill>
                  <a:srgbClr val="000000"/>
                </a:solidFill>
              </a:rPr>
              <a:t>);</a:t>
            </a:r>
            <a:endParaRPr lang="en-US">
              <a:solidFill>
                <a:srgbClr val="000080"/>
              </a:solidFill>
            </a:endParaRPr>
          </a:p>
          <a:p>
            <a:r>
              <a:rPr lang="en-US">
                <a:solidFill>
                  <a:srgbClr val="3B3B3B"/>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chuỗi</a:t>
            </a:r>
            <a:r>
              <a:rPr lang="en-US">
                <a:solidFill>
                  <a:srgbClr val="3B3B3B"/>
                </a:solidFill>
              </a:rPr>
              <a:t> JSON </a:t>
            </a:r>
            <a:r>
              <a:rPr lang="en-US" err="1">
                <a:solidFill>
                  <a:srgbClr val="3B3B3B"/>
                </a:solidFill>
              </a:rPr>
              <a:t>là</a:t>
            </a:r>
            <a:r>
              <a:rPr lang="en-US">
                <a:solidFill>
                  <a:srgbClr val="3B3B3B"/>
                </a:solidFill>
              </a:rPr>
              <a:t> </a:t>
            </a:r>
            <a:r>
              <a:rPr lang="en-US" err="1">
                <a:solidFill>
                  <a:srgbClr val="3B3B3B"/>
                </a:solidFill>
              </a:rPr>
              <a:t>chuỗi</a:t>
            </a:r>
            <a:r>
              <a:rPr lang="en-US">
                <a:solidFill>
                  <a:srgbClr val="3B3B3B"/>
                </a:solidFill>
              </a:rPr>
              <a:t> </a:t>
            </a:r>
            <a:r>
              <a:rPr lang="en-US" err="1">
                <a:solidFill>
                  <a:srgbClr val="3B3B3B"/>
                </a:solidFill>
              </a:rPr>
              <a:t>rỗng</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bằng</a:t>
            </a:r>
            <a:r>
              <a:rPr lang="en-US">
                <a:solidFill>
                  <a:srgbClr val="3B3B3B"/>
                </a:solidFill>
              </a:rPr>
              <a:t> 0), </a:t>
            </a:r>
            <a:r>
              <a:rPr lang="en-US" err="1">
                <a:solidFill>
                  <a:srgbClr val="3B3B3B"/>
                </a:solidFill>
              </a:rPr>
              <a:t>mã</a:t>
            </a:r>
            <a:r>
              <a:rPr lang="en-US">
                <a:solidFill>
                  <a:srgbClr val="3B3B3B"/>
                </a:solidFill>
              </a:rPr>
              <a:t> </a:t>
            </a:r>
            <a:r>
              <a:rPr lang="en-US" err="1">
                <a:solidFill>
                  <a:srgbClr val="3B3B3B"/>
                </a:solidFill>
              </a:rPr>
              <a:t>nguồn</a:t>
            </a:r>
            <a:r>
              <a:rPr lang="en-US">
                <a:solidFill>
                  <a:srgbClr val="3B3B3B"/>
                </a:solidFill>
              </a:rPr>
              <a:t> </a:t>
            </a:r>
            <a:r>
              <a:rPr lang="en-US" err="1">
                <a:solidFill>
                  <a:srgbClr val="3B3B3B"/>
                </a:solidFill>
              </a:rPr>
              <a:t>cố</a:t>
            </a:r>
            <a:r>
              <a:rPr lang="en-US">
                <a:solidFill>
                  <a:srgbClr val="3B3B3B"/>
                </a:solidFill>
              </a:rPr>
              <a:t> </a:t>
            </a:r>
            <a:r>
              <a:rPr lang="en-US" err="1">
                <a:solidFill>
                  <a:srgbClr val="3B3B3B"/>
                </a:solidFill>
              </a:rPr>
              <a:t>tình</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địa</a:t>
            </a:r>
            <a:r>
              <a:rPr lang="en-US">
                <a:solidFill>
                  <a:srgbClr val="3B3B3B"/>
                </a:solidFill>
              </a:rPr>
              <a:t> </a:t>
            </a:r>
            <a:r>
              <a:rPr lang="en-US" err="1">
                <a:solidFill>
                  <a:srgbClr val="3B3B3B"/>
                </a:solidFill>
              </a:rPr>
              <a:t>chỉ</a:t>
            </a:r>
            <a:r>
              <a:rPr lang="en-US">
                <a:solidFill>
                  <a:srgbClr val="3B3B3B"/>
                </a:solidFill>
              </a:rPr>
              <a:t> con </a:t>
            </a:r>
            <a:r>
              <a:rPr lang="en-US" err="1">
                <a:solidFill>
                  <a:srgbClr val="3B3B3B"/>
                </a:solidFill>
              </a:rPr>
              <a:t>trỏ</a:t>
            </a:r>
            <a:r>
              <a:rPr lang="en-US">
                <a:solidFill>
                  <a:srgbClr val="3B3B3B"/>
                </a:solidFill>
              </a:rPr>
              <a:t> </a:t>
            </a:r>
            <a:r>
              <a:rPr lang="en-US">
                <a:solidFill>
                  <a:srgbClr val="800000"/>
                </a:solidFill>
              </a:rPr>
              <a:t>`value-&gt;</a:t>
            </a:r>
            <a:r>
              <a:rPr lang="en-US" err="1">
                <a:solidFill>
                  <a:srgbClr val="800000"/>
                </a:solidFill>
              </a:rPr>
              <a:t>u.string.ptr</a:t>
            </a:r>
            <a:r>
              <a:rPr lang="en-US">
                <a:solidFill>
                  <a:srgbClr val="800000"/>
                </a:solidFill>
              </a:rPr>
              <a:t>`</a:t>
            </a:r>
            <a:r>
              <a:rPr lang="en-US">
                <a:solidFill>
                  <a:srgbClr val="3B3B3B"/>
                </a:solidFill>
              </a:rPr>
              <a:t> </a:t>
            </a:r>
            <a:r>
              <a:rPr lang="en-US" err="1">
                <a:solidFill>
                  <a:srgbClr val="3B3B3B"/>
                </a:solidFill>
              </a:rPr>
              <a:t>đi</a:t>
            </a:r>
            <a:r>
              <a:rPr lang="en-US">
                <a:solidFill>
                  <a:srgbClr val="3B3B3B"/>
                </a:solidFill>
              </a:rPr>
              <a:t> 1 </a:t>
            </a:r>
            <a:r>
              <a:rPr lang="en-US" err="1">
                <a:solidFill>
                  <a:srgbClr val="3B3B3B"/>
                </a:solidFill>
              </a:rPr>
              <a:t>đơn</a:t>
            </a:r>
            <a:r>
              <a:rPr lang="en-US">
                <a:solidFill>
                  <a:srgbClr val="3B3B3B"/>
                </a:solidFill>
              </a:rPr>
              <a:t> </a:t>
            </a:r>
            <a:r>
              <a:rPr lang="en-US" err="1">
                <a:solidFill>
                  <a:srgbClr val="3B3B3B"/>
                </a:solidFill>
              </a:rPr>
              <a:t>vị</a:t>
            </a:r>
            <a:r>
              <a:rPr lang="en-US">
                <a:solidFill>
                  <a:srgbClr val="3B3B3B"/>
                </a:solidFill>
              </a:rPr>
              <a:t>. Sau </a:t>
            </a:r>
            <a:r>
              <a:rPr lang="en-US" err="1">
                <a:solidFill>
                  <a:srgbClr val="3B3B3B"/>
                </a:solidFill>
              </a:rPr>
              <a:t>đó</a:t>
            </a:r>
            <a:r>
              <a:rPr lang="en-US">
                <a:solidFill>
                  <a:srgbClr val="3B3B3B"/>
                </a:solidFill>
              </a:rPr>
              <a:t>, </a:t>
            </a:r>
            <a:r>
              <a:rPr lang="en-US" err="1">
                <a:solidFill>
                  <a:srgbClr val="3B3B3B"/>
                </a:solidFill>
              </a:rPr>
              <a:t>chương</a:t>
            </a:r>
            <a:r>
              <a:rPr lang="en-US">
                <a:solidFill>
                  <a:srgbClr val="3B3B3B"/>
                </a:solidFill>
              </a:rPr>
              <a:t> </a:t>
            </a:r>
            <a:r>
              <a:rPr lang="en-US" err="1">
                <a:solidFill>
                  <a:srgbClr val="3B3B3B"/>
                </a:solidFill>
              </a:rPr>
              <a:t>trình</a:t>
            </a:r>
            <a:r>
              <a:rPr lang="en-US">
                <a:solidFill>
                  <a:srgbClr val="3B3B3B"/>
                </a:solidFill>
              </a:rPr>
              <a:t> </a:t>
            </a:r>
            <a:r>
              <a:rPr lang="en-US" err="1">
                <a:solidFill>
                  <a:srgbClr val="3B3B3B"/>
                </a:solidFill>
              </a:rPr>
              <a:t>gọi</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mem_free</a:t>
            </a:r>
            <a:r>
              <a:rPr lang="en-US">
                <a:solidFill>
                  <a:srgbClr val="800000"/>
                </a:solidFill>
              </a:rPr>
              <a:t>`</a:t>
            </a:r>
            <a:r>
              <a:rPr lang="en-US">
                <a:solidFill>
                  <a:srgbClr val="3B3B3B"/>
                </a:solidFill>
              </a:rPr>
              <a:t> (</a:t>
            </a:r>
            <a:r>
              <a:rPr lang="en-US" err="1">
                <a:solidFill>
                  <a:srgbClr val="3B3B3B"/>
                </a:solidFill>
              </a:rPr>
              <a:t>tương</a:t>
            </a:r>
            <a:r>
              <a:rPr lang="en-US">
                <a:solidFill>
                  <a:srgbClr val="3B3B3B"/>
                </a:solidFill>
              </a:rPr>
              <a:t> </a:t>
            </a:r>
            <a:r>
              <a:rPr lang="en-US" err="1">
                <a:solidFill>
                  <a:srgbClr val="3B3B3B"/>
                </a:solidFill>
              </a:rPr>
              <a:t>đương</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lên</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đã</a:t>
            </a:r>
            <a:r>
              <a:rPr lang="en-US">
                <a:solidFill>
                  <a:srgbClr val="3B3B3B"/>
                </a:solidFill>
              </a:rPr>
              <a:t> </a:t>
            </a:r>
            <a:r>
              <a:rPr lang="en-US" err="1">
                <a:solidFill>
                  <a:srgbClr val="3B3B3B"/>
                </a:solidFill>
              </a:rPr>
              <a:t>bị</a:t>
            </a:r>
            <a:r>
              <a:rPr lang="en-US">
                <a:solidFill>
                  <a:srgbClr val="3B3B3B"/>
                </a:solidFill>
              </a:rPr>
              <a:t> </a:t>
            </a:r>
            <a:r>
              <a:rPr lang="en-US" err="1">
                <a:solidFill>
                  <a:srgbClr val="3B3B3B"/>
                </a:solidFill>
              </a:rPr>
              <a:t>thay</a:t>
            </a:r>
            <a:r>
              <a:rPr lang="en-US">
                <a:solidFill>
                  <a:srgbClr val="3B3B3B"/>
                </a:solidFill>
              </a:rPr>
              <a:t> </a:t>
            </a:r>
            <a:r>
              <a:rPr lang="en-US" err="1">
                <a:solidFill>
                  <a:srgbClr val="3B3B3B"/>
                </a:solidFill>
              </a:rPr>
              <a:t>đổi</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Trình</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bộ</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thể</a:t>
            </a:r>
            <a:r>
              <a:rPr lang="en-US">
                <a:solidFill>
                  <a:srgbClr val="3B3B3B"/>
                </a:solidFill>
              </a:rPr>
              <a:t> </a:t>
            </a:r>
            <a:r>
              <a:rPr lang="en-US" err="1">
                <a:solidFill>
                  <a:srgbClr val="3B3B3B"/>
                </a:solidFill>
              </a:rPr>
              <a:t>giải</a:t>
            </a:r>
            <a:r>
              <a:rPr lang="en-US">
                <a:solidFill>
                  <a:srgbClr val="3B3B3B"/>
                </a:solidFill>
              </a:rPr>
              <a:t> </a:t>
            </a:r>
            <a:r>
              <a:rPr lang="en-US" err="1">
                <a:solidFill>
                  <a:srgbClr val="3B3B3B"/>
                </a:solidFill>
              </a:rPr>
              <a:t>phóng</a:t>
            </a:r>
            <a:r>
              <a:rPr lang="en-US">
                <a:solidFill>
                  <a:srgbClr val="3B3B3B"/>
                </a:solidFill>
              </a:rPr>
              <a:t> </a:t>
            </a:r>
            <a:r>
              <a:rPr lang="en-US" err="1">
                <a:solidFill>
                  <a:srgbClr val="3B3B3B"/>
                </a:solidFill>
              </a:rPr>
              <a:t>địa</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bắt</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khối</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đã</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địa</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lỗi</a:t>
            </a:r>
            <a:r>
              <a:rPr lang="en-US">
                <a:solidFill>
                  <a:srgbClr val="3B3B3B"/>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lỗi</a:t>
            </a:r>
            <a:r>
              <a:rPr lang="en-US">
                <a:solidFill>
                  <a:srgbClr val="3B3B3B"/>
                </a:solidFill>
              </a:rPr>
              <a:t> </a:t>
            </a:r>
            <a:r>
              <a:rPr lang="en-US" err="1">
                <a:solidFill>
                  <a:srgbClr val="3B3B3B"/>
                </a:solidFill>
              </a:rPr>
              <a:t>phân</a:t>
            </a:r>
            <a:r>
              <a:rPr lang="en-US">
                <a:solidFill>
                  <a:srgbClr val="3B3B3B"/>
                </a:solidFill>
              </a:rPr>
              <a:t> </a:t>
            </a:r>
            <a:r>
              <a:rPr lang="en-US" err="1">
                <a:solidFill>
                  <a:srgbClr val="3B3B3B"/>
                </a:solidFill>
              </a:rPr>
              <a:t>bổ</a:t>
            </a:r>
            <a:r>
              <a:rPr lang="en-US">
                <a:solidFill>
                  <a:srgbClr val="3B3B3B"/>
                </a:solidFill>
              </a:rPr>
              <a:t> </a:t>
            </a:r>
            <a:r>
              <a:rPr lang="en-US" err="1">
                <a:solidFill>
                  <a:srgbClr val="3B3B3B"/>
                </a:solidFill>
              </a:rPr>
              <a:t>bộ</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thường</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`SIGABRT`</a:t>
            </a:r>
            <a:r>
              <a:rPr lang="en-US">
                <a:solidFill>
                  <a:srgbClr val="3B3B3B"/>
                </a:solidFill>
              </a:rPr>
              <a:t> (Process abort signal) </a:t>
            </a:r>
            <a:r>
              <a:rPr lang="en-US" err="1">
                <a:solidFill>
                  <a:srgbClr val="3B3B3B"/>
                </a:solidFill>
              </a:rPr>
              <a:t>hoặc</a:t>
            </a:r>
            <a:r>
              <a:rPr lang="en-US">
                <a:solidFill>
                  <a:srgbClr val="3B3B3B"/>
                </a:solidFill>
              </a:rPr>
              <a:t> crash </a:t>
            </a:r>
            <a:r>
              <a:rPr lang="en-US" err="1">
                <a:solidFill>
                  <a:srgbClr val="3B3B3B"/>
                </a:solidFill>
              </a:rPr>
              <a:t>chương</a:t>
            </a:r>
            <a:r>
              <a:rPr lang="en-US">
                <a:solidFill>
                  <a:srgbClr val="3B3B3B"/>
                </a:solidFill>
              </a:rPr>
              <a:t> </a:t>
            </a:r>
            <a:r>
              <a:rPr lang="en-US" err="1">
                <a:solidFill>
                  <a:srgbClr val="3B3B3B"/>
                </a:solidFill>
              </a:rPr>
              <a:t>trình</a:t>
            </a:r>
            <a:r>
              <a:rPr lang="en-US">
                <a:solidFill>
                  <a:srgbClr val="3B3B3B"/>
                </a:solidFill>
              </a:rPr>
              <a:t> </a:t>
            </a:r>
            <a:r>
              <a:rPr lang="en-US" err="1">
                <a:solidFill>
                  <a:srgbClr val="3B3B3B"/>
                </a:solidFill>
              </a:rPr>
              <a:t>ngay</a:t>
            </a:r>
            <a:r>
              <a:rPr lang="en-US">
                <a:solidFill>
                  <a:srgbClr val="3B3B3B"/>
                </a:solidFill>
              </a:rPr>
              <a:t> </a:t>
            </a:r>
            <a:r>
              <a:rPr lang="en-US" err="1">
                <a:solidFill>
                  <a:srgbClr val="3B3B3B"/>
                </a:solidFill>
              </a:rPr>
              <a:t>lập</a:t>
            </a:r>
            <a:r>
              <a:rPr lang="en-US">
                <a:solidFill>
                  <a:srgbClr val="3B3B3B"/>
                </a:solidFill>
              </a:rPr>
              <a:t> </a:t>
            </a:r>
            <a:r>
              <a:rPr lang="en-US" err="1">
                <a:solidFill>
                  <a:srgbClr val="3B3B3B"/>
                </a:solidFill>
              </a:rPr>
              <a:t>tức</a:t>
            </a:r>
            <a:r>
              <a:rPr lang="en-US">
                <a:solidFill>
                  <a:srgbClr val="3B3B3B"/>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input </a:t>
            </a:r>
            <a:r>
              <a:rPr lang="en-US" err="1">
                <a:solidFill>
                  <a:srgbClr val="3B3B3B"/>
                </a:solidFill>
              </a:rPr>
              <a:t>là</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chuỗi</a:t>
            </a:r>
            <a:r>
              <a:rPr lang="en-US">
                <a:solidFill>
                  <a:srgbClr val="3B3B3B"/>
                </a:solidFill>
              </a:rPr>
              <a:t> JSON </a:t>
            </a:r>
            <a:r>
              <a:rPr lang="en-US" err="1">
                <a:solidFill>
                  <a:srgbClr val="3B3B3B"/>
                </a:solidFill>
              </a:rPr>
              <a:t>rỗng</a:t>
            </a:r>
            <a:r>
              <a:rPr lang="en-US">
                <a:solidFill>
                  <a:srgbClr val="3B3B3B"/>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Payload: </a:t>
            </a:r>
            <a:r>
              <a:rPr lang="en-US">
                <a:solidFill>
                  <a:srgbClr val="800000"/>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emptyString</a:t>
            </a:r>
            <a:r>
              <a:rPr lang="en-US">
                <a:solidFill>
                  <a:srgbClr val="800000"/>
                </a:solidFill>
              </a:rPr>
              <a:t>.`</a:t>
            </a:r>
            <a:endParaRPr lang="en-US">
              <a:solidFill>
                <a:srgbClr val="000080"/>
              </a:solidFill>
            </a:endParaRPr>
          </a:p>
          <a:p>
            <a:endParaRPr lang="en-US">
              <a:cs typeface="+mn-lt"/>
            </a:endParaRPr>
          </a:p>
        </p:txBody>
      </p:sp>
      <p:sp>
        <p:nvSpPr>
          <p:cNvPr id="4" name="Slide Number Placeholder 3">
            <a:extLst>
              <a:ext uri="{FF2B5EF4-FFF2-40B4-BE49-F238E27FC236}">
                <a16:creationId xmlns:a16="http://schemas.microsoft.com/office/drawing/2014/main" id="{2937C09C-351F-5996-9CF1-194EBCE5B2CB}"/>
              </a:ext>
            </a:extLst>
          </p:cNvPr>
          <p:cNvSpPr>
            <a:spLocks noGrp="1"/>
          </p:cNvSpPr>
          <p:nvPr>
            <p:ph type="sldNum" sz="quarter" idx="5"/>
          </p:nvPr>
        </p:nvSpPr>
        <p:spPr/>
        <p:txBody>
          <a:bodyPr/>
          <a:lstStyle/>
          <a:p>
            <a:fld id="{A9FD0793-C8D7-4125-BD72-CB052C0E0E0B}" type="slidenum">
              <a:rPr lang="en-US" smtClean="0"/>
              <a:t>7</a:t>
            </a:fld>
            <a:endParaRPr lang="en-US"/>
          </a:p>
        </p:txBody>
      </p:sp>
    </p:spTree>
    <p:extLst>
      <p:ext uri="{BB962C8B-B14F-4D97-AF65-F5344CB8AC3E}">
        <p14:creationId xmlns:p14="http://schemas.microsoft.com/office/powerpoint/2010/main" val="3519902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18E06-6CB4-F71D-4E0C-F950CF45D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AAD95-89A1-BC4F-0B7F-301CDEFFC8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6EF58-2BFB-F18B-F718-2A8D8C1509F6}"/>
              </a:ext>
            </a:extLst>
          </p:cNvPr>
          <p:cNvSpPr>
            <a:spLocks noGrp="1"/>
          </p:cNvSpPr>
          <p:nvPr>
            <p:ph type="body" idx="1"/>
          </p:nvPr>
        </p:nvSpPr>
        <p:spPr/>
        <p:txBody>
          <a:bodyPr/>
          <a:lstStyle/>
          <a:p>
            <a:r>
              <a:rPr lang="en-US" b="1">
                <a:solidFill>
                  <a:srgbClr val="000080"/>
                </a:solidFill>
              </a:rPr>
              <a:t>**4.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Null Pointer Dereference (</a:t>
            </a:r>
            <a:r>
              <a:rPr lang="en-US" b="1" err="1">
                <a:solidFill>
                  <a:srgbClr val="000080"/>
                </a:solidFill>
              </a:rPr>
              <a:t>Truy</a:t>
            </a:r>
            <a:r>
              <a:rPr lang="en-US" b="1">
                <a:solidFill>
                  <a:srgbClr val="000080"/>
                </a:solidFill>
              </a:rPr>
              <a:t> </a:t>
            </a:r>
            <a:r>
              <a:rPr lang="en-US" b="1" err="1">
                <a:solidFill>
                  <a:srgbClr val="000080"/>
                </a:solidFill>
              </a:rPr>
              <a:t>cập</a:t>
            </a:r>
            <a:r>
              <a:rPr lang="en-US" b="1">
                <a:solidFill>
                  <a:srgbClr val="000080"/>
                </a:solidFill>
              </a:rPr>
              <a:t> con </a:t>
            </a:r>
            <a:r>
              <a:rPr lang="en-US" b="1" err="1">
                <a:solidFill>
                  <a:srgbClr val="000080"/>
                </a:solidFill>
              </a:rPr>
              <a:t>trỏ</a:t>
            </a:r>
            <a:r>
              <a:rPr lang="en-US" b="1">
                <a:solidFill>
                  <a:srgbClr val="000080"/>
                </a:solidFill>
              </a:rPr>
              <a:t> NULL)**</a:t>
            </a: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json_string</a:t>
            </a:r>
            <a:r>
              <a:rPr lang="en-US">
                <a:solidFill>
                  <a:srgbClr val="800000"/>
                </a:solidFill>
              </a:rPr>
              <a:t>`</a:t>
            </a:r>
            <a:r>
              <a:rPr lang="en-US">
                <a:solidFill>
                  <a:srgbClr val="3B3B3B"/>
                </a:solidFill>
              </a:rPr>
              <a:t>.</a:t>
            </a:r>
            <a:endParaRPr lang="en-US">
              <a:solidFill>
                <a:srgbClr val="000080"/>
              </a:solidFill>
            </a:endParaRPr>
          </a:p>
          <a:p>
            <a:br>
              <a:rPr lang="en-US">
                <a:solidFill>
                  <a:srgbClr val="000080"/>
                </a:solidFill>
              </a:rPr>
            </a:br>
            <a:br>
              <a:rPr lang="en-US">
                <a:solidFill>
                  <a:srgbClr val="000080"/>
                </a:solidFill>
              </a:rPr>
            </a:br>
            <a:endParaRPr lang="en-US">
              <a:solidFill>
                <a:srgbClr val="000080"/>
              </a:solidFill>
            </a:endParaRPr>
          </a:p>
          <a:p>
            <a:r>
              <a:rPr lang="en-US">
                <a:solidFill>
                  <a:srgbClr val="3B3B3B"/>
                </a:solidFill>
              </a:rPr>
              <a:t>```c</a:t>
            </a:r>
            <a:endParaRPr lang="en-US">
              <a:solidFill>
                <a:srgbClr val="000080"/>
              </a:solidFill>
            </a:endParaRPr>
          </a:p>
          <a:p>
            <a:r>
              <a:rPr lang="en-US">
                <a:solidFill>
                  <a:srgbClr val="AF00DB"/>
                </a:solidFill>
              </a:rPr>
              <a:t>if</a:t>
            </a:r>
            <a:r>
              <a:rPr lang="en-US">
                <a:solidFill>
                  <a:srgbClr val="000000"/>
                </a:solidFill>
              </a:rPr>
              <a:t> (value-&gt;</a:t>
            </a:r>
            <a:r>
              <a:rPr lang="en-US" err="1">
                <a:solidFill>
                  <a:srgbClr val="000000"/>
                </a:solidFill>
              </a:rPr>
              <a:t>u.string.length</a:t>
            </a:r>
            <a:r>
              <a:rPr lang="en-US">
                <a:solidFill>
                  <a:srgbClr val="000000"/>
                </a:solidFill>
              </a:rPr>
              <a:t> == </a:t>
            </a:r>
            <a:r>
              <a:rPr lang="en-US">
                <a:solidFill>
                  <a:srgbClr val="098658"/>
                </a:solidFill>
              </a:rPr>
              <a:t>1</a:t>
            </a:r>
            <a:r>
              <a:rPr lang="en-US">
                <a:solidFill>
                  <a:srgbClr val="000000"/>
                </a:solidFill>
              </a:rPr>
              <a:t>) {</a:t>
            </a:r>
            <a:endParaRPr lang="en-US">
              <a:solidFill>
                <a:srgbClr val="000080"/>
              </a:solidFill>
            </a:endParaRPr>
          </a:p>
          <a:p>
            <a:r>
              <a:rPr lang="en-US">
                <a:solidFill>
                  <a:srgbClr val="0000FF"/>
                </a:solidFill>
              </a:rPr>
              <a:t>char</a:t>
            </a:r>
            <a:r>
              <a:rPr lang="en-US">
                <a:solidFill>
                  <a:srgbClr val="000000"/>
                </a:solidFill>
              </a:rPr>
              <a:t> *</a:t>
            </a:r>
            <a:r>
              <a:rPr lang="en-US" err="1">
                <a:solidFill>
                  <a:srgbClr val="000000"/>
                </a:solidFill>
              </a:rPr>
              <a:t>null_pointer</a:t>
            </a:r>
            <a:r>
              <a:rPr lang="en-US">
                <a:solidFill>
                  <a:srgbClr val="000000"/>
                </a:solidFill>
              </a:rPr>
              <a:t> = </a:t>
            </a:r>
            <a:r>
              <a:rPr lang="en-US">
                <a:solidFill>
                  <a:srgbClr val="0000FF"/>
                </a:solidFill>
              </a:rPr>
              <a:t>NULL</a:t>
            </a:r>
            <a:r>
              <a:rPr lang="en-US">
                <a:solidFill>
                  <a:srgbClr val="000000"/>
                </a:solidFill>
              </a:rPr>
              <a:t>;</a:t>
            </a:r>
            <a:endParaRPr lang="en-US">
              <a:solidFill>
                <a:srgbClr val="000080"/>
              </a:solidFill>
            </a:endParaRPr>
          </a:p>
          <a:p>
            <a:r>
              <a:rPr lang="en-US" err="1">
                <a:solidFill>
                  <a:srgbClr val="795E26"/>
                </a:solidFill>
              </a:rPr>
              <a:t>printf</a:t>
            </a:r>
            <a:r>
              <a:rPr lang="en-US">
                <a:solidFill>
                  <a:srgbClr val="000000"/>
                </a:solidFill>
              </a:rPr>
              <a:t> (</a:t>
            </a:r>
            <a:r>
              <a:rPr lang="en-US">
                <a:solidFill>
                  <a:srgbClr val="A31515"/>
                </a:solidFill>
              </a:rPr>
              <a:t>"</a:t>
            </a:r>
            <a:r>
              <a:rPr lang="en-US">
                <a:solidFill>
                  <a:srgbClr val="001080"/>
                </a:solidFill>
              </a:rPr>
              <a:t>%d</a:t>
            </a:r>
            <a:r>
              <a:rPr lang="en-US">
                <a:solidFill>
                  <a:srgbClr val="A31515"/>
                </a:solidFill>
              </a:rPr>
              <a:t>"</a:t>
            </a:r>
            <a:r>
              <a:rPr lang="en-US">
                <a:solidFill>
                  <a:srgbClr val="000000"/>
                </a:solidFill>
              </a:rPr>
              <a:t>, *</a:t>
            </a:r>
            <a:r>
              <a:rPr lang="en-US" err="1">
                <a:solidFill>
                  <a:srgbClr val="000000"/>
                </a:solidFill>
              </a:rPr>
              <a:t>null_pointer</a:t>
            </a:r>
            <a:r>
              <a:rPr lang="en-US">
                <a:solidFill>
                  <a:srgbClr val="000000"/>
                </a:solidFill>
              </a:rPr>
              <a:t>);</a:t>
            </a:r>
            <a:r>
              <a:rPr lang="en-US">
                <a:solidFill>
                  <a:srgbClr val="008000"/>
                </a:solidFill>
              </a:rPr>
              <a:t> // </a:t>
            </a:r>
            <a:r>
              <a:rPr lang="en-US" err="1">
                <a:solidFill>
                  <a:srgbClr val="008000"/>
                </a:solidFill>
              </a:rPr>
              <a:t>Dòng</a:t>
            </a:r>
            <a:r>
              <a:rPr lang="en-US">
                <a:solidFill>
                  <a:srgbClr val="008000"/>
                </a:solidFill>
              </a:rPr>
              <a:t> </a:t>
            </a:r>
            <a:r>
              <a:rPr lang="en-US" err="1">
                <a:solidFill>
                  <a:srgbClr val="008000"/>
                </a:solidFill>
              </a:rPr>
              <a:t>gây</a:t>
            </a:r>
            <a:r>
              <a:rPr lang="en-US">
                <a:solidFill>
                  <a:srgbClr val="008000"/>
                </a:solidFill>
              </a:rPr>
              <a:t> </a:t>
            </a:r>
            <a:r>
              <a:rPr lang="en-US" err="1">
                <a:solidFill>
                  <a:srgbClr val="008000"/>
                </a:solidFill>
              </a:rPr>
              <a:t>lỗi</a:t>
            </a:r>
            <a:endParaRPr lang="en-US" err="1">
              <a:solidFill>
                <a:srgbClr val="000080"/>
              </a:solidFill>
            </a:endParaRPr>
          </a:p>
          <a:p>
            <a:r>
              <a:rPr lang="en-US">
                <a:solidFill>
                  <a:srgbClr val="000000"/>
                </a:solidFill>
              </a:rPr>
              <a:t>}</a:t>
            </a:r>
            <a:endParaRPr lang="en-US">
              <a:solidFill>
                <a:srgbClr val="000080"/>
              </a:solidFill>
            </a:endParaRPr>
          </a:p>
          <a:p>
            <a:r>
              <a:rPr lang="en-US">
                <a:solidFill>
                  <a:srgbClr val="3B3B3B"/>
                </a:solidFill>
              </a:rPr>
              <a:t>```</a:t>
            </a: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kiểm</a:t>
            </a:r>
            <a:r>
              <a:rPr lang="en-US">
                <a:solidFill>
                  <a:srgbClr val="3B3B3B"/>
                </a:solidFill>
              </a:rPr>
              <a:t> </a:t>
            </a:r>
            <a:r>
              <a:rPr lang="en-US" err="1">
                <a:solidFill>
                  <a:srgbClr val="3B3B3B"/>
                </a:solidFill>
              </a:rPr>
              <a:t>tra</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chuỗi</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bằng</a:t>
            </a:r>
            <a:r>
              <a:rPr lang="en-US">
                <a:solidFill>
                  <a:srgbClr val="3B3B3B"/>
                </a:solidFill>
              </a:rPr>
              <a:t> 1. </a:t>
            </a:r>
            <a:r>
              <a:rPr lang="en-US" err="1">
                <a:solidFill>
                  <a:srgbClr val="3B3B3B"/>
                </a:solidFill>
              </a:rPr>
              <a:t>Nếu</a:t>
            </a:r>
            <a:r>
              <a:rPr lang="en-US">
                <a:solidFill>
                  <a:srgbClr val="3B3B3B"/>
                </a:solidFill>
              </a:rPr>
              <a:t> </a:t>
            </a:r>
            <a:r>
              <a:rPr lang="en-US" err="1">
                <a:solidFill>
                  <a:srgbClr val="3B3B3B"/>
                </a:solidFill>
              </a:rPr>
              <a:t>đúng</a:t>
            </a:r>
            <a:r>
              <a:rPr lang="en-US">
                <a:solidFill>
                  <a:srgbClr val="3B3B3B"/>
                </a:solidFill>
              </a:rPr>
              <a:t>, </a:t>
            </a:r>
            <a:r>
              <a:rPr lang="en-US" err="1">
                <a:solidFill>
                  <a:srgbClr val="3B3B3B"/>
                </a:solidFill>
              </a:rPr>
              <a:t>nó</a:t>
            </a:r>
            <a:r>
              <a:rPr lang="en-US">
                <a:solidFill>
                  <a:srgbClr val="3B3B3B"/>
                </a:solidFill>
              </a:rPr>
              <a:t> </a:t>
            </a:r>
            <a:r>
              <a:rPr lang="en-US" err="1">
                <a:solidFill>
                  <a:srgbClr val="3B3B3B"/>
                </a:solidFill>
              </a:rPr>
              <a:t>khởi</a:t>
            </a:r>
            <a:r>
              <a:rPr lang="en-US">
                <a:solidFill>
                  <a:srgbClr val="3B3B3B"/>
                </a:solidFill>
              </a:rPr>
              <a:t> </a:t>
            </a:r>
            <a:r>
              <a:rPr lang="en-US" err="1">
                <a:solidFill>
                  <a:srgbClr val="3B3B3B"/>
                </a:solidFill>
              </a:rPr>
              <a:t>tạo</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a:solidFill>
                  <a:srgbClr val="800000"/>
                </a:solidFill>
              </a:rPr>
              <a:t>`</a:t>
            </a:r>
            <a:r>
              <a:rPr lang="en-US" err="1">
                <a:solidFill>
                  <a:srgbClr val="800000"/>
                </a:solidFill>
              </a:rPr>
              <a:t>null_pointer</a:t>
            </a:r>
            <a:r>
              <a:rPr lang="en-US">
                <a:solidFill>
                  <a:srgbClr val="800000"/>
                </a:solidFill>
              </a:rPr>
              <a:t>`</a:t>
            </a:r>
            <a:r>
              <a:rPr lang="en-US">
                <a:solidFill>
                  <a:srgbClr val="3B3B3B"/>
                </a:solidFill>
              </a:rPr>
              <a:t> </a:t>
            </a:r>
            <a:r>
              <a:rPr lang="en-US" err="1">
                <a:solidFill>
                  <a:srgbClr val="3B3B3B"/>
                </a:solidFill>
              </a:rPr>
              <a:t>với</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`NULL`</a:t>
            </a:r>
            <a:r>
              <a:rPr lang="en-US">
                <a:solidFill>
                  <a:srgbClr val="3B3B3B"/>
                </a:solidFill>
              </a:rPr>
              <a:t> </a:t>
            </a:r>
            <a:r>
              <a:rPr lang="en-US" err="1">
                <a:solidFill>
                  <a:srgbClr val="3B3B3B"/>
                </a:solidFill>
              </a:rPr>
              <a:t>và</a:t>
            </a:r>
            <a:r>
              <a:rPr lang="en-US">
                <a:solidFill>
                  <a:srgbClr val="3B3B3B"/>
                </a:solidFill>
              </a:rPr>
              <a:t> </a:t>
            </a:r>
            <a:r>
              <a:rPr lang="en-US" err="1">
                <a:solidFill>
                  <a:srgbClr val="3B3B3B"/>
                </a:solidFill>
              </a:rPr>
              <a:t>cố</a:t>
            </a:r>
            <a:r>
              <a:rPr lang="en-US">
                <a:solidFill>
                  <a:srgbClr val="3B3B3B"/>
                </a:solidFill>
              </a:rPr>
              <a:t> </a:t>
            </a:r>
            <a:r>
              <a:rPr lang="en-US" err="1">
                <a:solidFill>
                  <a:srgbClr val="3B3B3B"/>
                </a:solidFill>
              </a:rPr>
              <a:t>gắng</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(dereference)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err="1">
                <a:solidFill>
                  <a:srgbClr val="3B3B3B"/>
                </a:solidFill>
              </a:rPr>
              <a:t>mà</a:t>
            </a:r>
            <a:r>
              <a:rPr lang="en-US">
                <a:solidFill>
                  <a:srgbClr val="3B3B3B"/>
                </a:solidFill>
              </a:rPr>
              <a:t> </a:t>
            </a:r>
            <a:r>
              <a:rPr lang="en-US" err="1">
                <a:solidFill>
                  <a:srgbClr val="3B3B3B"/>
                </a:solidFill>
              </a:rPr>
              <a:t>nó</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tới</a:t>
            </a:r>
            <a:r>
              <a:rPr lang="en-US">
                <a:solidFill>
                  <a:srgbClr val="3B3B3B"/>
                </a:solidFill>
              </a:rPr>
              <a:t> </a:t>
            </a:r>
            <a:r>
              <a:rPr lang="en-US" err="1">
                <a:solidFill>
                  <a:srgbClr val="3B3B3B"/>
                </a:solidFill>
              </a:rPr>
              <a:t>để</a:t>
            </a:r>
            <a:r>
              <a:rPr lang="en-US">
                <a:solidFill>
                  <a:srgbClr val="3B3B3B"/>
                </a:solidFill>
              </a:rPr>
              <a:t> in </a:t>
            </a:r>
            <a:r>
              <a:rPr lang="en-US" err="1">
                <a:solidFill>
                  <a:srgbClr val="3B3B3B"/>
                </a:solidFill>
              </a:rPr>
              <a:t>ra.</a:t>
            </a:r>
            <a:endParaRPr lang="en-US" err="1">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địa</a:t>
            </a:r>
            <a:r>
              <a:rPr lang="en-US">
                <a:solidFill>
                  <a:srgbClr val="3B3B3B"/>
                </a:solidFill>
              </a:rPr>
              <a:t> </a:t>
            </a:r>
            <a:r>
              <a:rPr lang="en-US" err="1">
                <a:solidFill>
                  <a:srgbClr val="3B3B3B"/>
                </a:solidFill>
              </a:rPr>
              <a:t>chỉ</a:t>
            </a:r>
            <a:r>
              <a:rPr lang="en-US">
                <a:solidFill>
                  <a:srgbClr val="3B3B3B"/>
                </a:solidFill>
              </a:rPr>
              <a:t> 0 (NULL) </a:t>
            </a:r>
            <a:r>
              <a:rPr lang="en-US" err="1">
                <a:solidFill>
                  <a:srgbClr val="3B3B3B"/>
                </a:solidFill>
              </a:rPr>
              <a:t>là</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pháp</a:t>
            </a:r>
            <a:r>
              <a:rPr lang="en-US">
                <a:solidFill>
                  <a:srgbClr val="3B3B3B"/>
                </a:solidFill>
              </a:rPr>
              <a:t> </a:t>
            </a:r>
            <a:r>
              <a:rPr lang="en-US" err="1">
                <a:solidFill>
                  <a:srgbClr val="3B3B3B"/>
                </a:solidFill>
              </a:rPr>
              <a:t>trong</a:t>
            </a:r>
            <a:r>
              <a:rPr lang="en-US">
                <a:solidFill>
                  <a:srgbClr val="3B3B3B"/>
                </a:solidFill>
              </a:rPr>
              <a:t> </a:t>
            </a:r>
            <a:r>
              <a:rPr lang="en-US" err="1">
                <a:solidFill>
                  <a:srgbClr val="3B3B3B"/>
                </a:solidFill>
              </a:rPr>
              <a:t>hầu</a:t>
            </a:r>
            <a:r>
              <a:rPr lang="en-US">
                <a:solidFill>
                  <a:srgbClr val="3B3B3B"/>
                </a:solidFill>
              </a:rPr>
              <a:t> </a:t>
            </a:r>
            <a:r>
              <a:rPr lang="en-US" err="1">
                <a:solidFill>
                  <a:srgbClr val="3B3B3B"/>
                </a:solidFill>
              </a:rPr>
              <a:t>hết</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hệ</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hành</a:t>
            </a:r>
            <a:r>
              <a:rPr lang="en-US">
                <a:solidFill>
                  <a:srgbClr val="3B3B3B"/>
                </a:solidFill>
              </a:rPr>
              <a:t> </a:t>
            </a:r>
            <a:r>
              <a:rPr lang="en-US" err="1">
                <a:solidFill>
                  <a:srgbClr val="3B3B3B"/>
                </a:solidFill>
              </a:rPr>
              <a:t>hiện</a:t>
            </a:r>
            <a:r>
              <a:rPr lang="en-US">
                <a:solidFill>
                  <a:srgbClr val="3B3B3B"/>
                </a:solidFill>
              </a:rPr>
              <a:t> </a:t>
            </a:r>
            <a:r>
              <a:rPr lang="en-US" err="1">
                <a:solidFill>
                  <a:srgbClr val="3B3B3B"/>
                </a:solidFill>
              </a:rPr>
              <a:t>đại</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hệ</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hành</a:t>
            </a:r>
            <a:r>
              <a:rPr lang="en-US">
                <a:solidFill>
                  <a:srgbClr val="3B3B3B"/>
                </a:solidFill>
              </a:rPr>
              <a:t> </a:t>
            </a:r>
            <a:r>
              <a:rPr lang="en-US" err="1">
                <a:solidFill>
                  <a:srgbClr val="3B3B3B"/>
                </a:solidFill>
              </a:rPr>
              <a:t>chấm</a:t>
            </a:r>
            <a:r>
              <a:rPr lang="en-US">
                <a:solidFill>
                  <a:srgbClr val="3B3B3B"/>
                </a:solidFill>
              </a:rPr>
              <a:t> </a:t>
            </a:r>
            <a:r>
              <a:rPr lang="en-US" err="1">
                <a:solidFill>
                  <a:srgbClr val="3B3B3B"/>
                </a:solidFill>
              </a:rPr>
              <a:t>dứt</a:t>
            </a:r>
            <a:r>
              <a:rPr lang="en-US">
                <a:solidFill>
                  <a:srgbClr val="3B3B3B"/>
                </a:solidFill>
              </a:rPr>
              <a:t> </a:t>
            </a:r>
            <a:r>
              <a:rPr lang="en-US" err="1">
                <a:solidFill>
                  <a:srgbClr val="3B3B3B"/>
                </a:solidFill>
              </a:rPr>
              <a:t>chương</a:t>
            </a:r>
            <a:r>
              <a:rPr lang="en-US">
                <a:solidFill>
                  <a:srgbClr val="3B3B3B"/>
                </a:solidFill>
              </a:rPr>
              <a:t> </a:t>
            </a:r>
            <a:r>
              <a:rPr lang="en-US" err="1">
                <a:solidFill>
                  <a:srgbClr val="3B3B3B"/>
                </a:solidFill>
              </a:rPr>
              <a:t>trình</a:t>
            </a:r>
            <a:r>
              <a:rPr lang="en-US">
                <a:solidFill>
                  <a:srgbClr val="3B3B3B"/>
                </a:solidFill>
              </a:rPr>
              <a:t> </a:t>
            </a:r>
            <a:r>
              <a:rPr lang="en-US" err="1">
                <a:solidFill>
                  <a:srgbClr val="3B3B3B"/>
                </a:solidFill>
              </a:rPr>
              <a:t>ngay</a:t>
            </a:r>
            <a:r>
              <a:rPr lang="en-US">
                <a:solidFill>
                  <a:srgbClr val="3B3B3B"/>
                </a:solidFill>
              </a:rPr>
              <a:t> </a:t>
            </a:r>
            <a:r>
              <a:rPr lang="en-US" err="1">
                <a:solidFill>
                  <a:srgbClr val="3B3B3B"/>
                </a:solidFill>
              </a:rPr>
              <a:t>lập</a:t>
            </a:r>
            <a:r>
              <a:rPr lang="en-US">
                <a:solidFill>
                  <a:srgbClr val="3B3B3B"/>
                </a:solidFill>
              </a:rPr>
              <a:t> </a:t>
            </a:r>
            <a:r>
              <a:rPr lang="en-US" err="1">
                <a:solidFill>
                  <a:srgbClr val="3B3B3B"/>
                </a:solidFill>
              </a:rPr>
              <a:t>tức</a:t>
            </a:r>
            <a:r>
              <a:rPr lang="en-US">
                <a:solidFill>
                  <a:srgbClr val="3B3B3B"/>
                </a:solidFill>
              </a:rPr>
              <a:t> (Segmentation Fault / SIGSEGV).</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input </a:t>
            </a:r>
            <a:r>
              <a:rPr lang="en-US" err="1">
                <a:solidFill>
                  <a:srgbClr val="3B3B3B"/>
                </a:solidFill>
              </a:rPr>
              <a:t>là</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chuỗi</a:t>
            </a:r>
            <a:r>
              <a:rPr lang="en-US">
                <a:solidFill>
                  <a:srgbClr val="3B3B3B"/>
                </a:solidFill>
              </a:rPr>
              <a:t> JSON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đúng</a:t>
            </a:r>
            <a:r>
              <a:rPr lang="en-US">
                <a:solidFill>
                  <a:srgbClr val="3B3B3B"/>
                </a:solidFill>
              </a:rPr>
              <a:t> </a:t>
            </a:r>
            <a:r>
              <a:rPr lang="en-US" err="1">
                <a:solidFill>
                  <a:srgbClr val="3B3B3B"/>
                </a:solidFill>
              </a:rPr>
              <a:t>bằng</a:t>
            </a:r>
            <a:r>
              <a:rPr lang="en-US">
                <a:solidFill>
                  <a:srgbClr val="3B3B3B"/>
                </a:solidFill>
              </a:rPr>
              <a:t> 1 </a:t>
            </a:r>
            <a:r>
              <a:rPr lang="en-US" err="1">
                <a:solidFill>
                  <a:srgbClr val="3B3B3B"/>
                </a:solidFill>
              </a:rPr>
              <a:t>ký</a:t>
            </a:r>
            <a:r>
              <a:rPr lang="en-US">
                <a:solidFill>
                  <a:srgbClr val="3B3B3B"/>
                </a:solidFill>
              </a:rPr>
              <a:t> </a:t>
            </a:r>
            <a:r>
              <a:rPr lang="en-US" err="1">
                <a:solidFill>
                  <a:srgbClr val="3B3B3B"/>
                </a:solidFill>
              </a:rPr>
              <a:t>tự</a:t>
            </a:r>
            <a:r>
              <a:rPr lang="en-US">
                <a:solidFill>
                  <a:srgbClr val="3B3B3B"/>
                </a:solidFill>
              </a:rPr>
              <a:t>.</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Payload: </a:t>
            </a:r>
            <a:r>
              <a:rPr lang="en-US">
                <a:solidFill>
                  <a:srgbClr val="800000"/>
                </a:solidFill>
              </a:rPr>
              <a:t>`"A"`</a:t>
            </a:r>
            <a:endParaRPr lang="en-US">
              <a:solidFill>
                <a:srgbClr val="000080"/>
              </a:solidFill>
            </a:endParaRPr>
          </a:p>
          <a:p>
            <a:br>
              <a:rPr lang="en-US">
                <a:solidFill>
                  <a:srgbClr val="000080"/>
                </a:solidFill>
              </a:rPr>
            </a:br>
            <a:endParaRPr lang="en-US">
              <a:solidFill>
                <a:srgbClr val="000080"/>
              </a:solidFill>
            </a:endParaRPr>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oneByteString</a:t>
            </a:r>
            <a:r>
              <a:rPr lang="en-US">
                <a:solidFill>
                  <a:srgbClr val="800000"/>
                </a:solidFill>
              </a:rPr>
              <a:t>`</a:t>
            </a:r>
            <a:r>
              <a:rPr lang="en-US">
                <a:solidFill>
                  <a:srgbClr val="3B3B3B"/>
                </a:solidFill>
              </a:rPr>
              <a:t>.</a:t>
            </a:r>
            <a:endParaRPr lang="en-US">
              <a:solidFill>
                <a:srgbClr val="000080"/>
              </a:solidFill>
            </a:endParaRPr>
          </a:p>
          <a:p>
            <a:endParaRPr lang="en-US">
              <a:solidFill>
                <a:srgbClr val="000080"/>
              </a:solidFill>
            </a:endParaRPr>
          </a:p>
          <a:p>
            <a:endParaRPr lang="en-US" b="1">
              <a:solidFill>
                <a:srgbClr val="000080"/>
              </a:solidFill>
              <a:cs typeface="+mn-lt"/>
            </a:endParaRPr>
          </a:p>
        </p:txBody>
      </p:sp>
      <p:sp>
        <p:nvSpPr>
          <p:cNvPr id="4" name="Slide Number Placeholder 3">
            <a:extLst>
              <a:ext uri="{FF2B5EF4-FFF2-40B4-BE49-F238E27FC236}">
                <a16:creationId xmlns:a16="http://schemas.microsoft.com/office/drawing/2014/main" id="{F62BE5E4-5438-099B-DEEB-1189F7D27F78}"/>
              </a:ext>
            </a:extLst>
          </p:cNvPr>
          <p:cNvSpPr>
            <a:spLocks noGrp="1"/>
          </p:cNvSpPr>
          <p:nvPr>
            <p:ph type="sldNum" sz="quarter" idx="5"/>
          </p:nvPr>
        </p:nvSpPr>
        <p:spPr/>
        <p:txBody>
          <a:bodyPr/>
          <a:lstStyle/>
          <a:p>
            <a:fld id="{A9FD0793-C8D7-4125-BD72-CB052C0E0E0B}" type="slidenum">
              <a:rPr lang="en-US" smtClean="0"/>
              <a:t>8</a:t>
            </a:fld>
            <a:endParaRPr lang="en-US"/>
          </a:p>
        </p:txBody>
      </p:sp>
    </p:spTree>
    <p:extLst>
      <p:ext uri="{BB962C8B-B14F-4D97-AF65-F5344CB8AC3E}">
        <p14:creationId xmlns:p14="http://schemas.microsoft.com/office/powerpoint/2010/main" val="2383973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9FD0793-C8D7-4125-BD72-CB052C0E0E0B}" type="slidenum">
              <a:rPr lang="en-US" smtClean="0"/>
              <a:t>9</a:t>
            </a:fld>
            <a:endParaRPr lang="en-US"/>
          </a:p>
        </p:txBody>
      </p:sp>
    </p:spTree>
    <p:extLst>
      <p:ext uri="{BB962C8B-B14F-4D97-AF65-F5344CB8AC3E}">
        <p14:creationId xmlns:p14="http://schemas.microsoft.com/office/powerpoint/2010/main" val="3929933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A32A8-F325-EFD7-D003-50FE8DF16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8DDCD-F294-466F-EE5D-FA9A83172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6A85F-1B9E-0E96-3907-C6E17514C6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9A3120-75C4-52C5-D629-B467FB05405D}"/>
              </a:ext>
            </a:extLst>
          </p:cNvPr>
          <p:cNvSpPr>
            <a:spLocks noGrp="1"/>
          </p:cNvSpPr>
          <p:nvPr>
            <p:ph type="sldNum" sz="quarter" idx="5"/>
          </p:nvPr>
        </p:nvSpPr>
        <p:spPr/>
        <p:txBody>
          <a:bodyPr/>
          <a:lstStyle/>
          <a:p>
            <a:fld id="{A9FD0793-C8D7-4125-BD72-CB052C0E0E0B}" type="slidenum">
              <a:rPr lang="en-US" smtClean="0"/>
              <a:t>10</a:t>
            </a:fld>
            <a:endParaRPr lang="en-US"/>
          </a:p>
        </p:txBody>
      </p:sp>
    </p:spTree>
    <p:extLst>
      <p:ext uri="{BB962C8B-B14F-4D97-AF65-F5344CB8AC3E}">
        <p14:creationId xmlns:p14="http://schemas.microsoft.com/office/powerpoint/2010/main" val="15834061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C3001-74AB-8163-ADD8-B6C4C5D06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BA18F-A827-FD07-3BB5-909A49519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680B8C-752F-110E-AFE6-C50D6419AEF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55B641E-166B-291B-45EE-6386529CED5D}"/>
              </a:ext>
            </a:extLst>
          </p:cNvPr>
          <p:cNvSpPr>
            <a:spLocks noGrp="1"/>
          </p:cNvSpPr>
          <p:nvPr>
            <p:ph type="sldNum" sz="quarter" idx="5"/>
          </p:nvPr>
        </p:nvSpPr>
        <p:spPr/>
        <p:txBody>
          <a:bodyPr/>
          <a:lstStyle/>
          <a:p>
            <a:fld id="{A9FD0793-C8D7-4125-BD72-CB052C0E0E0B}" type="slidenum">
              <a:rPr lang="en-US" smtClean="0"/>
              <a:t>11</a:t>
            </a:fld>
            <a:endParaRPr lang="en-US"/>
          </a:p>
        </p:txBody>
      </p:sp>
    </p:spTree>
    <p:extLst>
      <p:ext uri="{BB962C8B-B14F-4D97-AF65-F5344CB8AC3E}">
        <p14:creationId xmlns:p14="http://schemas.microsoft.com/office/powerpoint/2010/main" val="127888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5034C-8100-9187-17DF-B07E9CCE8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41F4D-AB00-A8B6-3E8D-28C410F4A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5CA21-0559-B0B6-FDF1-89F649505DB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6F809A-411F-54E4-3B64-8EA15922D220}"/>
              </a:ext>
            </a:extLst>
          </p:cNvPr>
          <p:cNvSpPr>
            <a:spLocks noGrp="1"/>
          </p:cNvSpPr>
          <p:nvPr>
            <p:ph type="sldNum" sz="quarter" idx="5"/>
          </p:nvPr>
        </p:nvSpPr>
        <p:spPr/>
        <p:txBody>
          <a:bodyPr/>
          <a:lstStyle/>
          <a:p>
            <a:fld id="{A9FD0793-C8D7-4125-BD72-CB052C0E0E0B}" type="slidenum">
              <a:rPr lang="en-US" smtClean="0"/>
              <a:t>12</a:t>
            </a:fld>
            <a:endParaRPr lang="en-US"/>
          </a:p>
        </p:txBody>
      </p:sp>
    </p:spTree>
    <p:extLst>
      <p:ext uri="{BB962C8B-B14F-4D97-AF65-F5344CB8AC3E}">
        <p14:creationId xmlns:p14="http://schemas.microsoft.com/office/powerpoint/2010/main" val="1331585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53F1B-507C-F039-3C0C-36D9E9F24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2275D-F175-4017-C776-C03E28A67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4884F-2469-0B80-D0A1-4E56E10C4B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1EAB9A1-DE15-701A-2BBF-39488EC1D2A8}"/>
              </a:ext>
            </a:extLst>
          </p:cNvPr>
          <p:cNvSpPr>
            <a:spLocks noGrp="1"/>
          </p:cNvSpPr>
          <p:nvPr>
            <p:ph type="sldNum" sz="quarter" idx="5"/>
          </p:nvPr>
        </p:nvSpPr>
        <p:spPr/>
        <p:txBody>
          <a:bodyPr/>
          <a:lstStyle/>
          <a:p>
            <a:fld id="{A9FD0793-C8D7-4125-BD72-CB052C0E0E0B}" type="slidenum">
              <a:rPr lang="en-US" smtClean="0"/>
              <a:t>13</a:t>
            </a:fld>
            <a:endParaRPr lang="en-US"/>
          </a:p>
        </p:txBody>
      </p:sp>
    </p:spTree>
    <p:extLst>
      <p:ext uri="{BB962C8B-B14F-4D97-AF65-F5344CB8AC3E}">
        <p14:creationId xmlns:p14="http://schemas.microsoft.com/office/powerpoint/2010/main" val="2626814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0CEDE-320C-E386-3F00-0AA35AC80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74FA07-0E04-5921-96AD-5C7AAD5AD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54E8FA-BB43-2F03-66BE-FFED76E2BC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35B872-74B3-6FE7-AF3D-B8538A8D05A0}"/>
              </a:ext>
            </a:extLst>
          </p:cNvPr>
          <p:cNvSpPr>
            <a:spLocks noGrp="1"/>
          </p:cNvSpPr>
          <p:nvPr>
            <p:ph type="sldNum" sz="quarter" idx="5"/>
          </p:nvPr>
        </p:nvSpPr>
        <p:spPr/>
        <p:txBody>
          <a:bodyPr/>
          <a:lstStyle/>
          <a:p>
            <a:fld id="{A9FD0793-C8D7-4125-BD72-CB052C0E0E0B}" type="slidenum">
              <a:rPr lang="en-US" smtClean="0"/>
              <a:t>14</a:t>
            </a:fld>
            <a:endParaRPr lang="en-US"/>
          </a:p>
        </p:txBody>
      </p:sp>
    </p:spTree>
    <p:extLst>
      <p:ext uri="{BB962C8B-B14F-4D97-AF65-F5344CB8AC3E}">
        <p14:creationId xmlns:p14="http://schemas.microsoft.com/office/powerpoint/2010/main" val="1294699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5F3E3-9548-643A-F0C0-4214FFB969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28D577-36A6-FF95-3F0E-EB6F1D270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030E7-6F30-B817-45B7-4EDB9381F6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1E9C3B-4E7E-D7E5-B3DF-4DDD605EED76}"/>
              </a:ext>
            </a:extLst>
          </p:cNvPr>
          <p:cNvSpPr>
            <a:spLocks noGrp="1"/>
          </p:cNvSpPr>
          <p:nvPr>
            <p:ph type="sldNum" sz="quarter" idx="5"/>
          </p:nvPr>
        </p:nvSpPr>
        <p:spPr/>
        <p:txBody>
          <a:bodyPr/>
          <a:lstStyle/>
          <a:p>
            <a:fld id="{A9FD0793-C8D7-4125-BD72-CB052C0E0E0B}" type="slidenum">
              <a:rPr lang="en-US" smtClean="0"/>
              <a:t>15</a:t>
            </a:fld>
            <a:endParaRPr lang="en-US"/>
          </a:p>
        </p:txBody>
      </p:sp>
    </p:spTree>
    <p:extLst>
      <p:ext uri="{BB962C8B-B14F-4D97-AF65-F5344CB8AC3E}">
        <p14:creationId xmlns:p14="http://schemas.microsoft.com/office/powerpoint/2010/main" val="39402015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3A15-3282-CDD4-717E-055239589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0F6C5-E001-450E-CCA5-38395BCB5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050BC-B7E5-B6A7-C054-95E2D28C35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6D3054-60B8-2DE4-5325-CA1B6C18DBE5}"/>
              </a:ext>
            </a:extLst>
          </p:cNvPr>
          <p:cNvSpPr>
            <a:spLocks noGrp="1"/>
          </p:cNvSpPr>
          <p:nvPr>
            <p:ph type="sldNum" sz="quarter" idx="5"/>
          </p:nvPr>
        </p:nvSpPr>
        <p:spPr/>
        <p:txBody>
          <a:bodyPr/>
          <a:lstStyle/>
          <a:p>
            <a:fld id="{A9FD0793-C8D7-4125-BD72-CB052C0E0E0B}" type="slidenum">
              <a:rPr lang="en-US" smtClean="0"/>
              <a:t>16</a:t>
            </a:fld>
            <a:endParaRPr lang="en-US"/>
          </a:p>
        </p:txBody>
      </p:sp>
    </p:spTree>
    <p:extLst>
      <p:ext uri="{BB962C8B-B14F-4D97-AF65-F5344CB8AC3E}">
        <p14:creationId xmlns:p14="http://schemas.microsoft.com/office/powerpoint/2010/main" val="3334704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31CD9-4826-5EF4-9016-AF8C83A83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C67C7A-96ED-B775-1100-11951EFFE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07690-9987-4FEC-0FEA-5F0A1EDC29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38404C-7411-F56B-BCCF-E64597EAB4CF}"/>
              </a:ext>
            </a:extLst>
          </p:cNvPr>
          <p:cNvSpPr>
            <a:spLocks noGrp="1"/>
          </p:cNvSpPr>
          <p:nvPr>
            <p:ph type="sldNum" sz="quarter" idx="5"/>
          </p:nvPr>
        </p:nvSpPr>
        <p:spPr/>
        <p:txBody>
          <a:bodyPr/>
          <a:lstStyle/>
          <a:p>
            <a:fld id="{A9FD0793-C8D7-4125-BD72-CB052C0E0E0B}" type="slidenum">
              <a:rPr lang="en-US" smtClean="0"/>
              <a:t>17</a:t>
            </a:fld>
            <a:endParaRPr lang="en-US"/>
          </a:p>
        </p:txBody>
      </p:sp>
    </p:spTree>
    <p:extLst>
      <p:ext uri="{BB962C8B-B14F-4D97-AF65-F5344CB8AC3E}">
        <p14:creationId xmlns:p14="http://schemas.microsoft.com/office/powerpoint/2010/main" val="2899737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D65BC-7536-8277-74E0-698760DFF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30F80-DE00-F3B5-75C3-BB55C45C35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CA36B-5A47-BCF1-DB3D-35D2F7AB51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DD0D38-8990-3291-8430-440788B77E01}"/>
              </a:ext>
            </a:extLst>
          </p:cNvPr>
          <p:cNvSpPr>
            <a:spLocks noGrp="1"/>
          </p:cNvSpPr>
          <p:nvPr>
            <p:ph type="sldNum" sz="quarter" idx="5"/>
          </p:nvPr>
        </p:nvSpPr>
        <p:spPr/>
        <p:txBody>
          <a:bodyPr/>
          <a:lstStyle/>
          <a:p>
            <a:fld id="{A9FD0793-C8D7-4125-BD72-CB052C0E0E0B}" type="slidenum">
              <a:rPr lang="en-US" smtClean="0"/>
              <a:t>18</a:t>
            </a:fld>
            <a:endParaRPr lang="en-US"/>
          </a:p>
        </p:txBody>
      </p:sp>
    </p:spTree>
    <p:extLst>
      <p:ext uri="{BB962C8B-B14F-4D97-AF65-F5344CB8AC3E}">
        <p14:creationId xmlns:p14="http://schemas.microsoft.com/office/powerpoint/2010/main" val="1718837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639C0-0600-4ACA-04D4-0483DAC373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56D0EF-8716-D20D-AB7F-398C01E5B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205663-19EA-F1A5-2B3F-76BCD598FF9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028EEB3-E80E-92B7-02E8-D61BAB72193A}"/>
              </a:ext>
            </a:extLst>
          </p:cNvPr>
          <p:cNvSpPr>
            <a:spLocks noGrp="1"/>
          </p:cNvSpPr>
          <p:nvPr>
            <p:ph type="sldNum" sz="quarter" idx="5"/>
          </p:nvPr>
        </p:nvSpPr>
        <p:spPr/>
        <p:txBody>
          <a:bodyPr/>
          <a:lstStyle/>
          <a:p>
            <a:fld id="{A9FD0793-C8D7-4125-BD72-CB052C0E0E0B}" type="slidenum">
              <a:rPr lang="en-US" smtClean="0"/>
              <a:t>19</a:t>
            </a:fld>
            <a:endParaRPr lang="en-US"/>
          </a:p>
        </p:txBody>
      </p:sp>
    </p:spTree>
    <p:extLst>
      <p:ext uri="{BB962C8B-B14F-4D97-AF65-F5344CB8AC3E}">
        <p14:creationId xmlns:p14="http://schemas.microsoft.com/office/powerpoint/2010/main" val="15552055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B15F2-3E35-248F-C4F1-578CE1FEE4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7ACFB-3ACF-A80A-38C0-1D9206C22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D61282-4383-91D7-7751-357226364F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866008F-4A79-1AFA-4462-C05D3F1662BB}"/>
              </a:ext>
            </a:extLst>
          </p:cNvPr>
          <p:cNvSpPr>
            <a:spLocks noGrp="1"/>
          </p:cNvSpPr>
          <p:nvPr>
            <p:ph type="sldNum" sz="quarter" idx="5"/>
          </p:nvPr>
        </p:nvSpPr>
        <p:spPr/>
        <p:txBody>
          <a:bodyPr/>
          <a:lstStyle/>
          <a:p>
            <a:fld id="{A9FD0793-C8D7-4125-BD72-CB052C0E0E0B}" type="slidenum">
              <a:rPr lang="en-US" smtClean="0"/>
              <a:t>20</a:t>
            </a:fld>
            <a:endParaRPr lang="en-US"/>
          </a:p>
        </p:txBody>
      </p:sp>
    </p:spTree>
    <p:extLst>
      <p:ext uri="{BB962C8B-B14F-4D97-AF65-F5344CB8AC3E}">
        <p14:creationId xmlns:p14="http://schemas.microsoft.com/office/powerpoint/2010/main" val="1895179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FC2C8-B868-2F8D-3F18-C5AA36A31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847D8-DEEF-FF9E-C48F-23D181F76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BA417-580A-E55B-11A2-78796083E5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4F1A59-F24F-9F65-7FAC-DB4B7CAC2579}"/>
              </a:ext>
            </a:extLst>
          </p:cNvPr>
          <p:cNvSpPr>
            <a:spLocks noGrp="1"/>
          </p:cNvSpPr>
          <p:nvPr>
            <p:ph type="sldNum" sz="quarter" idx="5"/>
          </p:nvPr>
        </p:nvSpPr>
        <p:spPr/>
        <p:txBody>
          <a:bodyPr/>
          <a:lstStyle/>
          <a:p>
            <a:fld id="{A9FD0793-C8D7-4125-BD72-CB052C0E0E0B}" type="slidenum">
              <a:rPr lang="en-US" smtClean="0"/>
              <a:t>21</a:t>
            </a:fld>
            <a:endParaRPr lang="en-US"/>
          </a:p>
        </p:txBody>
      </p:sp>
    </p:spTree>
    <p:extLst>
      <p:ext uri="{BB962C8B-B14F-4D97-AF65-F5344CB8AC3E}">
        <p14:creationId xmlns:p14="http://schemas.microsoft.com/office/powerpoint/2010/main" val="568303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C215-3AA3-73B2-FD3D-CB0F35B6A3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DE100-4846-BCD9-0B48-9AE9373D7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20527-5A73-3DC1-2BA7-D938F6A6A2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04E594-32D1-06CA-ADDA-CFF98328A831}"/>
              </a:ext>
            </a:extLst>
          </p:cNvPr>
          <p:cNvSpPr>
            <a:spLocks noGrp="1"/>
          </p:cNvSpPr>
          <p:nvPr>
            <p:ph type="sldNum" sz="quarter" idx="5"/>
          </p:nvPr>
        </p:nvSpPr>
        <p:spPr/>
        <p:txBody>
          <a:bodyPr/>
          <a:lstStyle/>
          <a:p>
            <a:fld id="{A9FD0793-C8D7-4125-BD72-CB052C0E0E0B}" type="slidenum">
              <a:rPr lang="en-US" smtClean="0"/>
              <a:t>22</a:t>
            </a:fld>
            <a:endParaRPr lang="en-US"/>
          </a:p>
        </p:txBody>
      </p:sp>
    </p:spTree>
    <p:extLst>
      <p:ext uri="{BB962C8B-B14F-4D97-AF65-F5344CB8AC3E}">
        <p14:creationId xmlns:p14="http://schemas.microsoft.com/office/powerpoint/2010/main" val="16432894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4B4FF-B687-8BC4-55CC-AE88585EE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B373C-096A-CFA2-C54A-F954A057D1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AE461F-7591-798C-F44E-84F3E7A5AD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D1D9AE-2F90-99C4-5F76-FA4EEE40D473}"/>
              </a:ext>
            </a:extLst>
          </p:cNvPr>
          <p:cNvSpPr>
            <a:spLocks noGrp="1"/>
          </p:cNvSpPr>
          <p:nvPr>
            <p:ph type="sldNum" sz="quarter" idx="5"/>
          </p:nvPr>
        </p:nvSpPr>
        <p:spPr/>
        <p:txBody>
          <a:bodyPr/>
          <a:lstStyle/>
          <a:p>
            <a:fld id="{A9FD0793-C8D7-4125-BD72-CB052C0E0E0B}" type="slidenum">
              <a:rPr lang="en-US" smtClean="0"/>
              <a:t>23</a:t>
            </a:fld>
            <a:endParaRPr lang="en-US"/>
          </a:p>
        </p:txBody>
      </p:sp>
    </p:spTree>
    <p:extLst>
      <p:ext uri="{BB962C8B-B14F-4D97-AF65-F5344CB8AC3E}">
        <p14:creationId xmlns:p14="http://schemas.microsoft.com/office/powerpoint/2010/main" val="34988316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141CE-F799-74A5-63F8-D077B8CF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B052F-C63D-AB47-132A-C65CD73C6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089EF-C072-50BD-E104-9AD5930002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1420F0-728C-D778-1936-5E4A5FF16EA9}"/>
              </a:ext>
            </a:extLst>
          </p:cNvPr>
          <p:cNvSpPr>
            <a:spLocks noGrp="1"/>
          </p:cNvSpPr>
          <p:nvPr>
            <p:ph type="sldNum" sz="quarter" idx="5"/>
          </p:nvPr>
        </p:nvSpPr>
        <p:spPr/>
        <p:txBody>
          <a:bodyPr/>
          <a:lstStyle/>
          <a:p>
            <a:fld id="{A9FD0793-C8D7-4125-BD72-CB052C0E0E0B}" type="slidenum">
              <a:rPr lang="en-US" smtClean="0"/>
              <a:t>24</a:t>
            </a:fld>
            <a:endParaRPr lang="en-US"/>
          </a:p>
        </p:txBody>
      </p:sp>
    </p:spTree>
    <p:extLst>
      <p:ext uri="{BB962C8B-B14F-4D97-AF65-F5344CB8AC3E}">
        <p14:creationId xmlns:p14="http://schemas.microsoft.com/office/powerpoint/2010/main" val="203684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A9FD9-EC72-3456-AC67-1886B0E115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8C2F6A-4A14-61D0-4826-6B0723E6D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5D3F5-28EB-EB88-4558-64167D3365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F9A0CF-7628-7F36-29C7-96518A07A563}"/>
              </a:ext>
            </a:extLst>
          </p:cNvPr>
          <p:cNvSpPr>
            <a:spLocks noGrp="1"/>
          </p:cNvSpPr>
          <p:nvPr>
            <p:ph type="sldNum" sz="quarter" idx="5"/>
          </p:nvPr>
        </p:nvSpPr>
        <p:spPr/>
        <p:txBody>
          <a:bodyPr/>
          <a:lstStyle/>
          <a:p>
            <a:fld id="{A9FD0793-C8D7-4125-BD72-CB052C0E0E0B}" type="slidenum">
              <a:rPr lang="en-US" smtClean="0"/>
              <a:t>25</a:t>
            </a:fld>
            <a:endParaRPr lang="en-US"/>
          </a:p>
        </p:txBody>
      </p:sp>
    </p:spTree>
    <p:extLst>
      <p:ext uri="{BB962C8B-B14F-4D97-AF65-F5344CB8AC3E}">
        <p14:creationId xmlns:p14="http://schemas.microsoft.com/office/powerpoint/2010/main" val="1880509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EEBE5-8902-D124-D619-5C8FF4B89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FB8B9-D9C4-D76C-5DF9-BCC042DB8B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4983D-2C3B-D30D-3AED-E2A8B46549F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058AEBC-ABEA-48EA-0C0D-69A05570DF46}"/>
              </a:ext>
            </a:extLst>
          </p:cNvPr>
          <p:cNvSpPr>
            <a:spLocks noGrp="1"/>
          </p:cNvSpPr>
          <p:nvPr>
            <p:ph type="sldNum" sz="quarter" idx="5"/>
          </p:nvPr>
        </p:nvSpPr>
        <p:spPr/>
        <p:txBody>
          <a:bodyPr/>
          <a:lstStyle/>
          <a:p>
            <a:fld id="{A9FD0793-C8D7-4125-BD72-CB052C0E0E0B}" type="slidenum">
              <a:rPr lang="en-US" smtClean="0"/>
              <a:t>26</a:t>
            </a:fld>
            <a:endParaRPr lang="en-US"/>
          </a:p>
        </p:txBody>
      </p:sp>
    </p:spTree>
    <p:extLst>
      <p:ext uri="{BB962C8B-B14F-4D97-AF65-F5344CB8AC3E}">
        <p14:creationId xmlns:p14="http://schemas.microsoft.com/office/powerpoint/2010/main" val="4260545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6F6B7-D06F-192C-6D37-14F2514AE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70D502-695E-435B-8D40-D9C7F0889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D98B6-36DC-329D-AE41-54D57F48DB8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B4247D8-BC96-89DA-0F00-F55BC20068DB}"/>
              </a:ext>
            </a:extLst>
          </p:cNvPr>
          <p:cNvSpPr>
            <a:spLocks noGrp="1"/>
          </p:cNvSpPr>
          <p:nvPr>
            <p:ph type="sldNum" sz="quarter" idx="5"/>
          </p:nvPr>
        </p:nvSpPr>
        <p:spPr/>
        <p:txBody>
          <a:bodyPr/>
          <a:lstStyle/>
          <a:p>
            <a:fld id="{A9FD0793-C8D7-4125-BD72-CB052C0E0E0B}" type="slidenum">
              <a:rPr lang="en-US" smtClean="0"/>
              <a:t>27</a:t>
            </a:fld>
            <a:endParaRPr lang="en-US"/>
          </a:p>
        </p:txBody>
      </p:sp>
    </p:spTree>
    <p:extLst>
      <p:ext uri="{BB962C8B-B14F-4D97-AF65-F5344CB8AC3E}">
        <p14:creationId xmlns:p14="http://schemas.microsoft.com/office/powerpoint/2010/main" val="927934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FC46D-D317-2F4F-B2A0-59170D4D93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0E7DE-DAD4-7AC3-CBF2-1D9C86AF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FFCAB-3CF0-6939-006B-9D59B7AB27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59518F1-D24A-4F56-BC9D-C998913B0164}"/>
              </a:ext>
            </a:extLst>
          </p:cNvPr>
          <p:cNvSpPr>
            <a:spLocks noGrp="1"/>
          </p:cNvSpPr>
          <p:nvPr>
            <p:ph type="sldNum" sz="quarter" idx="5"/>
          </p:nvPr>
        </p:nvSpPr>
        <p:spPr/>
        <p:txBody>
          <a:bodyPr/>
          <a:lstStyle/>
          <a:p>
            <a:fld id="{A9FD0793-C8D7-4125-BD72-CB052C0E0E0B}" type="slidenum">
              <a:rPr lang="en-US" smtClean="0"/>
              <a:t>28</a:t>
            </a:fld>
            <a:endParaRPr lang="en-US"/>
          </a:p>
        </p:txBody>
      </p:sp>
    </p:spTree>
    <p:extLst>
      <p:ext uri="{BB962C8B-B14F-4D97-AF65-F5344CB8AC3E}">
        <p14:creationId xmlns:p14="http://schemas.microsoft.com/office/powerpoint/2010/main" val="7890545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FDD94-ED06-BB0A-BBC1-91AD3D582D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654969-11D8-4BD4-2272-CF5355017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1A7AF5-A448-4A02-7994-C7397A195C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286D09-053F-94E3-10E7-3BBA402B8FB1}"/>
              </a:ext>
            </a:extLst>
          </p:cNvPr>
          <p:cNvSpPr>
            <a:spLocks noGrp="1"/>
          </p:cNvSpPr>
          <p:nvPr>
            <p:ph type="sldNum" sz="quarter" idx="5"/>
          </p:nvPr>
        </p:nvSpPr>
        <p:spPr/>
        <p:txBody>
          <a:bodyPr/>
          <a:lstStyle/>
          <a:p>
            <a:fld id="{A9FD0793-C8D7-4125-BD72-CB052C0E0E0B}" type="slidenum">
              <a:rPr lang="en-US" smtClean="0"/>
              <a:t>29</a:t>
            </a:fld>
            <a:endParaRPr lang="en-US"/>
          </a:p>
        </p:txBody>
      </p:sp>
    </p:spTree>
    <p:extLst>
      <p:ext uri="{BB962C8B-B14F-4D97-AF65-F5344CB8AC3E}">
        <p14:creationId xmlns:p14="http://schemas.microsoft.com/office/powerpoint/2010/main" val="6954694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C6323-5578-52CE-F10D-4D0E71EDC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BD899-3598-436A-90B2-42D98C002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27499-6AFE-C2AA-E021-C78AA10A9D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F7B0294-E251-D0F1-9B84-1752489237DA}"/>
              </a:ext>
            </a:extLst>
          </p:cNvPr>
          <p:cNvSpPr>
            <a:spLocks noGrp="1"/>
          </p:cNvSpPr>
          <p:nvPr>
            <p:ph type="sldNum" sz="quarter" idx="5"/>
          </p:nvPr>
        </p:nvSpPr>
        <p:spPr/>
        <p:txBody>
          <a:bodyPr/>
          <a:lstStyle/>
          <a:p>
            <a:fld id="{A9FD0793-C8D7-4125-BD72-CB052C0E0E0B}" type="slidenum">
              <a:rPr lang="en-US" smtClean="0"/>
              <a:t>30</a:t>
            </a:fld>
            <a:endParaRPr lang="en-US"/>
          </a:p>
        </p:txBody>
      </p:sp>
    </p:spTree>
    <p:extLst>
      <p:ext uri="{BB962C8B-B14F-4D97-AF65-F5344CB8AC3E}">
        <p14:creationId xmlns:p14="http://schemas.microsoft.com/office/powerpoint/2010/main" val="32780662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A2A4F-9B52-A08F-4208-8BF782A24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B78B3-60AD-FAE1-D228-814BCCB71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7BC12-71B3-5A95-CB8D-BE6DDBAC0F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56EBB06-ED11-2F3C-55F6-385D77AB9E32}"/>
              </a:ext>
            </a:extLst>
          </p:cNvPr>
          <p:cNvSpPr>
            <a:spLocks noGrp="1"/>
          </p:cNvSpPr>
          <p:nvPr>
            <p:ph type="sldNum" sz="quarter" idx="5"/>
          </p:nvPr>
        </p:nvSpPr>
        <p:spPr/>
        <p:txBody>
          <a:bodyPr/>
          <a:lstStyle/>
          <a:p>
            <a:fld id="{A9FD0793-C8D7-4125-BD72-CB052C0E0E0B}" type="slidenum">
              <a:rPr lang="en-US" smtClean="0"/>
              <a:t>31</a:t>
            </a:fld>
            <a:endParaRPr lang="en-US"/>
          </a:p>
        </p:txBody>
      </p:sp>
    </p:spTree>
    <p:extLst>
      <p:ext uri="{BB962C8B-B14F-4D97-AF65-F5344CB8AC3E}">
        <p14:creationId xmlns:p14="http://schemas.microsoft.com/office/powerpoint/2010/main" val="587679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E4E2C-E2AD-5E17-DE4F-A6BEAC59B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05F5CC-D68A-0E81-05BE-41DA37BFF3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35C5E3-C120-C33A-BF6E-E399C4F76E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B9541B-01D5-82BD-94FC-C110CC0DFB35}"/>
              </a:ext>
            </a:extLst>
          </p:cNvPr>
          <p:cNvSpPr>
            <a:spLocks noGrp="1"/>
          </p:cNvSpPr>
          <p:nvPr>
            <p:ph type="sldNum" sz="quarter" idx="5"/>
          </p:nvPr>
        </p:nvSpPr>
        <p:spPr/>
        <p:txBody>
          <a:bodyPr/>
          <a:lstStyle/>
          <a:p>
            <a:fld id="{A9FD0793-C8D7-4125-BD72-CB052C0E0E0B}" type="slidenum">
              <a:rPr lang="en-US" smtClean="0"/>
              <a:t>32</a:t>
            </a:fld>
            <a:endParaRPr lang="en-US"/>
          </a:p>
        </p:txBody>
      </p:sp>
    </p:spTree>
    <p:extLst>
      <p:ext uri="{BB962C8B-B14F-4D97-AF65-F5344CB8AC3E}">
        <p14:creationId xmlns:p14="http://schemas.microsoft.com/office/powerpoint/2010/main" val="42076847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4FA90-5C44-178E-8518-0C23607B5A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8E76B-4137-54B6-30FA-65369AC335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4879E5-B9FF-EFC1-26B0-5E34118C66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47FB72-34FA-344D-D60C-99444AA02D13}"/>
              </a:ext>
            </a:extLst>
          </p:cNvPr>
          <p:cNvSpPr>
            <a:spLocks noGrp="1"/>
          </p:cNvSpPr>
          <p:nvPr>
            <p:ph type="sldNum" sz="quarter" idx="5"/>
          </p:nvPr>
        </p:nvSpPr>
        <p:spPr/>
        <p:txBody>
          <a:bodyPr/>
          <a:lstStyle/>
          <a:p>
            <a:fld id="{A9FD0793-C8D7-4125-BD72-CB052C0E0E0B}" type="slidenum">
              <a:rPr lang="en-US" smtClean="0"/>
              <a:t>33</a:t>
            </a:fld>
            <a:endParaRPr lang="en-US"/>
          </a:p>
        </p:txBody>
      </p:sp>
    </p:spTree>
    <p:extLst>
      <p:ext uri="{BB962C8B-B14F-4D97-AF65-F5344CB8AC3E}">
        <p14:creationId xmlns:p14="http://schemas.microsoft.com/office/powerpoint/2010/main" val="20914452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AABD3-921C-2C26-DD40-439F616A93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8C650F-959B-09FA-65FB-E82B891CB6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EE72B4-5DC2-AE34-A2ED-24CB755B0A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F929A5-968A-FA65-24D9-006A609DAF82}"/>
              </a:ext>
            </a:extLst>
          </p:cNvPr>
          <p:cNvSpPr>
            <a:spLocks noGrp="1"/>
          </p:cNvSpPr>
          <p:nvPr>
            <p:ph type="sldNum" sz="quarter" idx="5"/>
          </p:nvPr>
        </p:nvSpPr>
        <p:spPr/>
        <p:txBody>
          <a:bodyPr/>
          <a:lstStyle/>
          <a:p>
            <a:fld id="{A9FD0793-C8D7-4125-BD72-CB052C0E0E0B}" type="slidenum">
              <a:rPr lang="en-US" smtClean="0"/>
              <a:t>34</a:t>
            </a:fld>
            <a:endParaRPr lang="en-US"/>
          </a:p>
        </p:txBody>
      </p:sp>
    </p:spTree>
    <p:extLst>
      <p:ext uri="{BB962C8B-B14F-4D97-AF65-F5344CB8AC3E}">
        <p14:creationId xmlns:p14="http://schemas.microsoft.com/office/powerpoint/2010/main" val="3270211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855A8-DEEB-3D03-234B-2CB9F75B6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E8B190-1DA3-3AE0-752A-95AD509B3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5AA95-4044-1E69-14FA-B6A4DCAACF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7743DCB-6364-CA09-47ED-3B9AEE228F46}"/>
              </a:ext>
            </a:extLst>
          </p:cNvPr>
          <p:cNvSpPr>
            <a:spLocks noGrp="1"/>
          </p:cNvSpPr>
          <p:nvPr>
            <p:ph type="sldNum" sz="quarter" idx="5"/>
          </p:nvPr>
        </p:nvSpPr>
        <p:spPr/>
        <p:txBody>
          <a:bodyPr/>
          <a:lstStyle/>
          <a:p>
            <a:fld id="{A9FD0793-C8D7-4125-BD72-CB052C0E0E0B}" type="slidenum">
              <a:rPr lang="en-US" smtClean="0"/>
              <a:t>35</a:t>
            </a:fld>
            <a:endParaRPr lang="en-US"/>
          </a:p>
        </p:txBody>
      </p:sp>
    </p:spTree>
    <p:extLst>
      <p:ext uri="{BB962C8B-B14F-4D97-AF65-F5344CB8AC3E}">
        <p14:creationId xmlns:p14="http://schemas.microsoft.com/office/powerpoint/2010/main" val="23260882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54E5C-0401-3FA5-F238-BE1B99EFA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BDD3B-8E1E-6181-4D8C-8AA9F0804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AB856-5563-B679-A06A-3DF31866894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7504B0B-46D2-3EF7-DD9D-3EE70981AD55}"/>
              </a:ext>
            </a:extLst>
          </p:cNvPr>
          <p:cNvSpPr>
            <a:spLocks noGrp="1"/>
          </p:cNvSpPr>
          <p:nvPr>
            <p:ph type="sldNum" sz="quarter" idx="5"/>
          </p:nvPr>
        </p:nvSpPr>
        <p:spPr/>
        <p:txBody>
          <a:bodyPr/>
          <a:lstStyle/>
          <a:p>
            <a:fld id="{A9FD0793-C8D7-4125-BD72-CB052C0E0E0B}" type="slidenum">
              <a:rPr lang="en-US" smtClean="0"/>
              <a:t>36</a:t>
            </a:fld>
            <a:endParaRPr lang="en-US"/>
          </a:p>
        </p:txBody>
      </p:sp>
    </p:spTree>
    <p:extLst>
      <p:ext uri="{BB962C8B-B14F-4D97-AF65-F5344CB8AC3E}">
        <p14:creationId xmlns:p14="http://schemas.microsoft.com/office/powerpoint/2010/main" val="24726523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05B4-0FCC-43E4-6CF5-67E035B559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25852-4C44-3438-D10B-5292B4C6A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F7A8E-BADD-AF50-F907-58D68B7CF73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1392E53-A712-231F-DDFD-1DA7675AFDF2}"/>
              </a:ext>
            </a:extLst>
          </p:cNvPr>
          <p:cNvSpPr>
            <a:spLocks noGrp="1"/>
          </p:cNvSpPr>
          <p:nvPr>
            <p:ph type="sldNum" sz="quarter" idx="5"/>
          </p:nvPr>
        </p:nvSpPr>
        <p:spPr/>
        <p:txBody>
          <a:bodyPr/>
          <a:lstStyle/>
          <a:p>
            <a:fld id="{A9FD0793-C8D7-4125-BD72-CB052C0E0E0B}" type="slidenum">
              <a:rPr lang="en-US" smtClean="0"/>
              <a:t>37</a:t>
            </a:fld>
            <a:endParaRPr lang="en-US"/>
          </a:p>
        </p:txBody>
      </p:sp>
    </p:spTree>
    <p:extLst>
      <p:ext uri="{BB962C8B-B14F-4D97-AF65-F5344CB8AC3E}">
        <p14:creationId xmlns:p14="http://schemas.microsoft.com/office/powerpoint/2010/main" val="30149116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C99DC-65B9-A682-E913-F4AB1C91BB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2D8DE-E502-F87B-DD26-06DD3E225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E7BA2E-FEEF-FD39-AB3B-D7BA5925F6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66D1D6-188C-4279-EF3E-B9444AE2C0F8}"/>
              </a:ext>
            </a:extLst>
          </p:cNvPr>
          <p:cNvSpPr>
            <a:spLocks noGrp="1"/>
          </p:cNvSpPr>
          <p:nvPr>
            <p:ph type="sldNum" sz="quarter" idx="5"/>
          </p:nvPr>
        </p:nvSpPr>
        <p:spPr/>
        <p:txBody>
          <a:bodyPr/>
          <a:lstStyle/>
          <a:p>
            <a:fld id="{A9FD0793-C8D7-4125-BD72-CB052C0E0E0B}" type="slidenum">
              <a:rPr lang="en-US" smtClean="0"/>
              <a:t>38</a:t>
            </a:fld>
            <a:endParaRPr lang="en-US"/>
          </a:p>
        </p:txBody>
      </p:sp>
    </p:spTree>
    <p:extLst>
      <p:ext uri="{BB962C8B-B14F-4D97-AF65-F5344CB8AC3E}">
        <p14:creationId xmlns:p14="http://schemas.microsoft.com/office/powerpoint/2010/main" val="1480930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6633C-656E-44E9-33BA-01D53FF17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4773A-DDB5-5AFA-E3BD-996E090D8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3EE7A8-ED90-D7F2-F23C-51C160B76E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93C3580-DA54-8440-410A-FD6333907031}"/>
              </a:ext>
            </a:extLst>
          </p:cNvPr>
          <p:cNvSpPr>
            <a:spLocks noGrp="1"/>
          </p:cNvSpPr>
          <p:nvPr>
            <p:ph type="sldNum" sz="quarter" idx="5"/>
          </p:nvPr>
        </p:nvSpPr>
        <p:spPr/>
        <p:txBody>
          <a:bodyPr/>
          <a:lstStyle/>
          <a:p>
            <a:fld id="{A9FD0793-C8D7-4125-BD72-CB052C0E0E0B}" type="slidenum">
              <a:rPr lang="en-US" smtClean="0"/>
              <a:t>39</a:t>
            </a:fld>
            <a:endParaRPr lang="en-US"/>
          </a:p>
        </p:txBody>
      </p:sp>
    </p:spTree>
    <p:extLst>
      <p:ext uri="{BB962C8B-B14F-4D97-AF65-F5344CB8AC3E}">
        <p14:creationId xmlns:p14="http://schemas.microsoft.com/office/powerpoint/2010/main" val="25047713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A548C-8282-777F-B789-358DF43FE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D6F36-D305-9DAD-B3C2-CD0C99A6E3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69E9C-7DE7-E732-6A45-60EFFAD1E8D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F0F4FA-091E-0A15-69D8-971E6AE13814}"/>
              </a:ext>
            </a:extLst>
          </p:cNvPr>
          <p:cNvSpPr>
            <a:spLocks noGrp="1"/>
          </p:cNvSpPr>
          <p:nvPr>
            <p:ph type="sldNum" sz="quarter" idx="5"/>
          </p:nvPr>
        </p:nvSpPr>
        <p:spPr/>
        <p:txBody>
          <a:bodyPr/>
          <a:lstStyle/>
          <a:p>
            <a:fld id="{A9FD0793-C8D7-4125-BD72-CB052C0E0E0B}" type="slidenum">
              <a:rPr lang="en-US" smtClean="0"/>
              <a:t>40</a:t>
            </a:fld>
            <a:endParaRPr lang="en-US"/>
          </a:p>
        </p:txBody>
      </p:sp>
    </p:spTree>
    <p:extLst>
      <p:ext uri="{BB962C8B-B14F-4D97-AF65-F5344CB8AC3E}">
        <p14:creationId xmlns:p14="http://schemas.microsoft.com/office/powerpoint/2010/main" val="18781177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3D460-9991-E762-372F-AC9B23FD8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EBD8C-07DE-C472-9939-40F462E9EA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EE4A76-C01C-B033-7720-9DD4F52299C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AB2A26E-EF2E-7E24-EC7C-521B55B2D699}"/>
              </a:ext>
            </a:extLst>
          </p:cNvPr>
          <p:cNvSpPr>
            <a:spLocks noGrp="1"/>
          </p:cNvSpPr>
          <p:nvPr>
            <p:ph type="sldNum" sz="quarter" idx="5"/>
          </p:nvPr>
        </p:nvSpPr>
        <p:spPr/>
        <p:txBody>
          <a:bodyPr/>
          <a:lstStyle/>
          <a:p>
            <a:fld id="{A9FD0793-C8D7-4125-BD72-CB052C0E0E0B}" type="slidenum">
              <a:rPr lang="en-US" smtClean="0"/>
              <a:t>41</a:t>
            </a:fld>
            <a:endParaRPr lang="en-US"/>
          </a:p>
        </p:txBody>
      </p:sp>
    </p:spTree>
    <p:extLst>
      <p:ext uri="{BB962C8B-B14F-4D97-AF65-F5344CB8AC3E}">
        <p14:creationId xmlns:p14="http://schemas.microsoft.com/office/powerpoint/2010/main" val="16849517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A5C86-AACC-D688-0AAD-D4A57EC60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0FA1F5-4422-40EF-06D9-CCB765BD7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CFE65-A1EB-ECBC-8ED9-03C05F0BA71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C9439A-A182-0356-F497-03A0279400AF}"/>
              </a:ext>
            </a:extLst>
          </p:cNvPr>
          <p:cNvSpPr>
            <a:spLocks noGrp="1"/>
          </p:cNvSpPr>
          <p:nvPr>
            <p:ph type="sldNum" sz="quarter" idx="5"/>
          </p:nvPr>
        </p:nvSpPr>
        <p:spPr/>
        <p:txBody>
          <a:bodyPr/>
          <a:lstStyle/>
          <a:p>
            <a:fld id="{A9FD0793-C8D7-4125-BD72-CB052C0E0E0B}" type="slidenum">
              <a:rPr lang="en-US" smtClean="0"/>
              <a:t>42</a:t>
            </a:fld>
            <a:endParaRPr lang="en-US"/>
          </a:p>
        </p:txBody>
      </p:sp>
    </p:spTree>
    <p:extLst>
      <p:ext uri="{BB962C8B-B14F-4D97-AF65-F5344CB8AC3E}">
        <p14:creationId xmlns:p14="http://schemas.microsoft.com/office/powerpoint/2010/main" val="172865645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F513F-C40C-4057-15C1-09C804E03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79C6C-541A-ACB4-D83E-05A74DC9F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D5A157-8DB8-56EA-8DBC-6339CC7091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658E2CF-9CFF-2B2A-3DB0-BCD66A3E5CE1}"/>
              </a:ext>
            </a:extLst>
          </p:cNvPr>
          <p:cNvSpPr>
            <a:spLocks noGrp="1"/>
          </p:cNvSpPr>
          <p:nvPr>
            <p:ph type="sldNum" sz="quarter" idx="5"/>
          </p:nvPr>
        </p:nvSpPr>
        <p:spPr/>
        <p:txBody>
          <a:bodyPr/>
          <a:lstStyle/>
          <a:p>
            <a:fld id="{A9FD0793-C8D7-4125-BD72-CB052C0E0E0B}" type="slidenum">
              <a:rPr lang="en-US" smtClean="0"/>
              <a:t>43</a:t>
            </a:fld>
            <a:endParaRPr lang="en-US"/>
          </a:p>
        </p:txBody>
      </p:sp>
    </p:spTree>
    <p:extLst>
      <p:ext uri="{BB962C8B-B14F-4D97-AF65-F5344CB8AC3E}">
        <p14:creationId xmlns:p14="http://schemas.microsoft.com/office/powerpoint/2010/main" val="320712189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37D2-D8B4-D8E4-3245-A29C64077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AC042-4F23-5B84-97E5-824C17B46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89D08-11F5-9468-8D69-5AE812DBE1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3845AA-1A06-1A7D-249F-F6170992FE77}"/>
              </a:ext>
            </a:extLst>
          </p:cNvPr>
          <p:cNvSpPr>
            <a:spLocks noGrp="1"/>
          </p:cNvSpPr>
          <p:nvPr>
            <p:ph type="sldNum" sz="quarter" idx="5"/>
          </p:nvPr>
        </p:nvSpPr>
        <p:spPr/>
        <p:txBody>
          <a:bodyPr/>
          <a:lstStyle/>
          <a:p>
            <a:fld id="{A9FD0793-C8D7-4125-BD72-CB052C0E0E0B}" type="slidenum">
              <a:rPr lang="en-US" smtClean="0"/>
              <a:t>44</a:t>
            </a:fld>
            <a:endParaRPr lang="en-US"/>
          </a:p>
        </p:txBody>
      </p:sp>
    </p:spTree>
    <p:extLst>
      <p:ext uri="{BB962C8B-B14F-4D97-AF65-F5344CB8AC3E}">
        <p14:creationId xmlns:p14="http://schemas.microsoft.com/office/powerpoint/2010/main" val="15078487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0F075-50CA-1091-AFFC-DE39261A9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EBBE2-5BB8-9BE9-602E-F071BD9A2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71D8F-0283-2477-E206-8C87313B5CC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03477E-2D67-59D7-F5F2-23C2EA5AF71C}"/>
              </a:ext>
            </a:extLst>
          </p:cNvPr>
          <p:cNvSpPr>
            <a:spLocks noGrp="1"/>
          </p:cNvSpPr>
          <p:nvPr>
            <p:ph type="sldNum" sz="quarter" idx="5"/>
          </p:nvPr>
        </p:nvSpPr>
        <p:spPr/>
        <p:txBody>
          <a:bodyPr/>
          <a:lstStyle/>
          <a:p>
            <a:fld id="{A9FD0793-C8D7-4125-BD72-CB052C0E0E0B}" type="slidenum">
              <a:rPr lang="en-US" smtClean="0"/>
              <a:t>45</a:t>
            </a:fld>
            <a:endParaRPr lang="en-US"/>
          </a:p>
        </p:txBody>
      </p:sp>
    </p:spTree>
    <p:extLst>
      <p:ext uri="{BB962C8B-B14F-4D97-AF65-F5344CB8AC3E}">
        <p14:creationId xmlns:p14="http://schemas.microsoft.com/office/powerpoint/2010/main" val="41041691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73417-9797-593C-2D05-15837277C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E030C0-80E0-E0DE-687C-AC53F119A8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9B14E8-40F0-B400-651C-7E81325030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858AB0-37D9-0175-EA56-3288263821CB}"/>
              </a:ext>
            </a:extLst>
          </p:cNvPr>
          <p:cNvSpPr>
            <a:spLocks noGrp="1"/>
          </p:cNvSpPr>
          <p:nvPr>
            <p:ph type="sldNum" sz="quarter" idx="5"/>
          </p:nvPr>
        </p:nvSpPr>
        <p:spPr/>
        <p:txBody>
          <a:bodyPr/>
          <a:lstStyle/>
          <a:p>
            <a:fld id="{A9FD0793-C8D7-4125-BD72-CB052C0E0E0B}" type="slidenum">
              <a:rPr lang="en-US" smtClean="0"/>
              <a:t>46</a:t>
            </a:fld>
            <a:endParaRPr lang="en-US"/>
          </a:p>
        </p:txBody>
      </p:sp>
    </p:spTree>
    <p:extLst>
      <p:ext uri="{BB962C8B-B14F-4D97-AF65-F5344CB8AC3E}">
        <p14:creationId xmlns:p14="http://schemas.microsoft.com/office/powerpoint/2010/main" val="232805286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73CA1-99E2-4FCC-B5E7-35B6B4678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47B4D7-5AC4-1C1A-8E45-782EDE613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993EF3-B937-3003-6321-9DD88069EC2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A444984-E8F6-29DC-A8B9-9FA254C1755C}"/>
              </a:ext>
            </a:extLst>
          </p:cNvPr>
          <p:cNvSpPr>
            <a:spLocks noGrp="1"/>
          </p:cNvSpPr>
          <p:nvPr>
            <p:ph type="sldNum" sz="quarter" idx="5"/>
          </p:nvPr>
        </p:nvSpPr>
        <p:spPr/>
        <p:txBody>
          <a:bodyPr/>
          <a:lstStyle/>
          <a:p>
            <a:fld id="{A9FD0793-C8D7-4125-BD72-CB052C0E0E0B}" type="slidenum">
              <a:rPr lang="en-US" smtClean="0"/>
              <a:t>47</a:t>
            </a:fld>
            <a:endParaRPr lang="en-US"/>
          </a:p>
        </p:txBody>
      </p:sp>
    </p:spTree>
    <p:extLst>
      <p:ext uri="{BB962C8B-B14F-4D97-AF65-F5344CB8AC3E}">
        <p14:creationId xmlns:p14="http://schemas.microsoft.com/office/powerpoint/2010/main" val="40517183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DC0A8-10E5-48CE-74A7-6E37F5863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ED917-703A-C0F1-6836-DF2748139B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F7569-F471-12F9-10B8-0D146F5915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B18E7D0-54B4-8B21-6692-AFE3E150A4C6}"/>
              </a:ext>
            </a:extLst>
          </p:cNvPr>
          <p:cNvSpPr>
            <a:spLocks noGrp="1"/>
          </p:cNvSpPr>
          <p:nvPr>
            <p:ph type="sldNum" sz="quarter" idx="5"/>
          </p:nvPr>
        </p:nvSpPr>
        <p:spPr/>
        <p:txBody>
          <a:bodyPr/>
          <a:lstStyle/>
          <a:p>
            <a:fld id="{A9FD0793-C8D7-4125-BD72-CB052C0E0E0B}" type="slidenum">
              <a:rPr lang="en-US" smtClean="0"/>
              <a:t>48</a:t>
            </a:fld>
            <a:endParaRPr lang="en-US"/>
          </a:p>
        </p:txBody>
      </p:sp>
    </p:spTree>
    <p:extLst>
      <p:ext uri="{BB962C8B-B14F-4D97-AF65-F5344CB8AC3E}">
        <p14:creationId xmlns:p14="http://schemas.microsoft.com/office/powerpoint/2010/main" val="11821697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36D0A-2649-C520-5A4E-9750637B68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8CA6CF-1385-FF89-D39B-1A04205E3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C7960A-5073-A66A-4624-728D4E5A9AF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4C846C1-7F85-A202-BC29-DAF82BA3CB5A}"/>
              </a:ext>
            </a:extLst>
          </p:cNvPr>
          <p:cNvSpPr>
            <a:spLocks noGrp="1"/>
          </p:cNvSpPr>
          <p:nvPr>
            <p:ph type="sldNum" sz="quarter" idx="5"/>
          </p:nvPr>
        </p:nvSpPr>
        <p:spPr/>
        <p:txBody>
          <a:bodyPr/>
          <a:lstStyle/>
          <a:p>
            <a:fld id="{A9FD0793-C8D7-4125-BD72-CB052C0E0E0B}" type="slidenum">
              <a:rPr lang="en-US" smtClean="0"/>
              <a:t>49</a:t>
            </a:fld>
            <a:endParaRPr lang="en-US"/>
          </a:p>
        </p:txBody>
      </p:sp>
    </p:spTree>
    <p:extLst>
      <p:ext uri="{BB962C8B-B14F-4D97-AF65-F5344CB8AC3E}">
        <p14:creationId xmlns:p14="http://schemas.microsoft.com/office/powerpoint/2010/main" val="40034137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A1998-F1B8-FB75-A8CB-391666936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D1B4C-3E3C-3FC8-4567-4393D8F3FF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16BBB-12CB-5AD9-16D8-F82C9BED06A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35E162-B09C-83DA-0E60-96A85B628349}"/>
              </a:ext>
            </a:extLst>
          </p:cNvPr>
          <p:cNvSpPr>
            <a:spLocks noGrp="1"/>
          </p:cNvSpPr>
          <p:nvPr>
            <p:ph type="sldNum" sz="quarter" idx="5"/>
          </p:nvPr>
        </p:nvSpPr>
        <p:spPr/>
        <p:txBody>
          <a:bodyPr/>
          <a:lstStyle/>
          <a:p>
            <a:fld id="{A9FD0793-C8D7-4125-BD72-CB052C0E0E0B}" type="slidenum">
              <a:rPr lang="en-US" smtClean="0"/>
              <a:t>50</a:t>
            </a:fld>
            <a:endParaRPr lang="en-US"/>
          </a:p>
        </p:txBody>
      </p:sp>
    </p:spTree>
    <p:extLst>
      <p:ext uri="{BB962C8B-B14F-4D97-AF65-F5344CB8AC3E}">
        <p14:creationId xmlns:p14="http://schemas.microsoft.com/office/powerpoint/2010/main" val="18080437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BF98B-FA8E-C9E4-D91E-0CEFAD9CC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C44F7-25C6-3BD3-9790-C7079286D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2B238-81EB-81E2-CB1E-069ECD0768B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EEC3F1-2C15-2010-6134-8F39CD403A9F}"/>
              </a:ext>
            </a:extLst>
          </p:cNvPr>
          <p:cNvSpPr>
            <a:spLocks noGrp="1"/>
          </p:cNvSpPr>
          <p:nvPr>
            <p:ph type="sldNum" sz="quarter" idx="5"/>
          </p:nvPr>
        </p:nvSpPr>
        <p:spPr/>
        <p:txBody>
          <a:bodyPr/>
          <a:lstStyle/>
          <a:p>
            <a:fld id="{A9FD0793-C8D7-4125-BD72-CB052C0E0E0B}" type="slidenum">
              <a:rPr lang="en-US" smtClean="0"/>
              <a:t>51</a:t>
            </a:fld>
            <a:endParaRPr lang="en-US"/>
          </a:p>
        </p:txBody>
      </p:sp>
    </p:spTree>
    <p:extLst>
      <p:ext uri="{BB962C8B-B14F-4D97-AF65-F5344CB8AC3E}">
        <p14:creationId xmlns:p14="http://schemas.microsoft.com/office/powerpoint/2010/main" val="8919902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E6390-6C23-9788-16C3-9A2A220DEC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DB166-404A-C6AB-6448-CEB87FBBD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5B9B79-16E0-B33D-7C24-DA3D0679BE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0806CA-4162-063E-620F-BFC771484DF0}"/>
              </a:ext>
            </a:extLst>
          </p:cNvPr>
          <p:cNvSpPr>
            <a:spLocks noGrp="1"/>
          </p:cNvSpPr>
          <p:nvPr>
            <p:ph type="sldNum" sz="quarter" idx="5"/>
          </p:nvPr>
        </p:nvSpPr>
        <p:spPr/>
        <p:txBody>
          <a:bodyPr/>
          <a:lstStyle/>
          <a:p>
            <a:fld id="{A9FD0793-C8D7-4125-BD72-CB052C0E0E0B}" type="slidenum">
              <a:rPr lang="en-US" smtClean="0"/>
              <a:t>52</a:t>
            </a:fld>
            <a:endParaRPr lang="en-US"/>
          </a:p>
        </p:txBody>
      </p:sp>
    </p:spTree>
    <p:extLst>
      <p:ext uri="{BB962C8B-B14F-4D97-AF65-F5344CB8AC3E}">
        <p14:creationId xmlns:p14="http://schemas.microsoft.com/office/powerpoint/2010/main" val="207669719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6733B-CCC4-13C6-00AC-6C29F4C50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201E6-BA1A-C007-8637-39D9F5786B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CEE68-665A-5C65-0F60-5575472A3EE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9CFF639-D7FD-2491-99B6-E3118FC7896F}"/>
              </a:ext>
            </a:extLst>
          </p:cNvPr>
          <p:cNvSpPr>
            <a:spLocks noGrp="1"/>
          </p:cNvSpPr>
          <p:nvPr>
            <p:ph type="sldNum" sz="quarter" idx="5"/>
          </p:nvPr>
        </p:nvSpPr>
        <p:spPr/>
        <p:txBody>
          <a:bodyPr/>
          <a:lstStyle/>
          <a:p>
            <a:fld id="{A9FD0793-C8D7-4125-BD72-CB052C0E0E0B}" type="slidenum">
              <a:rPr lang="en-US" smtClean="0"/>
              <a:t>53</a:t>
            </a:fld>
            <a:endParaRPr lang="en-US"/>
          </a:p>
        </p:txBody>
      </p:sp>
    </p:spTree>
    <p:extLst>
      <p:ext uri="{BB962C8B-B14F-4D97-AF65-F5344CB8AC3E}">
        <p14:creationId xmlns:p14="http://schemas.microsoft.com/office/powerpoint/2010/main" val="372976266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90ED-CE70-D9B6-25B2-C7A9208D7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F71918-B89B-57DB-8AF0-DBFD113A5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40DB6-746D-4B7E-2557-A3914D5FD9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B25A61-C3A7-6F59-2EE4-7436C1AD6E0E}"/>
              </a:ext>
            </a:extLst>
          </p:cNvPr>
          <p:cNvSpPr>
            <a:spLocks noGrp="1"/>
          </p:cNvSpPr>
          <p:nvPr>
            <p:ph type="sldNum" sz="quarter" idx="5"/>
          </p:nvPr>
        </p:nvSpPr>
        <p:spPr/>
        <p:txBody>
          <a:bodyPr/>
          <a:lstStyle/>
          <a:p>
            <a:fld id="{A9FD0793-C8D7-4125-BD72-CB052C0E0E0B}" type="slidenum">
              <a:rPr lang="en-US" smtClean="0"/>
              <a:t>54</a:t>
            </a:fld>
            <a:endParaRPr lang="en-US"/>
          </a:p>
        </p:txBody>
      </p:sp>
    </p:spTree>
    <p:extLst>
      <p:ext uri="{BB962C8B-B14F-4D97-AF65-F5344CB8AC3E}">
        <p14:creationId xmlns:p14="http://schemas.microsoft.com/office/powerpoint/2010/main" val="18614362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CFA7F-9DD2-27E4-29C1-6982400C5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02C93A-4D35-57E4-4A89-DE16A3DD6F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27274-0CE3-CE6C-4A06-FF03E5D50EFC}"/>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66C3A69D-F8C9-C276-BF21-849DD8AACDC1}"/>
              </a:ext>
            </a:extLst>
          </p:cNvPr>
          <p:cNvSpPr>
            <a:spLocks noGrp="1"/>
          </p:cNvSpPr>
          <p:nvPr>
            <p:ph type="sldNum" sz="quarter" idx="5"/>
          </p:nvPr>
        </p:nvSpPr>
        <p:spPr/>
        <p:txBody>
          <a:bodyPr/>
          <a:lstStyle/>
          <a:p>
            <a:fld id="{A9FD0793-C8D7-4125-BD72-CB052C0E0E0B}" type="slidenum">
              <a:rPr lang="en-US" smtClean="0"/>
              <a:t>60</a:t>
            </a:fld>
            <a:endParaRPr lang="en-US"/>
          </a:p>
        </p:txBody>
      </p:sp>
    </p:spTree>
    <p:extLst>
      <p:ext uri="{BB962C8B-B14F-4D97-AF65-F5344CB8AC3E}">
        <p14:creationId xmlns:p14="http://schemas.microsoft.com/office/powerpoint/2010/main" val="42073795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E00A5-DD4F-CDA2-21D5-348BE8961B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6BAF8-5DFD-EB28-074E-2237AB06F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F42255-40A1-2FCA-C6BE-C44BCCF4B019}"/>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B6804DC7-B673-B1E2-FF68-58553B015613}"/>
              </a:ext>
            </a:extLst>
          </p:cNvPr>
          <p:cNvSpPr>
            <a:spLocks noGrp="1"/>
          </p:cNvSpPr>
          <p:nvPr>
            <p:ph type="sldNum" sz="quarter" idx="5"/>
          </p:nvPr>
        </p:nvSpPr>
        <p:spPr/>
        <p:txBody>
          <a:bodyPr/>
          <a:lstStyle/>
          <a:p>
            <a:fld id="{A9FD0793-C8D7-4125-BD72-CB052C0E0E0B}" type="slidenum">
              <a:rPr lang="en-US" smtClean="0"/>
              <a:t>61</a:t>
            </a:fld>
            <a:endParaRPr lang="en-US"/>
          </a:p>
        </p:txBody>
      </p:sp>
    </p:spTree>
    <p:extLst>
      <p:ext uri="{BB962C8B-B14F-4D97-AF65-F5344CB8AC3E}">
        <p14:creationId xmlns:p14="http://schemas.microsoft.com/office/powerpoint/2010/main" val="12660284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3D239-55FF-46E8-7315-B03A43652D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B2339-8965-A2A0-C65C-A6968EB015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DAFB9-3F39-1809-9E22-0F8936D6EFA7}"/>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0E99753B-B414-D4D8-63E7-E94C8A1CE2F1}"/>
              </a:ext>
            </a:extLst>
          </p:cNvPr>
          <p:cNvSpPr>
            <a:spLocks noGrp="1"/>
          </p:cNvSpPr>
          <p:nvPr>
            <p:ph type="sldNum" sz="quarter" idx="5"/>
          </p:nvPr>
        </p:nvSpPr>
        <p:spPr/>
        <p:txBody>
          <a:bodyPr/>
          <a:lstStyle/>
          <a:p>
            <a:fld id="{A9FD0793-C8D7-4125-BD72-CB052C0E0E0B}" type="slidenum">
              <a:rPr lang="en-US" smtClean="0"/>
              <a:t>62</a:t>
            </a:fld>
            <a:endParaRPr lang="en-US"/>
          </a:p>
        </p:txBody>
      </p:sp>
    </p:spTree>
    <p:extLst>
      <p:ext uri="{BB962C8B-B14F-4D97-AF65-F5344CB8AC3E}">
        <p14:creationId xmlns:p14="http://schemas.microsoft.com/office/powerpoint/2010/main" val="22015152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4C94B-4BAF-879D-CDA6-4C0084FE4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B72DF-988C-780A-0CB2-72752E742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FEF58-E363-8F12-2F97-F5D3FF95F6BE}"/>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2EA02C37-5A40-86C1-67B3-0A48DC6105F4}"/>
              </a:ext>
            </a:extLst>
          </p:cNvPr>
          <p:cNvSpPr>
            <a:spLocks noGrp="1"/>
          </p:cNvSpPr>
          <p:nvPr>
            <p:ph type="sldNum" sz="quarter" idx="5"/>
          </p:nvPr>
        </p:nvSpPr>
        <p:spPr/>
        <p:txBody>
          <a:bodyPr/>
          <a:lstStyle/>
          <a:p>
            <a:fld id="{A9FD0793-C8D7-4125-BD72-CB052C0E0E0B}" type="slidenum">
              <a:rPr lang="en-US" smtClean="0"/>
              <a:t>63</a:t>
            </a:fld>
            <a:endParaRPr lang="en-US"/>
          </a:p>
        </p:txBody>
      </p:sp>
    </p:spTree>
    <p:extLst>
      <p:ext uri="{BB962C8B-B14F-4D97-AF65-F5344CB8AC3E}">
        <p14:creationId xmlns:p14="http://schemas.microsoft.com/office/powerpoint/2010/main" val="645792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3557-4349-5FB9-9F60-0C6D422A3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F88FDE-C514-236C-D3E8-E322AFD472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8CF34-D43D-300E-E155-E0CDDF345B7F}"/>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88689627-39CE-E960-4C6F-C012CD468AF9}"/>
              </a:ext>
            </a:extLst>
          </p:cNvPr>
          <p:cNvSpPr>
            <a:spLocks noGrp="1"/>
          </p:cNvSpPr>
          <p:nvPr>
            <p:ph type="sldNum" sz="quarter" idx="5"/>
          </p:nvPr>
        </p:nvSpPr>
        <p:spPr/>
        <p:txBody>
          <a:bodyPr/>
          <a:lstStyle/>
          <a:p>
            <a:fld id="{A9FD0793-C8D7-4125-BD72-CB052C0E0E0B}" type="slidenum">
              <a:rPr lang="en-US" smtClean="0"/>
              <a:t>64</a:t>
            </a:fld>
            <a:endParaRPr lang="en-US"/>
          </a:p>
        </p:txBody>
      </p:sp>
    </p:spTree>
    <p:extLst>
      <p:ext uri="{BB962C8B-B14F-4D97-AF65-F5344CB8AC3E}">
        <p14:creationId xmlns:p14="http://schemas.microsoft.com/office/powerpoint/2010/main" val="7739175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F7DF7-214A-33C6-2774-EFD0A3ABB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95657-BF07-5A57-6D12-918DC7FC3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B6D85-9E77-7482-823E-B9DF0688BB81}"/>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978CDA7A-1192-15D2-9498-2A952B46424B}"/>
              </a:ext>
            </a:extLst>
          </p:cNvPr>
          <p:cNvSpPr>
            <a:spLocks noGrp="1"/>
          </p:cNvSpPr>
          <p:nvPr>
            <p:ph type="sldNum" sz="quarter" idx="5"/>
          </p:nvPr>
        </p:nvSpPr>
        <p:spPr/>
        <p:txBody>
          <a:bodyPr/>
          <a:lstStyle/>
          <a:p>
            <a:fld id="{A9FD0793-C8D7-4125-BD72-CB052C0E0E0B}" type="slidenum">
              <a:rPr lang="en-US" smtClean="0"/>
              <a:t>65</a:t>
            </a:fld>
            <a:endParaRPr lang="en-US"/>
          </a:p>
        </p:txBody>
      </p:sp>
    </p:spTree>
    <p:extLst>
      <p:ext uri="{BB962C8B-B14F-4D97-AF65-F5344CB8AC3E}">
        <p14:creationId xmlns:p14="http://schemas.microsoft.com/office/powerpoint/2010/main" val="24631027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279CE-A726-34AE-7096-06ED276A41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4D39F-DCC8-998B-25F2-297348E44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9A5774-4336-CD52-CCB6-4545C6062B6A}"/>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3FD92ECF-B06F-6700-AD6C-9E1AE1C3B5FA}"/>
              </a:ext>
            </a:extLst>
          </p:cNvPr>
          <p:cNvSpPr>
            <a:spLocks noGrp="1"/>
          </p:cNvSpPr>
          <p:nvPr>
            <p:ph type="sldNum" sz="quarter" idx="5"/>
          </p:nvPr>
        </p:nvSpPr>
        <p:spPr/>
        <p:txBody>
          <a:bodyPr/>
          <a:lstStyle/>
          <a:p>
            <a:fld id="{A9FD0793-C8D7-4125-BD72-CB052C0E0E0B}" type="slidenum">
              <a:rPr lang="en-US" smtClean="0"/>
              <a:t>66</a:t>
            </a:fld>
            <a:endParaRPr lang="en-US"/>
          </a:p>
        </p:txBody>
      </p:sp>
    </p:spTree>
    <p:extLst>
      <p:ext uri="{BB962C8B-B14F-4D97-AF65-F5344CB8AC3E}">
        <p14:creationId xmlns:p14="http://schemas.microsoft.com/office/powerpoint/2010/main" val="10223770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E367-2CB8-5441-6E1D-524B318F4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C5FA8-1A92-F291-E1A3-EE88A8CB3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EEF13-639F-018E-A649-6CBED03F2B8B}"/>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08B20109-3CE7-C9D7-0320-C266A769C887}"/>
              </a:ext>
            </a:extLst>
          </p:cNvPr>
          <p:cNvSpPr>
            <a:spLocks noGrp="1"/>
          </p:cNvSpPr>
          <p:nvPr>
            <p:ph type="sldNum" sz="quarter" idx="5"/>
          </p:nvPr>
        </p:nvSpPr>
        <p:spPr/>
        <p:txBody>
          <a:bodyPr/>
          <a:lstStyle/>
          <a:p>
            <a:fld id="{A9FD0793-C8D7-4125-BD72-CB052C0E0E0B}" type="slidenum">
              <a:rPr lang="en-US" smtClean="0"/>
              <a:t>67</a:t>
            </a:fld>
            <a:endParaRPr lang="en-US"/>
          </a:p>
        </p:txBody>
      </p:sp>
    </p:spTree>
    <p:extLst>
      <p:ext uri="{BB962C8B-B14F-4D97-AF65-F5344CB8AC3E}">
        <p14:creationId xmlns:p14="http://schemas.microsoft.com/office/powerpoint/2010/main" val="19739626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9709B-8F66-892F-E7CF-E1A050613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D6F54-B8F4-79D3-D479-2EF2187062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7BAAF-ECB5-4EA6-8F96-944FE54FD866}"/>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32704FEE-EDDF-F1CB-059B-0AE07AA9573B}"/>
              </a:ext>
            </a:extLst>
          </p:cNvPr>
          <p:cNvSpPr>
            <a:spLocks noGrp="1"/>
          </p:cNvSpPr>
          <p:nvPr>
            <p:ph type="sldNum" sz="quarter" idx="5"/>
          </p:nvPr>
        </p:nvSpPr>
        <p:spPr/>
        <p:txBody>
          <a:bodyPr/>
          <a:lstStyle/>
          <a:p>
            <a:fld id="{A9FD0793-C8D7-4125-BD72-CB052C0E0E0B}" type="slidenum">
              <a:rPr lang="en-US" smtClean="0"/>
              <a:t>68</a:t>
            </a:fld>
            <a:endParaRPr lang="en-US"/>
          </a:p>
        </p:txBody>
      </p:sp>
    </p:spTree>
    <p:extLst>
      <p:ext uri="{BB962C8B-B14F-4D97-AF65-F5344CB8AC3E}">
        <p14:creationId xmlns:p14="http://schemas.microsoft.com/office/powerpoint/2010/main" val="312040542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A3542-1605-9838-ABA6-1F40B5260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F7865C-1A81-8E81-7FF6-30ED71563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B46AEC-5F06-6665-ED4D-290A1A4AC470}"/>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A2FB53CD-562D-E884-01F7-923B10B38093}"/>
              </a:ext>
            </a:extLst>
          </p:cNvPr>
          <p:cNvSpPr>
            <a:spLocks noGrp="1"/>
          </p:cNvSpPr>
          <p:nvPr>
            <p:ph type="sldNum" sz="quarter" idx="5"/>
          </p:nvPr>
        </p:nvSpPr>
        <p:spPr/>
        <p:txBody>
          <a:bodyPr/>
          <a:lstStyle/>
          <a:p>
            <a:fld id="{A9FD0793-C8D7-4125-BD72-CB052C0E0E0B}" type="slidenum">
              <a:rPr lang="en-US" smtClean="0"/>
              <a:t>69</a:t>
            </a:fld>
            <a:endParaRPr lang="en-US"/>
          </a:p>
        </p:txBody>
      </p:sp>
    </p:spTree>
    <p:extLst>
      <p:ext uri="{BB962C8B-B14F-4D97-AF65-F5344CB8AC3E}">
        <p14:creationId xmlns:p14="http://schemas.microsoft.com/office/powerpoint/2010/main" val="28060474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085B0-0FE4-314E-1BC6-23BDEE860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816DD-9B95-5D26-27DF-96A38A6122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5A84E-4039-DD85-DD2E-17E743756FF6}"/>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6BC5F321-9A26-61A9-5897-CE16D0B55406}"/>
              </a:ext>
            </a:extLst>
          </p:cNvPr>
          <p:cNvSpPr>
            <a:spLocks noGrp="1"/>
          </p:cNvSpPr>
          <p:nvPr>
            <p:ph type="sldNum" sz="quarter" idx="5"/>
          </p:nvPr>
        </p:nvSpPr>
        <p:spPr/>
        <p:txBody>
          <a:bodyPr/>
          <a:lstStyle/>
          <a:p>
            <a:fld id="{A9FD0793-C8D7-4125-BD72-CB052C0E0E0B}" type="slidenum">
              <a:rPr lang="en-US" smtClean="0"/>
              <a:t>70</a:t>
            </a:fld>
            <a:endParaRPr lang="en-US"/>
          </a:p>
        </p:txBody>
      </p:sp>
    </p:spTree>
    <p:extLst>
      <p:ext uri="{BB962C8B-B14F-4D97-AF65-F5344CB8AC3E}">
        <p14:creationId xmlns:p14="http://schemas.microsoft.com/office/powerpoint/2010/main" val="49845068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5F53E-EA86-CACF-434F-A981EA16F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2DDAEA-0260-AA68-E3B5-83094C6DD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B2AD02-9FED-C407-5045-EAB4CC3BC5E0}"/>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4144B3E9-1AAC-005B-C632-450027CC42C4}"/>
              </a:ext>
            </a:extLst>
          </p:cNvPr>
          <p:cNvSpPr>
            <a:spLocks noGrp="1"/>
          </p:cNvSpPr>
          <p:nvPr>
            <p:ph type="sldNum" sz="quarter" idx="5"/>
          </p:nvPr>
        </p:nvSpPr>
        <p:spPr/>
        <p:txBody>
          <a:bodyPr/>
          <a:lstStyle/>
          <a:p>
            <a:fld id="{A9FD0793-C8D7-4125-BD72-CB052C0E0E0B}" type="slidenum">
              <a:rPr lang="en-US" smtClean="0"/>
              <a:t>71</a:t>
            </a:fld>
            <a:endParaRPr lang="en-US"/>
          </a:p>
        </p:txBody>
      </p:sp>
    </p:spTree>
    <p:extLst>
      <p:ext uri="{BB962C8B-B14F-4D97-AF65-F5344CB8AC3E}">
        <p14:creationId xmlns:p14="http://schemas.microsoft.com/office/powerpoint/2010/main" val="283783529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24D57-378E-ED80-7F41-EBAF4A7318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14444-AD8E-6AD9-2D49-65ECC41BC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C94D8-B3CC-657A-E3FB-0570E318E4A6}"/>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57740273-9799-A6AA-6360-67A96B16831C}"/>
              </a:ext>
            </a:extLst>
          </p:cNvPr>
          <p:cNvSpPr>
            <a:spLocks noGrp="1"/>
          </p:cNvSpPr>
          <p:nvPr>
            <p:ph type="sldNum" sz="quarter" idx="5"/>
          </p:nvPr>
        </p:nvSpPr>
        <p:spPr/>
        <p:txBody>
          <a:bodyPr/>
          <a:lstStyle/>
          <a:p>
            <a:fld id="{A9FD0793-C8D7-4125-BD72-CB052C0E0E0B}" type="slidenum">
              <a:rPr lang="en-US" smtClean="0"/>
              <a:t>72</a:t>
            </a:fld>
            <a:endParaRPr lang="en-US"/>
          </a:p>
        </p:txBody>
      </p:sp>
    </p:spTree>
    <p:extLst>
      <p:ext uri="{BB962C8B-B14F-4D97-AF65-F5344CB8AC3E}">
        <p14:creationId xmlns:p14="http://schemas.microsoft.com/office/powerpoint/2010/main" val="4757884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14787-7F36-9DD4-583A-2FE19E464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B9A84-85C6-3CD8-802B-F828D9998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ACA2C-B09B-EE1E-E34D-480776048D05}"/>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6D300389-85C1-9273-DB8F-3B44841CE5B0}"/>
              </a:ext>
            </a:extLst>
          </p:cNvPr>
          <p:cNvSpPr>
            <a:spLocks noGrp="1"/>
          </p:cNvSpPr>
          <p:nvPr>
            <p:ph type="sldNum" sz="quarter" idx="5"/>
          </p:nvPr>
        </p:nvSpPr>
        <p:spPr/>
        <p:txBody>
          <a:bodyPr/>
          <a:lstStyle/>
          <a:p>
            <a:fld id="{A9FD0793-C8D7-4125-BD72-CB052C0E0E0B}" type="slidenum">
              <a:rPr lang="en-US" smtClean="0"/>
              <a:t>73</a:t>
            </a:fld>
            <a:endParaRPr lang="en-US"/>
          </a:p>
        </p:txBody>
      </p:sp>
    </p:spTree>
    <p:extLst>
      <p:ext uri="{BB962C8B-B14F-4D97-AF65-F5344CB8AC3E}">
        <p14:creationId xmlns:p14="http://schemas.microsoft.com/office/powerpoint/2010/main" val="196649042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EFD05-3885-F1B2-5AFA-F8BA81A33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87C08-5E87-AF3A-C40D-181640EEA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B2AFE-CF29-45E9-747A-52265A3C3204}"/>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3D5D848C-D264-9EC5-C474-CF97148AB9DA}"/>
              </a:ext>
            </a:extLst>
          </p:cNvPr>
          <p:cNvSpPr>
            <a:spLocks noGrp="1"/>
          </p:cNvSpPr>
          <p:nvPr>
            <p:ph type="sldNum" sz="quarter" idx="5"/>
          </p:nvPr>
        </p:nvSpPr>
        <p:spPr/>
        <p:txBody>
          <a:bodyPr/>
          <a:lstStyle/>
          <a:p>
            <a:fld id="{A9FD0793-C8D7-4125-BD72-CB052C0E0E0B}" type="slidenum">
              <a:rPr lang="en-US" smtClean="0"/>
              <a:t>74</a:t>
            </a:fld>
            <a:endParaRPr lang="en-US"/>
          </a:p>
        </p:txBody>
      </p:sp>
    </p:spTree>
    <p:extLst>
      <p:ext uri="{BB962C8B-B14F-4D97-AF65-F5344CB8AC3E}">
        <p14:creationId xmlns:p14="http://schemas.microsoft.com/office/powerpoint/2010/main" val="411472938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7838D-62F9-912D-8EAB-9FEE3835A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BDFBB9-E04D-3144-57E8-73184D1B0F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F6A24D-4AD8-CB8A-4A5E-F2F89C7688C1}"/>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7E1AFB3C-22D4-3E0B-F64C-E8F1F0D77C36}"/>
              </a:ext>
            </a:extLst>
          </p:cNvPr>
          <p:cNvSpPr>
            <a:spLocks noGrp="1"/>
          </p:cNvSpPr>
          <p:nvPr>
            <p:ph type="sldNum" sz="quarter" idx="5"/>
          </p:nvPr>
        </p:nvSpPr>
        <p:spPr/>
        <p:txBody>
          <a:bodyPr/>
          <a:lstStyle/>
          <a:p>
            <a:fld id="{A9FD0793-C8D7-4125-BD72-CB052C0E0E0B}" type="slidenum">
              <a:rPr lang="en-US" smtClean="0"/>
              <a:t>75</a:t>
            </a:fld>
            <a:endParaRPr lang="en-US"/>
          </a:p>
        </p:txBody>
      </p:sp>
    </p:spTree>
    <p:extLst>
      <p:ext uri="{BB962C8B-B14F-4D97-AF65-F5344CB8AC3E}">
        <p14:creationId xmlns:p14="http://schemas.microsoft.com/office/powerpoint/2010/main" val="22368437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51E01-4E36-3477-8D5A-B0378ABE3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E482E-3533-DEC1-9F67-C7DF0AC7AF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E35E7-D73C-34CB-9734-1D7B01D15781}"/>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682508D5-0EB9-C976-714E-B0FA88E480A1}"/>
              </a:ext>
            </a:extLst>
          </p:cNvPr>
          <p:cNvSpPr>
            <a:spLocks noGrp="1"/>
          </p:cNvSpPr>
          <p:nvPr>
            <p:ph type="sldNum" sz="quarter" idx="5"/>
          </p:nvPr>
        </p:nvSpPr>
        <p:spPr/>
        <p:txBody>
          <a:bodyPr/>
          <a:lstStyle/>
          <a:p>
            <a:fld id="{A9FD0793-C8D7-4125-BD72-CB052C0E0E0B}" type="slidenum">
              <a:rPr lang="en-US" smtClean="0"/>
              <a:t>76</a:t>
            </a:fld>
            <a:endParaRPr lang="en-US"/>
          </a:p>
        </p:txBody>
      </p:sp>
    </p:spTree>
    <p:extLst>
      <p:ext uri="{BB962C8B-B14F-4D97-AF65-F5344CB8AC3E}">
        <p14:creationId xmlns:p14="http://schemas.microsoft.com/office/powerpoint/2010/main" val="128757751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A0459-5CCC-A1B4-51BF-6DCAF30E2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73CAB0-2EFE-1E62-07A9-341E89ED0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8612A-535A-45A4-415C-B3A91C174626}"/>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7D1B0CC2-E4AD-23C7-A2A1-CF88372AABA5}"/>
              </a:ext>
            </a:extLst>
          </p:cNvPr>
          <p:cNvSpPr>
            <a:spLocks noGrp="1"/>
          </p:cNvSpPr>
          <p:nvPr>
            <p:ph type="sldNum" sz="quarter" idx="5"/>
          </p:nvPr>
        </p:nvSpPr>
        <p:spPr/>
        <p:txBody>
          <a:bodyPr/>
          <a:lstStyle/>
          <a:p>
            <a:fld id="{A9FD0793-C8D7-4125-BD72-CB052C0E0E0B}" type="slidenum">
              <a:rPr lang="en-US" smtClean="0"/>
              <a:t>77</a:t>
            </a:fld>
            <a:endParaRPr lang="en-US"/>
          </a:p>
        </p:txBody>
      </p:sp>
    </p:spTree>
    <p:extLst>
      <p:ext uri="{BB962C8B-B14F-4D97-AF65-F5344CB8AC3E}">
        <p14:creationId xmlns:p14="http://schemas.microsoft.com/office/powerpoint/2010/main" val="171932255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3EBF4-4343-EF03-0316-5BFED7BDA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E36DCE-BFF7-372C-8EDD-D0B592C73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5D78E-E0FC-BD06-3B74-C96CD3609FA4}"/>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CB5716C3-7935-2BEF-FA28-5C5069A12759}"/>
              </a:ext>
            </a:extLst>
          </p:cNvPr>
          <p:cNvSpPr>
            <a:spLocks noGrp="1"/>
          </p:cNvSpPr>
          <p:nvPr>
            <p:ph type="sldNum" sz="quarter" idx="5"/>
          </p:nvPr>
        </p:nvSpPr>
        <p:spPr/>
        <p:txBody>
          <a:bodyPr/>
          <a:lstStyle/>
          <a:p>
            <a:fld id="{A9FD0793-C8D7-4125-BD72-CB052C0E0E0B}" type="slidenum">
              <a:rPr lang="en-US" smtClean="0"/>
              <a:t>78</a:t>
            </a:fld>
            <a:endParaRPr lang="en-US"/>
          </a:p>
        </p:txBody>
      </p:sp>
    </p:spTree>
    <p:extLst>
      <p:ext uri="{BB962C8B-B14F-4D97-AF65-F5344CB8AC3E}">
        <p14:creationId xmlns:p14="http://schemas.microsoft.com/office/powerpoint/2010/main" val="388172573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0D6F2-E7DA-FB21-80C1-80F2A9B9AD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4B2AA-8CCB-7CD5-D5D3-606F448AA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79A2B0-76AD-0708-BA9A-BA21CF56AF8A}"/>
              </a:ext>
            </a:extLst>
          </p:cNvPr>
          <p:cNvSpPr>
            <a:spLocks noGrp="1"/>
          </p:cNvSpPr>
          <p:nvPr>
            <p:ph type="body" idx="1"/>
          </p:nvPr>
        </p:nvSpPr>
        <p:spPr/>
        <p:txBody>
          <a:bodyPr/>
          <a:lstStyle/>
          <a:p>
            <a:r>
              <a:rPr lang="en-US" b="1">
                <a:solidFill>
                  <a:srgbClr val="000080"/>
                </a:solidFill>
              </a:rPr>
              <a:t>**2. </a:t>
            </a:r>
            <a:r>
              <a:rPr lang="en-US" b="1" err="1">
                <a:solidFill>
                  <a:srgbClr val="000080"/>
                </a:solidFill>
              </a:rPr>
              <a:t>Lỗ</a:t>
            </a:r>
            <a:r>
              <a:rPr lang="en-US" b="1">
                <a:solidFill>
                  <a:srgbClr val="000080"/>
                </a:solidFill>
              </a:rPr>
              <a:t> </a:t>
            </a:r>
            <a:r>
              <a:rPr lang="en-US" b="1" err="1">
                <a:solidFill>
                  <a:srgbClr val="000080"/>
                </a:solidFill>
              </a:rPr>
              <a:t>hổng</a:t>
            </a:r>
            <a:r>
              <a:rPr lang="en-US" b="1">
                <a:solidFill>
                  <a:srgbClr val="000080"/>
                </a:solidFill>
              </a:rPr>
              <a:t> Out-of-bounds Read / Invalid Free (</a:t>
            </a:r>
            <a:r>
              <a:rPr lang="en-US" b="1" err="1">
                <a:solidFill>
                  <a:srgbClr val="000080"/>
                </a:solidFill>
              </a:rPr>
              <a:t>Đọc</a:t>
            </a:r>
            <a:r>
              <a:rPr lang="en-US" b="1">
                <a:solidFill>
                  <a:srgbClr val="000080"/>
                </a:solidFill>
              </a:rPr>
              <a:t> </a:t>
            </a:r>
            <a:r>
              <a:rPr lang="en-US" b="1" err="1">
                <a:solidFill>
                  <a:srgbClr val="000080"/>
                </a:solidFill>
              </a:rPr>
              <a:t>ngoài</a:t>
            </a:r>
            <a:r>
              <a:rPr lang="en-US" b="1">
                <a:solidFill>
                  <a:srgbClr val="000080"/>
                </a:solidFill>
              </a:rPr>
              <a:t> </a:t>
            </a:r>
            <a:r>
              <a:rPr lang="en-US" b="1" err="1">
                <a:solidFill>
                  <a:srgbClr val="000080"/>
                </a:solidFill>
              </a:rPr>
              <a:t>vùng</a:t>
            </a:r>
            <a:r>
              <a:rPr lang="en-US" b="1">
                <a:solidFill>
                  <a:srgbClr val="000080"/>
                </a:solidFill>
              </a:rPr>
              <a:t> </a:t>
            </a:r>
            <a:r>
              <a:rPr lang="en-US" b="1" err="1">
                <a:solidFill>
                  <a:srgbClr val="000080"/>
                </a:solidFill>
              </a:rPr>
              <a:t>nhớ</a:t>
            </a:r>
            <a:r>
              <a:rPr lang="en-US" b="1">
                <a:solidFill>
                  <a:srgbClr val="000080"/>
                </a:solidFill>
              </a:rPr>
              <a:t> / </a:t>
            </a:r>
            <a:r>
              <a:rPr lang="en-US" b="1" err="1">
                <a:solidFill>
                  <a:srgbClr val="000080"/>
                </a:solidFill>
              </a:rPr>
              <a:t>Giải</a:t>
            </a:r>
            <a:r>
              <a:rPr lang="en-US" b="1">
                <a:solidFill>
                  <a:srgbClr val="000080"/>
                </a:solidFill>
              </a:rPr>
              <a:t> </a:t>
            </a:r>
            <a:r>
              <a:rPr lang="en-US" b="1" err="1">
                <a:solidFill>
                  <a:srgbClr val="000080"/>
                </a:solidFill>
              </a:rPr>
              <a:t>phóng</a:t>
            </a:r>
            <a:r>
              <a:rPr lang="en-US" b="1">
                <a:solidFill>
                  <a:srgbClr val="000080"/>
                </a:solidFill>
              </a:rPr>
              <a:t> </a:t>
            </a:r>
            <a:r>
              <a:rPr lang="en-US" b="1" err="1">
                <a:solidFill>
                  <a:srgbClr val="000080"/>
                </a:solidFill>
              </a:rPr>
              <a:t>sai</a:t>
            </a:r>
            <a:r>
              <a:rPr lang="en-US" b="1">
                <a:solidFill>
                  <a:srgbClr val="000080"/>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Vị</a:t>
            </a:r>
            <a:r>
              <a:rPr lang="en-US" b="1">
                <a:solidFill>
                  <a:srgbClr val="000080"/>
                </a:solidFill>
              </a:rPr>
              <a:t> </a:t>
            </a:r>
            <a:r>
              <a:rPr lang="en-US" b="1" err="1">
                <a:solidFill>
                  <a:srgbClr val="000080"/>
                </a:solidFill>
              </a:rPr>
              <a:t>trí</a:t>
            </a:r>
            <a:r>
              <a:rPr lang="en-US" b="1">
                <a:solidFill>
                  <a:srgbClr val="000080"/>
                </a:solidFill>
              </a:rPr>
              <a:t>**</a:t>
            </a:r>
            <a:r>
              <a:rPr lang="en-US">
                <a:solidFill>
                  <a:srgbClr val="3B3B3B"/>
                </a:solidFill>
              </a:rPr>
              <a:t>: </a:t>
            </a:r>
            <a:r>
              <a:rPr lang="en-US" err="1">
                <a:solidFill>
                  <a:srgbClr val="3B3B3B"/>
                </a:solidFill>
              </a:rPr>
              <a:t>Hàm</a:t>
            </a:r>
            <a:r>
              <a:rPr lang="en-US">
                <a:solidFill>
                  <a:srgbClr val="3B3B3B"/>
                </a:solidFill>
              </a:rPr>
              <a:t> </a:t>
            </a:r>
            <a:r>
              <a:rPr lang="en-US">
                <a:solidFill>
                  <a:srgbClr val="800000"/>
                </a:solidFill>
              </a:rPr>
              <a:t>`</a:t>
            </a:r>
            <a:r>
              <a:rPr lang="en-US" err="1">
                <a:solidFill>
                  <a:srgbClr val="800000"/>
                </a:solidFill>
              </a:rPr>
              <a:t>json_value_free_ex</a:t>
            </a:r>
            <a:r>
              <a:rPr lang="en-US">
                <a:solidFill>
                  <a:srgbClr val="800000"/>
                </a:solidFill>
              </a:rPr>
              <a:t>`</a:t>
            </a:r>
            <a:r>
              <a:rPr lang="en-US">
                <a:solidFill>
                  <a:srgbClr val="3B3B3B"/>
                </a:solidFill>
              </a:rPr>
              <a:t>, </a:t>
            </a:r>
            <a:r>
              <a:rPr lang="en-US" err="1">
                <a:solidFill>
                  <a:srgbClr val="3B3B3B"/>
                </a:solidFill>
              </a:rPr>
              <a:t>bên</a:t>
            </a:r>
            <a:r>
              <a:rPr lang="en-US">
                <a:solidFill>
                  <a:srgbClr val="3B3B3B"/>
                </a:solidFill>
              </a:rPr>
              <a:t> </a:t>
            </a:r>
            <a:r>
              <a:rPr lang="en-US" err="1">
                <a:solidFill>
                  <a:srgbClr val="3B3B3B"/>
                </a:solidFill>
              </a:rPr>
              <a:t>trong</a:t>
            </a:r>
            <a:r>
              <a:rPr lang="en-US">
                <a:solidFill>
                  <a:srgbClr val="3B3B3B"/>
                </a:solidFill>
              </a:rPr>
              <a:t> case </a:t>
            </a:r>
            <a:r>
              <a:rPr lang="en-US">
                <a:solidFill>
                  <a:srgbClr val="800000"/>
                </a:solidFill>
              </a:rPr>
              <a:t>`</a:t>
            </a:r>
            <a:r>
              <a:rPr lang="en-US" err="1">
                <a:solidFill>
                  <a:srgbClr val="800000"/>
                </a:solidFill>
              </a:rPr>
              <a:t>json_object</a:t>
            </a:r>
            <a:r>
              <a:rPr lang="en-US">
                <a:solidFill>
                  <a:srgbClr val="800000"/>
                </a:solidFill>
              </a:rPr>
              <a:t>`</a:t>
            </a:r>
            <a:endParaRPr lang="en-US"/>
          </a:p>
          <a:p>
            <a:br>
              <a:rPr lang="en-US"/>
            </a:br>
            <a:endParaRPr lang="en-US"/>
          </a:p>
          <a:p>
            <a:r>
              <a:rPr lang="en-US">
                <a:solidFill>
                  <a:srgbClr val="3B3B3B"/>
                </a:solidFill>
              </a:rPr>
              <a:t>```c</a:t>
            </a:r>
            <a:endParaRPr lang="en-US"/>
          </a:p>
          <a:p>
            <a:r>
              <a:rPr lang="en-US"/>
              <a:t>value = value-&gt;</a:t>
            </a:r>
            <a:r>
              <a:rPr lang="en-US" err="1"/>
              <a:t>u.object.values</a:t>
            </a:r>
            <a:r>
              <a:rPr lang="en-US"/>
              <a:t> [</a:t>
            </a:r>
            <a:r>
              <a:rPr lang="en-US">
                <a:solidFill>
                  <a:srgbClr val="001080"/>
                </a:solidFill>
              </a:rPr>
              <a:t>value</a:t>
            </a:r>
            <a:r>
              <a:rPr lang="en-US"/>
              <a:t>-&gt;</a:t>
            </a:r>
            <a:r>
              <a:rPr lang="en-US" err="1">
                <a:solidFill>
                  <a:srgbClr val="001080"/>
                </a:solidFill>
              </a:rPr>
              <a:t>u</a:t>
            </a:r>
            <a:r>
              <a:rPr lang="en-US" err="1"/>
              <a:t>.</a:t>
            </a:r>
            <a:r>
              <a:rPr lang="en-US" err="1">
                <a:solidFill>
                  <a:srgbClr val="001080"/>
                </a:solidFill>
              </a:rPr>
              <a:t>object</a:t>
            </a:r>
            <a:r>
              <a:rPr lang="en-US" err="1"/>
              <a:t>.</a:t>
            </a:r>
            <a:r>
              <a:rPr lang="en-US" err="1">
                <a:solidFill>
                  <a:srgbClr val="001080"/>
                </a:solidFill>
              </a:rPr>
              <a:t>length</a:t>
            </a:r>
            <a:r>
              <a:rPr lang="en-US"/>
              <a:t>--].value;</a:t>
            </a:r>
          </a:p>
          <a:p>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Phân</a:t>
            </a:r>
            <a:r>
              <a:rPr lang="en-US" b="1">
                <a:solidFill>
                  <a:srgbClr val="000080"/>
                </a:solidFill>
              </a:rPr>
              <a:t> </a:t>
            </a:r>
            <a:r>
              <a:rPr lang="en-US" b="1" err="1">
                <a:solidFill>
                  <a:srgbClr val="000080"/>
                </a:solidFill>
              </a:rPr>
              <a:t>tích</a:t>
            </a:r>
            <a:r>
              <a:rPr lang="en-US" b="1">
                <a:solidFill>
                  <a:srgbClr val="000080"/>
                </a:solidFill>
              </a:rPr>
              <a:t> </a:t>
            </a:r>
            <a:r>
              <a:rPr lang="en-US" b="1" err="1">
                <a:solidFill>
                  <a:srgbClr val="000080"/>
                </a:solidFill>
              </a:rPr>
              <a:t>nguyên</a:t>
            </a:r>
            <a:r>
              <a:rPr lang="en-US" b="1">
                <a:solidFill>
                  <a:srgbClr val="000080"/>
                </a:solidFill>
              </a:rPr>
              <a:t> </a:t>
            </a:r>
            <a:r>
              <a:rPr lang="en-US" b="1" err="1">
                <a:solidFill>
                  <a:srgbClr val="000080"/>
                </a:solidFill>
              </a:rPr>
              <a:t>nhân</a:t>
            </a:r>
            <a:r>
              <a:rPr lang="en-US" b="1">
                <a:solidFill>
                  <a:srgbClr val="000080"/>
                </a:solidFill>
              </a:rPr>
              <a:t>**</a:t>
            </a:r>
            <a:r>
              <a:rPr lang="en-US">
                <a:solidFill>
                  <a:srgbClr val="3B3B3B"/>
                </a:solidFill>
              </a:rPr>
              <a:t>: </a:t>
            </a:r>
            <a:r>
              <a:rPr lang="en-US" err="1">
                <a:solidFill>
                  <a:srgbClr val="3B3B3B"/>
                </a:solidFill>
              </a:rPr>
              <a:t>Đoạn</a:t>
            </a:r>
            <a:r>
              <a:rPr lang="en-US">
                <a:solidFill>
                  <a:srgbClr val="3B3B3B"/>
                </a:solidFill>
              </a:rPr>
              <a:t> </a:t>
            </a:r>
            <a:r>
              <a:rPr lang="en-US" err="1">
                <a:solidFill>
                  <a:srgbClr val="3B3B3B"/>
                </a:solidFill>
              </a:rPr>
              <a:t>mã</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toán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sau</a:t>
            </a:r>
            <a:r>
              <a:rPr lang="en-US">
                <a:solidFill>
                  <a:srgbClr val="3B3B3B"/>
                </a:solidFill>
              </a:rPr>
              <a:t> (post-decrement) </a:t>
            </a:r>
            <a:r>
              <a:rPr lang="en-US">
                <a:solidFill>
                  <a:srgbClr val="800000"/>
                </a:solidFill>
              </a:rPr>
              <a:t>`length--`</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mảng</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Nếu</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có</a:t>
            </a:r>
            <a:r>
              <a:rPr lang="en-US">
                <a:solidFill>
                  <a:srgbClr val="3B3B3B"/>
                </a:solidFill>
              </a:rPr>
              <a:t> </a:t>
            </a:r>
            <a:r>
              <a:rPr lang="en-US" err="1">
                <a:solidFill>
                  <a:srgbClr val="3B3B3B"/>
                </a:solidFill>
              </a:rPr>
              <a:t>độ</a:t>
            </a:r>
            <a:r>
              <a:rPr lang="en-US">
                <a:solidFill>
                  <a:srgbClr val="3B3B3B"/>
                </a:solidFill>
              </a:rPr>
              <a:t> </a:t>
            </a:r>
            <a:r>
              <a:rPr lang="en-US" err="1">
                <a:solidFill>
                  <a:srgbClr val="3B3B3B"/>
                </a:solidFill>
              </a:rPr>
              <a:t>dài</a:t>
            </a:r>
            <a:r>
              <a:rPr lang="en-US">
                <a:solidFill>
                  <a:srgbClr val="3B3B3B"/>
                </a:solidFill>
              </a:rPr>
              <a:t> </a:t>
            </a:r>
            <a:r>
              <a:rPr lang="en-US" err="1">
                <a:solidFill>
                  <a:srgbClr val="3B3B3B"/>
                </a:solidFill>
              </a:rPr>
              <a:t>là</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các</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là</a:t>
            </a:r>
            <a:r>
              <a:rPr lang="en-US">
                <a:solidFill>
                  <a:srgbClr val="3B3B3B"/>
                </a:solidFill>
              </a:rPr>
              <a:t> </a:t>
            </a:r>
            <a:r>
              <a:rPr lang="en-US" err="1">
                <a:solidFill>
                  <a:srgbClr val="3B3B3B"/>
                </a:solidFill>
              </a:rPr>
              <a:t>từ</a:t>
            </a:r>
            <a:r>
              <a:rPr lang="en-US">
                <a:solidFill>
                  <a:srgbClr val="3B3B3B"/>
                </a:solidFill>
              </a:rPr>
              <a:t> </a:t>
            </a:r>
            <a:r>
              <a:rPr lang="en-US">
                <a:solidFill>
                  <a:srgbClr val="800000"/>
                </a:solidFill>
              </a:rPr>
              <a:t>`0`</a:t>
            </a:r>
            <a:r>
              <a:rPr lang="en-US">
                <a:solidFill>
                  <a:srgbClr val="3B3B3B"/>
                </a:solidFill>
              </a:rPr>
              <a:t> </a:t>
            </a:r>
            <a:r>
              <a:rPr lang="en-US" err="1">
                <a:solidFill>
                  <a:srgbClr val="3B3B3B"/>
                </a:solidFill>
              </a:rPr>
              <a:t>đến</a:t>
            </a:r>
            <a:r>
              <a:rPr lang="en-US">
                <a:solidFill>
                  <a:srgbClr val="3B3B3B"/>
                </a:solidFill>
              </a:rPr>
              <a:t> </a:t>
            </a:r>
            <a:r>
              <a:rPr lang="en-US">
                <a:solidFill>
                  <a:srgbClr val="800000"/>
                </a:solidFill>
              </a:rPr>
              <a:t>`N-1`</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sẽ</a:t>
            </a:r>
            <a:r>
              <a:rPr lang="en-US">
                <a:solidFill>
                  <a:srgbClr val="3B3B3B"/>
                </a:solidFill>
              </a:rPr>
              <a:t> </a:t>
            </a:r>
            <a:r>
              <a:rPr lang="en-US" err="1">
                <a:solidFill>
                  <a:srgbClr val="3B3B3B"/>
                </a:solidFill>
              </a:rPr>
              <a:t>truy</a:t>
            </a:r>
            <a:r>
              <a:rPr lang="en-US">
                <a:solidFill>
                  <a:srgbClr val="3B3B3B"/>
                </a:solidFill>
              </a:rPr>
              <a:t> </a:t>
            </a:r>
            <a:r>
              <a:rPr lang="en-US" err="1">
                <a:solidFill>
                  <a:srgbClr val="3B3B3B"/>
                </a:solidFill>
              </a:rPr>
              <a:t>cập</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phần</a:t>
            </a:r>
            <a:r>
              <a:rPr lang="en-US">
                <a:solidFill>
                  <a:srgbClr val="3B3B3B"/>
                </a:solidFill>
              </a:rPr>
              <a:t> </a:t>
            </a:r>
            <a:r>
              <a:rPr lang="en-US" err="1">
                <a:solidFill>
                  <a:srgbClr val="3B3B3B"/>
                </a:solidFill>
              </a:rPr>
              <a:t>tử</a:t>
            </a:r>
            <a:r>
              <a:rPr lang="en-US">
                <a:solidFill>
                  <a:srgbClr val="3B3B3B"/>
                </a:solidFill>
              </a:rPr>
              <a:t> </a:t>
            </a:r>
            <a:r>
              <a:rPr lang="en-US" err="1">
                <a:solidFill>
                  <a:srgbClr val="3B3B3B"/>
                </a:solidFill>
              </a:rPr>
              <a:t>tại</a:t>
            </a:r>
            <a:r>
              <a:rPr lang="en-US">
                <a:solidFill>
                  <a:srgbClr val="3B3B3B"/>
                </a:solidFill>
              </a:rPr>
              <a:t> </a:t>
            </a:r>
            <a:r>
              <a:rPr lang="en-US" err="1">
                <a:solidFill>
                  <a:srgbClr val="3B3B3B"/>
                </a:solidFill>
              </a:rPr>
              <a:t>chỉ</a:t>
            </a:r>
            <a:r>
              <a:rPr lang="en-US">
                <a:solidFill>
                  <a:srgbClr val="3B3B3B"/>
                </a:solidFill>
              </a:rPr>
              <a:t> </a:t>
            </a:r>
            <a:r>
              <a:rPr lang="en-US" err="1">
                <a:solidFill>
                  <a:srgbClr val="3B3B3B"/>
                </a:solidFill>
              </a:rPr>
              <a:t>số</a:t>
            </a:r>
            <a:r>
              <a:rPr lang="en-US">
                <a:solidFill>
                  <a:srgbClr val="3B3B3B"/>
                </a:solidFill>
              </a:rPr>
              <a:t> </a:t>
            </a:r>
            <a:r>
              <a:rPr lang="en-US">
                <a:solidFill>
                  <a:srgbClr val="800000"/>
                </a:solidFill>
              </a:rPr>
              <a:t>`N`</a:t>
            </a:r>
            <a:r>
              <a:rPr lang="en-US">
                <a:solidFill>
                  <a:srgbClr val="3B3B3B"/>
                </a:solidFill>
              </a:rPr>
              <a:t> (</a:t>
            </a:r>
            <a:r>
              <a:rPr lang="en-US" err="1">
                <a:solidFill>
                  <a:srgbClr val="3B3B3B"/>
                </a:solidFill>
              </a:rPr>
              <a:t>vượt</a:t>
            </a:r>
            <a:r>
              <a:rPr lang="en-US">
                <a:solidFill>
                  <a:srgbClr val="3B3B3B"/>
                </a:solidFill>
              </a:rPr>
              <a:t> </a:t>
            </a:r>
            <a:r>
              <a:rPr lang="en-US" err="1">
                <a:solidFill>
                  <a:srgbClr val="3B3B3B"/>
                </a:solidFill>
              </a:rPr>
              <a:t>quá</a:t>
            </a:r>
            <a:r>
              <a:rPr lang="en-US">
                <a:solidFill>
                  <a:srgbClr val="3B3B3B"/>
                </a:solidFill>
              </a:rPr>
              <a:t> </a:t>
            </a:r>
            <a:r>
              <a:rPr lang="en-US" err="1">
                <a:solidFill>
                  <a:srgbClr val="3B3B3B"/>
                </a:solidFill>
              </a:rPr>
              <a:t>giới</a:t>
            </a:r>
            <a:r>
              <a:rPr lang="en-US">
                <a:solidFill>
                  <a:srgbClr val="3B3B3B"/>
                </a:solidFill>
              </a:rPr>
              <a:t> </a:t>
            </a:r>
            <a:r>
              <a:rPr lang="en-US" err="1">
                <a:solidFill>
                  <a:srgbClr val="3B3B3B"/>
                </a:solidFill>
              </a:rPr>
              <a:t>hạn</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sau</a:t>
            </a:r>
            <a:r>
              <a:rPr lang="en-US">
                <a:solidFill>
                  <a:srgbClr val="3B3B3B"/>
                </a:solidFill>
              </a:rPr>
              <a:t> </a:t>
            </a:r>
            <a:r>
              <a:rPr lang="en-US" err="1">
                <a:solidFill>
                  <a:srgbClr val="3B3B3B"/>
                </a:solidFill>
              </a:rPr>
              <a:t>đó</a:t>
            </a:r>
            <a:r>
              <a:rPr lang="en-US">
                <a:solidFill>
                  <a:srgbClr val="3B3B3B"/>
                </a:solidFill>
              </a:rPr>
              <a:t> </a:t>
            </a:r>
            <a:r>
              <a:rPr lang="en-US" err="1">
                <a:solidFill>
                  <a:srgbClr val="3B3B3B"/>
                </a:solidFill>
              </a:rPr>
              <a:t>mới</a:t>
            </a:r>
            <a:r>
              <a:rPr lang="en-US">
                <a:solidFill>
                  <a:srgbClr val="3B3B3B"/>
                </a:solidFill>
              </a:rPr>
              <a:t> </a:t>
            </a:r>
            <a:r>
              <a:rPr lang="en-US" err="1">
                <a:solidFill>
                  <a:srgbClr val="3B3B3B"/>
                </a:solidFill>
              </a:rPr>
              <a:t>giảm</a:t>
            </a:r>
            <a:r>
              <a:rPr lang="en-US">
                <a:solidFill>
                  <a:srgbClr val="3B3B3B"/>
                </a:solidFill>
              </a:rPr>
              <a:t> </a:t>
            </a:r>
            <a:r>
              <a:rPr lang="en-US" err="1">
                <a:solidFill>
                  <a:srgbClr val="3B3B3B"/>
                </a:solidFill>
              </a:rPr>
              <a:t>giá</a:t>
            </a:r>
            <a:r>
              <a:rPr lang="en-US">
                <a:solidFill>
                  <a:srgbClr val="3B3B3B"/>
                </a:solidFill>
              </a:rPr>
              <a:t> </a:t>
            </a:r>
            <a:r>
              <a:rPr lang="en-US" err="1">
                <a:solidFill>
                  <a:srgbClr val="3B3B3B"/>
                </a:solidFill>
              </a:rPr>
              <a:t>trị</a:t>
            </a:r>
            <a:r>
              <a:rPr lang="en-US">
                <a:solidFill>
                  <a:srgbClr val="3B3B3B"/>
                </a:solidFill>
              </a:rPr>
              <a:t> </a:t>
            </a:r>
            <a:r>
              <a:rPr lang="en-US">
                <a:solidFill>
                  <a:srgbClr val="800000"/>
                </a:solidFill>
              </a:rPr>
              <a:t>`length`</a:t>
            </a:r>
            <a:r>
              <a:rPr lang="en-US">
                <a:solidFill>
                  <a:srgbClr val="3B3B3B"/>
                </a:solidFill>
              </a:rPr>
              <a:t>. </a:t>
            </a:r>
            <a:r>
              <a:rPr lang="en-US" err="1">
                <a:solidFill>
                  <a:srgbClr val="3B3B3B"/>
                </a:solidFill>
              </a:rPr>
              <a:t>Điều</a:t>
            </a:r>
            <a:r>
              <a:rPr lang="en-US">
                <a:solidFill>
                  <a:srgbClr val="3B3B3B"/>
                </a:solidFill>
              </a:rPr>
              <a:t> </a:t>
            </a:r>
            <a:r>
              <a:rPr lang="en-US" err="1">
                <a:solidFill>
                  <a:srgbClr val="3B3B3B"/>
                </a:solidFill>
              </a:rPr>
              <a:t>này</a:t>
            </a:r>
            <a:r>
              <a:rPr lang="en-US">
                <a:solidFill>
                  <a:srgbClr val="3B3B3B"/>
                </a:solidFill>
              </a:rPr>
              <a:t> </a:t>
            </a:r>
            <a:r>
              <a:rPr lang="en-US" err="1">
                <a:solidFill>
                  <a:srgbClr val="3B3B3B"/>
                </a:solidFill>
              </a:rPr>
              <a:t>dẫn</a:t>
            </a:r>
            <a:r>
              <a:rPr lang="en-US">
                <a:solidFill>
                  <a:srgbClr val="3B3B3B"/>
                </a:solidFill>
              </a:rPr>
              <a:t> </a:t>
            </a:r>
            <a:r>
              <a:rPr lang="en-US" err="1">
                <a:solidFill>
                  <a:srgbClr val="3B3B3B"/>
                </a:solidFill>
              </a:rPr>
              <a:t>đến</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đọc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rác</a:t>
            </a:r>
            <a:r>
              <a:rPr lang="en-US">
                <a:solidFill>
                  <a:srgbClr val="3B3B3B"/>
                </a:solidFill>
              </a:rPr>
              <a:t> </a:t>
            </a:r>
            <a:r>
              <a:rPr lang="en-US" err="1">
                <a:solidFill>
                  <a:srgbClr val="3B3B3B"/>
                </a:solidFill>
              </a:rPr>
              <a:t>hoặc</a:t>
            </a:r>
            <a:r>
              <a:rPr lang="en-US">
                <a:solidFill>
                  <a:srgbClr val="3B3B3B"/>
                </a:solidFill>
              </a:rPr>
              <a:t> </a:t>
            </a:r>
            <a:r>
              <a:rPr lang="en-US" err="1">
                <a:solidFill>
                  <a:srgbClr val="3B3B3B"/>
                </a:solidFill>
              </a:rPr>
              <a:t>dữ</a:t>
            </a:r>
            <a:r>
              <a:rPr lang="en-US">
                <a:solidFill>
                  <a:srgbClr val="3B3B3B"/>
                </a:solidFill>
              </a:rPr>
              <a:t> </a:t>
            </a:r>
            <a:r>
              <a:rPr lang="en-US" err="1">
                <a:solidFill>
                  <a:srgbClr val="3B3B3B"/>
                </a:solidFill>
              </a:rPr>
              <a:t>liệu</a:t>
            </a:r>
            <a:r>
              <a:rPr lang="en-US">
                <a:solidFill>
                  <a:srgbClr val="3B3B3B"/>
                </a:solidFill>
              </a:rPr>
              <a:t> </a:t>
            </a:r>
            <a:r>
              <a:rPr lang="en-US" err="1">
                <a:solidFill>
                  <a:srgbClr val="3B3B3B"/>
                </a:solidFill>
              </a:rPr>
              <a:t>không</a:t>
            </a:r>
            <a:r>
              <a:rPr lang="en-US">
                <a:solidFill>
                  <a:srgbClr val="3B3B3B"/>
                </a:solidFill>
              </a:rPr>
              <a:t> </a:t>
            </a:r>
            <a:r>
              <a:rPr lang="en-US" err="1">
                <a:solidFill>
                  <a:srgbClr val="3B3B3B"/>
                </a:solidFill>
              </a:rPr>
              <a:t>thuộc</a:t>
            </a:r>
            <a:r>
              <a:rPr lang="en-US">
                <a:solidFill>
                  <a:srgbClr val="3B3B3B"/>
                </a:solidFill>
              </a:rPr>
              <a:t> </a:t>
            </a:r>
            <a:r>
              <a:rPr lang="en-US" err="1">
                <a:solidFill>
                  <a:srgbClr val="3B3B3B"/>
                </a:solidFill>
              </a:rPr>
              <a:t>quyền</a:t>
            </a:r>
            <a:r>
              <a:rPr lang="en-US">
                <a:solidFill>
                  <a:srgbClr val="3B3B3B"/>
                </a:solidFill>
              </a:rPr>
              <a:t> </a:t>
            </a:r>
            <a:r>
              <a:rPr lang="en-US" err="1">
                <a:solidFill>
                  <a:srgbClr val="3B3B3B"/>
                </a:solidFill>
              </a:rPr>
              <a:t>quản</a:t>
            </a:r>
            <a:r>
              <a:rPr lang="en-US">
                <a:solidFill>
                  <a:srgbClr val="3B3B3B"/>
                </a:solidFill>
              </a:rPr>
              <a:t> </a:t>
            </a:r>
            <a:r>
              <a:rPr lang="en-US" err="1">
                <a:solidFill>
                  <a:srgbClr val="3B3B3B"/>
                </a:solidFill>
              </a:rPr>
              <a:t>lý</a:t>
            </a:r>
            <a:r>
              <a:rPr lang="en-US">
                <a:solidFill>
                  <a:srgbClr val="3B3B3B"/>
                </a:solidFill>
              </a:rPr>
              <a:t> </a:t>
            </a:r>
            <a:r>
              <a:rPr lang="en-US" err="1">
                <a:solidFill>
                  <a:srgbClr val="3B3B3B"/>
                </a:solidFill>
              </a:rPr>
              <a:t>của</a:t>
            </a:r>
            <a:r>
              <a:rPr lang="en-US">
                <a:solidFill>
                  <a:srgbClr val="3B3B3B"/>
                </a:solidFill>
              </a:rPr>
              <a:t> </a:t>
            </a:r>
            <a:r>
              <a:rPr lang="en-US" err="1">
                <a:solidFill>
                  <a:srgbClr val="3B3B3B"/>
                </a:solidFill>
              </a:rPr>
              <a:t>mảng</a:t>
            </a:r>
            <a:r>
              <a:rPr lang="en-US">
                <a:solidFill>
                  <a:srgbClr val="3B3B3B"/>
                </a:solidFill>
              </a:rPr>
              <a:t> </a:t>
            </a:r>
            <a:r>
              <a:rPr lang="en-US" err="1">
                <a:solidFill>
                  <a:srgbClr val="3B3B3B"/>
                </a:solidFill>
              </a:rPr>
              <a:t>đó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**Hậu </a:t>
            </a:r>
            <a:r>
              <a:rPr lang="en-US" b="1" err="1">
                <a:solidFill>
                  <a:srgbClr val="000080"/>
                </a:solidFill>
              </a:rPr>
              <a:t>quả</a:t>
            </a:r>
            <a:r>
              <a:rPr lang="en-US" b="1">
                <a:solidFill>
                  <a:srgbClr val="000080"/>
                </a:solidFill>
              </a:rPr>
              <a:t>**</a:t>
            </a:r>
            <a:r>
              <a:rPr lang="en-US">
                <a:solidFill>
                  <a:srgbClr val="3B3B3B"/>
                </a:solidFill>
              </a:rPr>
              <a:t>: </a:t>
            </a:r>
            <a:r>
              <a:rPr lang="en-US">
                <a:solidFill>
                  <a:srgbClr val="800000"/>
                </a:solidFill>
              </a:rPr>
              <a:t>`free()`</a:t>
            </a:r>
            <a:r>
              <a:rPr lang="en-US">
                <a:solidFill>
                  <a:srgbClr val="3B3B3B"/>
                </a:solidFill>
              </a:rPr>
              <a:t> </a:t>
            </a:r>
            <a:r>
              <a:rPr lang="en-US" err="1">
                <a:solidFill>
                  <a:srgbClr val="3B3B3B"/>
                </a:solidFill>
              </a:rPr>
              <a:t>yêu</a:t>
            </a:r>
            <a:r>
              <a:rPr lang="en-US">
                <a:solidFill>
                  <a:srgbClr val="3B3B3B"/>
                </a:solidFill>
              </a:rPr>
              <a:t> </a:t>
            </a:r>
            <a:r>
              <a:rPr lang="en-US" err="1">
                <a:solidFill>
                  <a:srgbClr val="3B3B3B"/>
                </a:solidFill>
              </a:rPr>
              <a:t>cầu</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phải</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chính</a:t>
            </a:r>
            <a:r>
              <a:rPr lang="en-US">
                <a:solidFill>
                  <a:srgbClr val="3B3B3B"/>
                </a:solidFill>
              </a:rPr>
              <a:t> </a:t>
            </a:r>
            <a:r>
              <a:rPr lang="en-US" err="1">
                <a:solidFill>
                  <a:srgbClr val="3B3B3B"/>
                </a:solidFill>
              </a:rPr>
              <a:t>xác</a:t>
            </a:r>
            <a:r>
              <a:rPr lang="en-US">
                <a:solidFill>
                  <a:srgbClr val="3B3B3B"/>
                </a:solidFill>
              </a:rPr>
              <a:t> </a:t>
            </a:r>
            <a:r>
              <a:rPr lang="en-US" err="1">
                <a:solidFill>
                  <a:srgbClr val="3B3B3B"/>
                </a:solidFill>
              </a:rPr>
              <a:t>vào</a:t>
            </a:r>
            <a:r>
              <a:rPr lang="en-US">
                <a:solidFill>
                  <a:srgbClr val="3B3B3B"/>
                </a:solidFill>
              </a:rPr>
              <a:t> </a:t>
            </a:r>
            <a:r>
              <a:rPr lang="en-US" err="1">
                <a:solidFill>
                  <a:srgbClr val="3B3B3B"/>
                </a:solidFill>
              </a:rPr>
              <a:t>đầu</a:t>
            </a:r>
            <a:r>
              <a:rPr lang="en-US">
                <a:solidFill>
                  <a:srgbClr val="3B3B3B"/>
                </a:solidFill>
              </a:rPr>
              <a:t> </a:t>
            </a:r>
            <a:r>
              <a:rPr lang="en-US" err="1">
                <a:solidFill>
                  <a:srgbClr val="3B3B3B"/>
                </a:solidFill>
              </a:rPr>
              <a:t>vùng</a:t>
            </a:r>
            <a:r>
              <a:rPr lang="en-US">
                <a:solidFill>
                  <a:srgbClr val="3B3B3B"/>
                </a:solidFill>
              </a:rPr>
              <a:t> </a:t>
            </a:r>
            <a:r>
              <a:rPr lang="en-US" err="1">
                <a:solidFill>
                  <a:srgbClr val="3B3B3B"/>
                </a:solidFill>
              </a:rPr>
              <a:t>nhớ</a:t>
            </a:r>
            <a:r>
              <a:rPr lang="en-US">
                <a:solidFill>
                  <a:srgbClr val="3B3B3B"/>
                </a:solidFill>
              </a:rPr>
              <a:t> </a:t>
            </a:r>
            <a:r>
              <a:rPr lang="en-US" err="1">
                <a:solidFill>
                  <a:srgbClr val="3B3B3B"/>
                </a:solidFill>
              </a:rPr>
              <a:t>được</a:t>
            </a:r>
            <a:r>
              <a:rPr lang="en-US">
                <a:solidFill>
                  <a:srgbClr val="3B3B3B"/>
                </a:solidFill>
              </a:rPr>
              <a:t> </a:t>
            </a:r>
            <a:r>
              <a:rPr lang="en-US" err="1">
                <a:solidFill>
                  <a:srgbClr val="3B3B3B"/>
                </a:solidFill>
              </a:rPr>
              <a:t>cấp</a:t>
            </a:r>
            <a:r>
              <a:rPr lang="en-US">
                <a:solidFill>
                  <a:srgbClr val="3B3B3B"/>
                </a:solidFill>
              </a:rPr>
              <a:t> </a:t>
            </a:r>
            <a:r>
              <a:rPr lang="en-US" err="1">
                <a:solidFill>
                  <a:srgbClr val="3B3B3B"/>
                </a:solidFill>
              </a:rPr>
              <a:t>phát</a:t>
            </a:r>
            <a:r>
              <a:rPr lang="en-US">
                <a:solidFill>
                  <a:srgbClr val="3B3B3B"/>
                </a:solidFill>
              </a:rPr>
              <a:t> </a:t>
            </a:r>
            <a:r>
              <a:rPr lang="en-US" err="1">
                <a:solidFill>
                  <a:srgbClr val="3B3B3B"/>
                </a:solidFill>
              </a:rPr>
              <a:t>bởi</a:t>
            </a:r>
            <a:r>
              <a:rPr lang="en-US">
                <a:solidFill>
                  <a:srgbClr val="3B3B3B"/>
                </a:solidFill>
              </a:rPr>
              <a:t> </a:t>
            </a:r>
            <a:r>
              <a:rPr lang="en-US">
                <a:solidFill>
                  <a:srgbClr val="800000"/>
                </a:solidFill>
              </a:rPr>
              <a:t>`malloc()`</a:t>
            </a:r>
            <a:r>
              <a:rPr lang="en-US">
                <a:solidFill>
                  <a:srgbClr val="3B3B3B"/>
                </a:solidFill>
              </a:rPr>
              <a:t>. </a:t>
            </a:r>
            <a:r>
              <a:rPr lang="en-US" err="1">
                <a:solidFill>
                  <a:srgbClr val="3B3B3B"/>
                </a:solidFill>
              </a:rPr>
              <a:t>Việc</a:t>
            </a:r>
            <a:r>
              <a:rPr lang="en-US">
                <a:solidFill>
                  <a:srgbClr val="3B3B3B"/>
                </a:solidFill>
              </a:rPr>
              <a:t> </a:t>
            </a:r>
            <a:r>
              <a:rPr lang="en-US" err="1">
                <a:solidFill>
                  <a:srgbClr val="3B3B3B"/>
                </a:solidFill>
              </a:rPr>
              <a:t>truyền</a:t>
            </a:r>
            <a:r>
              <a:rPr lang="en-US">
                <a:solidFill>
                  <a:srgbClr val="3B3B3B"/>
                </a:solidFill>
              </a:rPr>
              <a:t> </a:t>
            </a:r>
            <a:r>
              <a:rPr lang="en-US" err="1">
                <a:solidFill>
                  <a:srgbClr val="3B3B3B"/>
                </a:solidFill>
              </a:rPr>
              <a:t>một</a:t>
            </a:r>
            <a:r>
              <a:rPr lang="en-US">
                <a:solidFill>
                  <a:srgbClr val="3B3B3B"/>
                </a:solidFill>
              </a:rPr>
              <a:t> con </a:t>
            </a:r>
            <a:r>
              <a:rPr lang="en-US" err="1">
                <a:solidFill>
                  <a:srgbClr val="3B3B3B"/>
                </a:solidFill>
              </a:rPr>
              <a:t>trỏ</a:t>
            </a:r>
            <a:r>
              <a:rPr lang="en-US">
                <a:solidFill>
                  <a:srgbClr val="3B3B3B"/>
                </a:solidFill>
              </a:rPr>
              <a:t> </a:t>
            </a:r>
            <a:r>
              <a:rPr lang="en-US" err="1">
                <a:solidFill>
                  <a:srgbClr val="3B3B3B"/>
                </a:solidFill>
              </a:rPr>
              <a:t>sai</a:t>
            </a:r>
            <a:r>
              <a:rPr lang="en-US">
                <a:solidFill>
                  <a:srgbClr val="3B3B3B"/>
                </a:solidFill>
              </a:rPr>
              <a:t> </a:t>
            </a:r>
            <a:r>
              <a:rPr lang="en-US" err="1">
                <a:solidFill>
                  <a:srgbClr val="3B3B3B"/>
                </a:solidFill>
              </a:rPr>
              <a:t>lệch</a:t>
            </a:r>
            <a:r>
              <a:rPr lang="en-US">
                <a:solidFill>
                  <a:srgbClr val="3B3B3B"/>
                </a:solidFill>
              </a:rPr>
              <a:t> (</a:t>
            </a:r>
            <a:r>
              <a:rPr lang="en-US" err="1">
                <a:solidFill>
                  <a:srgbClr val="3B3B3B"/>
                </a:solidFill>
              </a:rPr>
              <a:t>trỏ</a:t>
            </a:r>
            <a:r>
              <a:rPr lang="en-US">
                <a:solidFill>
                  <a:srgbClr val="3B3B3B"/>
                </a:solidFill>
              </a:rPr>
              <a:t> </a:t>
            </a:r>
            <a:r>
              <a:rPr lang="en-US" err="1">
                <a:solidFill>
                  <a:srgbClr val="3B3B3B"/>
                </a:solidFill>
              </a:rPr>
              <a:t>vào</a:t>
            </a:r>
            <a:r>
              <a:rPr lang="en-US">
                <a:solidFill>
                  <a:srgbClr val="3B3B3B"/>
                </a:solidFill>
              </a:rPr>
              <a:t> redzone </a:t>
            </a:r>
            <a:r>
              <a:rPr lang="en-US" err="1">
                <a:solidFill>
                  <a:srgbClr val="3B3B3B"/>
                </a:solidFill>
              </a:rPr>
              <a:t>hoặc</a:t>
            </a:r>
            <a:r>
              <a:rPr lang="en-US">
                <a:solidFill>
                  <a:srgbClr val="3B3B3B"/>
                </a:solidFill>
              </a:rPr>
              <a:t> metadata </a:t>
            </a:r>
            <a:r>
              <a:rPr lang="en-US" err="1">
                <a:solidFill>
                  <a:srgbClr val="3B3B3B"/>
                </a:solidFill>
              </a:rPr>
              <a:t>của</a:t>
            </a:r>
            <a:r>
              <a:rPr lang="en-US">
                <a:solidFill>
                  <a:srgbClr val="3B3B3B"/>
                </a:solidFill>
              </a:rPr>
              <a:t> allocator) </a:t>
            </a:r>
            <a:r>
              <a:rPr lang="en-US" err="1">
                <a:solidFill>
                  <a:srgbClr val="3B3B3B"/>
                </a:solidFill>
              </a:rPr>
              <a:t>sẽ</a:t>
            </a:r>
            <a:r>
              <a:rPr lang="en-US">
                <a:solidFill>
                  <a:srgbClr val="3B3B3B"/>
                </a:solidFill>
              </a:rPr>
              <a:t> </a:t>
            </a:r>
            <a:r>
              <a:rPr lang="en-US" err="1">
                <a:solidFill>
                  <a:srgbClr val="3B3B3B"/>
                </a:solidFill>
              </a:rPr>
              <a:t>gây</a:t>
            </a:r>
            <a:r>
              <a:rPr lang="en-US">
                <a:solidFill>
                  <a:srgbClr val="3B3B3B"/>
                </a:solidFill>
              </a:rPr>
              <a:t> </a:t>
            </a:r>
            <a:r>
              <a:rPr lang="en-US" err="1">
                <a:solidFill>
                  <a:srgbClr val="3B3B3B"/>
                </a:solidFill>
              </a:rPr>
              <a:t>ra</a:t>
            </a:r>
            <a:r>
              <a:rPr lang="en-US">
                <a:solidFill>
                  <a:srgbClr val="3B3B3B"/>
                </a:solidFill>
              </a:rPr>
              <a:t> </a:t>
            </a:r>
            <a:r>
              <a:rPr lang="en-US" err="1">
                <a:solidFill>
                  <a:srgbClr val="3B3B3B"/>
                </a:solidFill>
              </a:rPr>
              <a:t>lỗi</a:t>
            </a:r>
            <a:r>
              <a:rPr lang="en-US">
                <a:solidFill>
                  <a:srgbClr val="3B3B3B"/>
                </a:solidFill>
              </a:rPr>
              <a:t> Invalid Free </a:t>
            </a:r>
            <a:r>
              <a:rPr lang="en-US" err="1">
                <a:solidFill>
                  <a:srgbClr val="3B3B3B"/>
                </a:solidFill>
              </a:rPr>
              <a:t>hoặc</a:t>
            </a:r>
            <a:r>
              <a:rPr lang="en-US">
                <a:solidFill>
                  <a:srgbClr val="3B3B3B"/>
                </a:solidFill>
              </a:rPr>
              <a:t> </a:t>
            </a:r>
            <a:r>
              <a:rPr lang="en-US" err="1">
                <a:solidFill>
                  <a:srgbClr val="3B3B3B"/>
                </a:solidFill>
              </a:rPr>
              <a:t>làm</a:t>
            </a:r>
            <a:r>
              <a:rPr lang="en-US">
                <a:solidFill>
                  <a:srgbClr val="3B3B3B"/>
                </a:solidFill>
              </a:rPr>
              <a:t> </a:t>
            </a:r>
            <a:r>
              <a:rPr lang="en-US" err="1">
                <a:solidFill>
                  <a:srgbClr val="3B3B3B"/>
                </a:solidFill>
              </a:rPr>
              <a:t>hỏng</a:t>
            </a:r>
            <a:r>
              <a:rPr lang="en-US">
                <a:solidFill>
                  <a:srgbClr val="3B3B3B"/>
                </a:solidFill>
              </a:rPr>
              <a:t> </a:t>
            </a:r>
            <a:r>
              <a:rPr lang="en-US" err="1">
                <a:solidFill>
                  <a:srgbClr val="3B3B3B"/>
                </a:solidFill>
              </a:rPr>
              <a:t>cấu</a:t>
            </a:r>
            <a:r>
              <a:rPr lang="en-US">
                <a:solidFill>
                  <a:srgbClr val="3B3B3B"/>
                </a:solidFill>
              </a:rPr>
              <a:t> </a:t>
            </a:r>
            <a:r>
              <a:rPr lang="en-US" err="1">
                <a:solidFill>
                  <a:srgbClr val="3B3B3B"/>
                </a:solidFill>
              </a:rPr>
              <a:t>trúc</a:t>
            </a:r>
            <a:r>
              <a:rPr lang="en-US">
                <a:solidFill>
                  <a:srgbClr val="3B3B3B"/>
                </a:solidFill>
              </a:rPr>
              <a:t> heap (heap corruption).</a:t>
            </a:r>
            <a:endParaRPr lang="en-US"/>
          </a:p>
          <a:p>
            <a:br>
              <a:rPr lang="en-US"/>
            </a:br>
            <a:endParaRPr lang="en-US"/>
          </a:p>
          <a:p>
            <a:r>
              <a:rPr lang="en-US">
                <a:solidFill>
                  <a:srgbClr val="0451A5"/>
                </a:solidFill>
              </a:rPr>
              <a:t>-</a:t>
            </a:r>
            <a:r>
              <a:rPr lang="en-US">
                <a:solidFill>
                  <a:srgbClr val="3B3B3B"/>
                </a:solidFill>
              </a:rPr>
              <a:t> </a:t>
            </a:r>
            <a:r>
              <a:rPr lang="en-US" b="1">
                <a:solidFill>
                  <a:srgbClr val="000080"/>
                </a:solidFill>
              </a:rPr>
              <a:t>**</a:t>
            </a:r>
            <a:r>
              <a:rPr lang="en-US" b="1" err="1">
                <a:solidFill>
                  <a:srgbClr val="000080"/>
                </a:solidFill>
              </a:rPr>
              <a:t>Cách</a:t>
            </a:r>
            <a:r>
              <a:rPr lang="en-US" b="1">
                <a:solidFill>
                  <a:srgbClr val="000080"/>
                </a:solidFill>
              </a:rPr>
              <a:t> </a:t>
            </a:r>
            <a:r>
              <a:rPr lang="en-US" b="1" err="1">
                <a:solidFill>
                  <a:srgbClr val="000080"/>
                </a:solidFill>
              </a:rPr>
              <a:t>kích</a:t>
            </a:r>
            <a:r>
              <a:rPr lang="en-US" b="1">
                <a:solidFill>
                  <a:srgbClr val="000080"/>
                </a:solidFill>
              </a:rPr>
              <a:t> </a:t>
            </a:r>
            <a:r>
              <a:rPr lang="en-US" b="1" err="1">
                <a:solidFill>
                  <a:srgbClr val="000080"/>
                </a:solidFill>
              </a:rPr>
              <a:t>hoạt</a:t>
            </a:r>
            <a:r>
              <a:rPr lang="en-US" b="1">
                <a:solidFill>
                  <a:srgbClr val="000080"/>
                </a:solidFill>
              </a:rPr>
              <a:t>**</a:t>
            </a:r>
            <a:r>
              <a:rPr lang="en-US">
                <a:solidFill>
                  <a:srgbClr val="3B3B3B"/>
                </a:solidFill>
              </a:rPr>
              <a:t>: </a:t>
            </a:r>
            <a:r>
              <a:rPr lang="en-US" err="1">
                <a:solidFill>
                  <a:srgbClr val="3B3B3B"/>
                </a:solidFill>
              </a:rPr>
              <a:t>Sử</a:t>
            </a:r>
            <a:r>
              <a:rPr lang="en-US">
                <a:solidFill>
                  <a:srgbClr val="3B3B3B"/>
                </a:solidFill>
              </a:rPr>
              <a:t> </a:t>
            </a:r>
            <a:r>
              <a:rPr lang="en-US" err="1">
                <a:solidFill>
                  <a:srgbClr val="3B3B3B"/>
                </a:solidFill>
              </a:rPr>
              <a:t>dụng</a:t>
            </a:r>
            <a:r>
              <a:rPr lang="en-US">
                <a:solidFill>
                  <a:srgbClr val="3B3B3B"/>
                </a:solidFill>
              </a:rPr>
              <a:t> </a:t>
            </a:r>
            <a:r>
              <a:rPr lang="en-US" err="1">
                <a:solidFill>
                  <a:srgbClr val="3B3B3B"/>
                </a:solidFill>
              </a:rPr>
              <a:t>một</a:t>
            </a:r>
            <a:r>
              <a:rPr lang="en-US">
                <a:solidFill>
                  <a:srgbClr val="3B3B3B"/>
                </a:solidFill>
              </a:rPr>
              <a:t> </a:t>
            </a:r>
            <a:r>
              <a:rPr lang="en-US" err="1">
                <a:solidFill>
                  <a:srgbClr val="3B3B3B"/>
                </a:solidFill>
              </a:rPr>
              <a:t>đối</a:t>
            </a:r>
            <a:r>
              <a:rPr lang="en-US">
                <a:solidFill>
                  <a:srgbClr val="3B3B3B"/>
                </a:solidFill>
              </a:rPr>
              <a:t> </a:t>
            </a:r>
            <a:r>
              <a:rPr lang="en-US" err="1">
                <a:solidFill>
                  <a:srgbClr val="3B3B3B"/>
                </a:solidFill>
              </a:rPr>
              <a:t>tượng</a:t>
            </a:r>
            <a:r>
              <a:rPr lang="en-US">
                <a:solidFill>
                  <a:srgbClr val="3B3B3B"/>
                </a:solidFill>
              </a:rPr>
              <a:t> JSON </a:t>
            </a:r>
            <a:r>
              <a:rPr lang="en-US" err="1">
                <a:solidFill>
                  <a:srgbClr val="3B3B3B"/>
                </a:solidFill>
              </a:rPr>
              <a:t>hợp</a:t>
            </a:r>
            <a:r>
              <a:rPr lang="en-US">
                <a:solidFill>
                  <a:srgbClr val="3B3B3B"/>
                </a:solidFill>
              </a:rPr>
              <a:t> </a:t>
            </a:r>
            <a:r>
              <a:rPr lang="en-US" err="1">
                <a:solidFill>
                  <a:srgbClr val="3B3B3B"/>
                </a:solidFill>
              </a:rPr>
              <a:t>lệ</a:t>
            </a:r>
            <a:r>
              <a:rPr lang="en-US">
                <a:solidFill>
                  <a:srgbClr val="3B3B3B"/>
                </a:solidFill>
              </a:rPr>
              <a:t> </a:t>
            </a:r>
            <a:r>
              <a:rPr lang="en-US" err="1">
                <a:solidFill>
                  <a:srgbClr val="3B3B3B"/>
                </a:solidFill>
              </a:rPr>
              <a:t>bất</a:t>
            </a:r>
            <a:r>
              <a:rPr lang="en-US">
                <a:solidFill>
                  <a:srgbClr val="3B3B3B"/>
                </a:solidFill>
              </a:rPr>
              <a:t> </a:t>
            </a:r>
            <a:r>
              <a:rPr lang="en-US" err="1">
                <a:solidFill>
                  <a:srgbClr val="3B3B3B"/>
                </a:solidFill>
              </a:rPr>
              <a:t>kỳ</a:t>
            </a:r>
            <a:r>
              <a:rPr lang="en-US">
                <a:solidFill>
                  <a:srgbClr val="3B3B3B"/>
                </a:solidFill>
              </a:rPr>
              <a:t>.</a:t>
            </a:r>
            <a:endParaRPr lang="en-US"/>
          </a:p>
          <a:p>
            <a:br>
              <a:rPr lang="en-US"/>
            </a:br>
            <a:endParaRPr lang="en-US"/>
          </a:p>
          <a:p>
            <a:r>
              <a:rPr lang="en-US">
                <a:solidFill>
                  <a:srgbClr val="0451A5"/>
                </a:solidFill>
              </a:rPr>
              <a:t>-</a:t>
            </a:r>
            <a:r>
              <a:rPr lang="en-US">
                <a:solidFill>
                  <a:srgbClr val="3B3B3B"/>
                </a:solidFill>
              </a:rPr>
              <a:t> Payload: </a:t>
            </a:r>
            <a:r>
              <a:rPr lang="en-US">
                <a:solidFill>
                  <a:srgbClr val="800000"/>
                </a:solidFill>
              </a:rPr>
              <a:t>`{"":0}`</a:t>
            </a:r>
            <a:endParaRPr lang="en-US"/>
          </a:p>
          <a:p>
            <a:br>
              <a:rPr lang="en-US"/>
            </a:br>
            <a:endParaRPr lang="en-US"/>
          </a:p>
          <a:p>
            <a:r>
              <a:rPr lang="en-US">
                <a:solidFill>
                  <a:srgbClr val="0451A5"/>
                </a:solidFill>
              </a:rPr>
              <a:t>-</a:t>
            </a:r>
            <a:r>
              <a:rPr lang="en-US">
                <a:solidFill>
                  <a:srgbClr val="3B3B3B"/>
                </a:solidFill>
              </a:rPr>
              <a:t> File </a:t>
            </a:r>
            <a:r>
              <a:rPr lang="en-US" err="1">
                <a:solidFill>
                  <a:srgbClr val="3B3B3B"/>
                </a:solidFill>
              </a:rPr>
              <a:t>mẫu</a:t>
            </a:r>
            <a:r>
              <a:rPr lang="en-US">
                <a:solidFill>
                  <a:srgbClr val="3B3B3B"/>
                </a:solidFill>
              </a:rPr>
              <a:t>: </a:t>
            </a:r>
            <a:r>
              <a:rPr lang="en-US">
                <a:solidFill>
                  <a:srgbClr val="800000"/>
                </a:solidFill>
              </a:rPr>
              <a:t>`input-files/</a:t>
            </a:r>
            <a:r>
              <a:rPr lang="en-US" err="1">
                <a:solidFill>
                  <a:srgbClr val="800000"/>
                </a:solidFill>
              </a:rPr>
              <a:t>validObject</a:t>
            </a:r>
            <a:r>
              <a:rPr lang="en-US">
                <a:solidFill>
                  <a:srgbClr val="800000"/>
                </a:solidFill>
              </a:rPr>
              <a:t>`</a:t>
            </a:r>
            <a:r>
              <a:rPr lang="en-US">
                <a:solidFill>
                  <a:srgbClr val="3B3B3B"/>
                </a:solidFill>
              </a:rPr>
              <a:t>.</a:t>
            </a:r>
            <a:endParaRPr lang="en-US"/>
          </a:p>
          <a:p>
            <a:br>
              <a:rPr lang="en-US"/>
            </a:br>
            <a:endParaRPr lang="en-US"/>
          </a:p>
          <a:p>
            <a:endParaRPr lang="en-US"/>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816C6A80-ED09-0CD3-CEAB-591C96F909D2}"/>
              </a:ext>
            </a:extLst>
          </p:cNvPr>
          <p:cNvSpPr>
            <a:spLocks noGrp="1"/>
          </p:cNvSpPr>
          <p:nvPr>
            <p:ph type="sldNum" sz="quarter" idx="5"/>
          </p:nvPr>
        </p:nvSpPr>
        <p:spPr/>
        <p:txBody>
          <a:bodyPr/>
          <a:lstStyle/>
          <a:p>
            <a:fld id="{A9FD0793-C8D7-4125-BD72-CB052C0E0E0B}" type="slidenum">
              <a:rPr lang="en-US" smtClean="0"/>
              <a:t>79</a:t>
            </a:fld>
            <a:endParaRPr lang="en-US"/>
          </a:p>
        </p:txBody>
      </p:sp>
    </p:spTree>
    <p:extLst>
      <p:ext uri="{BB962C8B-B14F-4D97-AF65-F5344CB8AC3E}">
        <p14:creationId xmlns:p14="http://schemas.microsoft.com/office/powerpoint/2010/main" val="313793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9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4"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6"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8"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9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1"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0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9"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1"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3"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1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5"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6"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1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1"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23"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4"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5"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6"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7"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28"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3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3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3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4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4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5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6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6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7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7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7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7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9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9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0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3.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body"/>
          </p:nvPr>
        </p:nvSpPr>
        <p:spPr>
          <a:xfrm>
            <a:off x="338760" y="1058760"/>
            <a:ext cx="11514240" cy="490860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77" name="PlaceHolder 2"/>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1:……………………………………..</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91" name="PlaceHolder 1"/>
          <p:cNvSpPr>
            <a:spLocks noGrp="1"/>
          </p:cNvSpPr>
          <p:nvPr>
            <p:ph type="body"/>
          </p:nvPr>
        </p:nvSpPr>
        <p:spPr>
          <a:xfrm>
            <a:off x="4558320" y="1248480"/>
            <a:ext cx="7391160" cy="5204880"/>
          </a:xfrm>
          <a:prstGeom prst="rect">
            <a:avLst/>
          </a:prstGeom>
        </p:spPr>
        <p:txBody>
          <a:bodyPr lIns="90000" tIns="45000" rIns="90000" bIns="45000">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Lato"/>
                <a:ea typeface="Lato"/>
              </a:rPr>
              <a:t>Click to edit Master text styles</a:t>
            </a:r>
            <a:endParaRPr lang="en-US" sz="2800" b="0" strike="noStrike" spc="-1">
              <a:solidFill>
                <a:srgbClr val="000000"/>
              </a:solidFill>
              <a:latin typeface="Calibri"/>
            </a:endParaRP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Lato"/>
                <a:ea typeface="Lato"/>
              </a:rPr>
              <a:t>Second level</a:t>
            </a:r>
            <a:endParaRPr lang="en-US" sz="2400" b="0" strike="noStrike" spc="-1">
              <a:solidFill>
                <a:srgbClr val="000000"/>
              </a:solidFill>
              <a:latin typeface="Calibri"/>
            </a:endParaRP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Lato"/>
                <a:ea typeface="Lato"/>
              </a:rPr>
              <a:t>Third level</a:t>
            </a:r>
            <a:endParaRPr lang="en-US" sz="2000" b="0" strike="noStrike" spc="-1">
              <a:solidFill>
                <a:srgbClr val="000000"/>
              </a:solidFill>
              <a:latin typeface="Calibri"/>
            </a:endParaRP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Fourth level</a:t>
            </a:r>
            <a:endParaRPr lang="en-US" sz="1800" b="0" strike="noStrike" spc="-1">
              <a:solidFill>
                <a:srgbClr val="000000"/>
              </a:solidFill>
              <a:latin typeface="Calibri"/>
            </a:endParaRP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Lato"/>
                <a:ea typeface="Lato"/>
              </a:rPr>
              <a:t>Fifth level</a:t>
            </a:r>
            <a:endParaRPr lang="en-US" sz="1800" b="0" strike="noStrike" spc="-1">
              <a:solidFill>
                <a:srgbClr val="000000"/>
              </a:solidFill>
              <a:latin typeface="Calibri"/>
            </a:endParaRPr>
          </a:p>
        </p:txBody>
      </p:sp>
      <p:sp>
        <p:nvSpPr>
          <p:cNvPr id="192" name="PlaceHolder 2"/>
          <p:cNvSpPr>
            <a:spLocks noGrp="1"/>
          </p:cNvSpPr>
          <p:nvPr>
            <p:ph type="title"/>
          </p:nvPr>
        </p:nvSpPr>
        <p:spPr>
          <a:xfrm>
            <a:off x="4558320" y="404280"/>
            <a:ext cx="7391160" cy="435600"/>
          </a:xfrm>
          <a:prstGeom prst="rect">
            <a:avLst/>
          </a:prstGeom>
        </p:spPr>
        <p:txBody>
          <a:bodyPr lIns="90000" tIns="45000" rIns="90000" bIns="45000">
            <a:noAutofit/>
          </a:bodyPr>
          <a:lstStyle/>
          <a:p>
            <a:pPr>
              <a:lnSpc>
                <a:spcPct val="90000"/>
              </a:lnSpc>
            </a:pPr>
            <a:r>
              <a:rPr lang="en-US" sz="2800" b="1" strike="noStrike" spc="-1">
                <a:solidFill>
                  <a:srgbClr val="000000"/>
                </a:solidFill>
                <a:latin typeface="Lato"/>
                <a:ea typeface="Lato"/>
              </a:rPr>
              <a:t>Title 4:……………………………………..</a:t>
            </a:r>
            <a:endParaRPr lang="en-US" sz="2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29" name="PlaceHolder 1"/>
          <p:cNvSpPr>
            <a:spLocks noGrp="1"/>
          </p:cNvSpPr>
          <p:nvPr>
            <p:ph type="title"/>
          </p:nvPr>
        </p:nvSpPr>
        <p:spPr>
          <a:xfrm>
            <a:off x="338760" y="112680"/>
            <a:ext cx="11514240" cy="435600"/>
          </a:xfrm>
          <a:prstGeom prst="rect">
            <a:avLst/>
          </a:prstGeom>
        </p:spPr>
        <p:txBody>
          <a:bodyPr lIns="90000" tIns="45000" rIns="90000" bIns="45000">
            <a:noAutofit/>
          </a:bodyPr>
          <a:lstStyle/>
          <a:p>
            <a:pPr>
              <a:lnSpc>
                <a:spcPct val="90000"/>
              </a:lnSpc>
            </a:pPr>
            <a:r>
              <a:rPr lang="en-US" sz="2800" b="1" strike="noStrike" spc="-1">
                <a:solidFill>
                  <a:srgbClr val="FFFFFF"/>
                </a:solidFill>
                <a:latin typeface="Lato"/>
                <a:ea typeface="Lato"/>
              </a:rPr>
              <a:t>Title 5:……………………………………..</a:t>
            </a:r>
            <a:endParaRPr lang="en-US" sz="2800" b="0" strike="noStrike" spc="-1">
              <a:solidFill>
                <a:srgbClr val="000000"/>
              </a:solidFill>
              <a:latin typeface="Calibri"/>
            </a:endParaRPr>
          </a:p>
        </p:txBody>
      </p:sp>
      <p:sp>
        <p:nvSpPr>
          <p:cNvPr id="230" name="PlaceHolder 2"/>
          <p:cNvSpPr>
            <a:spLocks noGrp="1"/>
          </p:cNvSpPr>
          <p:nvPr>
            <p:ph type="body"/>
          </p:nvPr>
        </p:nvSpPr>
        <p:spPr>
          <a:xfrm>
            <a:off x="338760" y="1406520"/>
            <a:ext cx="5756760" cy="46699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Chart</a:t>
            </a:r>
            <a:endParaRPr lang="en-US" sz="1800" b="0" strike="noStrike" spc="-1">
              <a:solidFill>
                <a:srgbClr val="000000"/>
              </a:solidFill>
              <a:latin typeface="Calibri"/>
            </a:endParaRPr>
          </a:p>
        </p:txBody>
      </p:sp>
      <p:sp>
        <p:nvSpPr>
          <p:cNvPr id="231" name="PlaceHolder 3"/>
          <p:cNvSpPr>
            <a:spLocks noGrp="1"/>
          </p:cNvSpPr>
          <p:nvPr>
            <p:ph type="body"/>
          </p:nvPr>
        </p:nvSpPr>
        <p:spPr>
          <a:xfrm>
            <a:off x="6210360" y="1392120"/>
            <a:ext cx="5592240" cy="4684320"/>
          </a:xfrm>
          <a:prstGeom prst="rect">
            <a:avLst/>
          </a:prstGeom>
        </p:spPr>
        <p:txBody>
          <a:bodyPr lIns="90000" tIns="45000" rIns="90000" bIns="45000">
            <a:noAutofit/>
          </a:bodyPr>
          <a:lstStyle/>
          <a:p>
            <a:pPr>
              <a:lnSpc>
                <a:spcPct val="100000"/>
              </a:lnSpc>
            </a:pPr>
            <a:r>
              <a:rPr lang="en-US" sz="1800" b="0" strike="noStrike" spc="-1">
                <a:solidFill>
                  <a:srgbClr val="000000"/>
                </a:solidFill>
                <a:latin typeface="Lato"/>
                <a:ea typeface="Lato"/>
              </a:rPr>
              <a:t>Table</a:t>
            </a:r>
            <a:endParaRPr lang="en-US" sz="18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000000"/>
                </a:solidFill>
                <a:latin typeface="Calibri"/>
              </a:rPr>
              <a:t>Click to edit the title text format</a:t>
            </a:r>
          </a:p>
        </p:txBody>
      </p:sp>
      <p:sp>
        <p:nvSpPr>
          <p:cNvPr id="26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8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3.xml"/><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4.xml"/><Relationship Id="rId1" Type="http://schemas.openxmlformats.org/officeDocument/2006/relationships/slideLayout" Target="../slideLayouts/slideLayout37.xml"/><Relationship Id="rId4" Type="http://schemas.openxmlformats.org/officeDocument/2006/relationships/image" Target="../media/image40.png"/></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5.xml"/><Relationship Id="rId1" Type="http://schemas.openxmlformats.org/officeDocument/2006/relationships/slideLayout" Target="../slideLayouts/slideLayout37.xml"/><Relationship Id="rId4" Type="http://schemas.openxmlformats.org/officeDocument/2006/relationships/image" Target="../media/image40.png"/></Relationships>
</file>

<file path=ppt/slides/_rels/slide6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6.xml"/><Relationship Id="rId1" Type="http://schemas.openxmlformats.org/officeDocument/2006/relationships/slideLayout" Target="../slideLayouts/slideLayout37.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7.xml"/><Relationship Id="rId1" Type="http://schemas.openxmlformats.org/officeDocument/2006/relationships/slideLayout" Target="../slideLayouts/slideLayout37.xml"/><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8.xml"/><Relationship Id="rId1" Type="http://schemas.openxmlformats.org/officeDocument/2006/relationships/slideLayout" Target="../slideLayouts/slideLayout37.xml"/></Relationships>
</file>

<file path=ppt/slides/_rels/slide6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9.xml"/><Relationship Id="rId1" Type="http://schemas.openxmlformats.org/officeDocument/2006/relationships/slideLayout" Target="../slideLayouts/slideLayout37.xml"/></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0.xml"/><Relationship Id="rId1" Type="http://schemas.openxmlformats.org/officeDocument/2006/relationships/slideLayout" Target="../slideLayouts/slideLayout37.xml"/></Relationships>
</file>

<file path=ppt/slides/_rels/slide6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1.xml"/><Relationship Id="rId1" Type="http://schemas.openxmlformats.org/officeDocument/2006/relationships/slideLayout" Target="../slideLayouts/slideLayout37.xml"/></Relationships>
</file>

<file path=ppt/slides/_rels/slide6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2.xml"/><Relationship Id="rId1" Type="http://schemas.openxmlformats.org/officeDocument/2006/relationships/slideLayout" Target="../slideLayouts/slideLayout37.xml"/><Relationship Id="rId4" Type="http://schemas.openxmlformats.org/officeDocument/2006/relationships/image" Target="../media/image46.png"/></Relationships>
</file>

<file path=ppt/slides/_rels/slide7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37.xml"/></Relationships>
</file>

<file path=ppt/slides/_rels/slide7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4.xml"/><Relationship Id="rId1" Type="http://schemas.openxmlformats.org/officeDocument/2006/relationships/slideLayout" Target="../slideLayouts/slideLayout37.xml"/></Relationships>
</file>

<file path=ppt/slides/_rels/slide7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5.xml"/><Relationship Id="rId1" Type="http://schemas.openxmlformats.org/officeDocument/2006/relationships/slideLayout" Target="../slideLayouts/slideLayout37.xml"/><Relationship Id="rId4" Type="http://schemas.openxmlformats.org/officeDocument/2006/relationships/image" Target="../media/image49.png"/></Relationships>
</file>

<file path=ppt/slides/_rels/slide7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6.xml"/><Relationship Id="rId1" Type="http://schemas.openxmlformats.org/officeDocument/2006/relationships/slideLayout" Target="../slideLayouts/slideLayout37.xml"/><Relationship Id="rId4" Type="http://schemas.openxmlformats.org/officeDocument/2006/relationships/image" Target="../media/image51.png"/></Relationships>
</file>

<file path=ppt/slides/_rels/slide7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7.xml"/><Relationship Id="rId1" Type="http://schemas.openxmlformats.org/officeDocument/2006/relationships/slideLayout" Target="../slideLayouts/slideLayout37.xml"/></Relationships>
</file>

<file path=ppt/slides/_rels/slide7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8.xml"/><Relationship Id="rId1" Type="http://schemas.openxmlformats.org/officeDocument/2006/relationships/slideLayout" Target="../slideLayouts/slideLayout37.xml"/><Relationship Id="rId4" Type="http://schemas.openxmlformats.org/officeDocument/2006/relationships/image" Target="../media/image53.png"/></Relationships>
</file>

<file path=ppt/slides/_rels/slide7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9.xml"/><Relationship Id="rId1" Type="http://schemas.openxmlformats.org/officeDocument/2006/relationships/slideLayout" Target="../slideLayouts/slideLayout37.xml"/><Relationship Id="rId4" Type="http://schemas.openxmlformats.org/officeDocument/2006/relationships/image" Target="../media/image53.png"/></Relationships>
</file>

<file path=ppt/slides/_rels/slide7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0.xml"/><Relationship Id="rId1" Type="http://schemas.openxmlformats.org/officeDocument/2006/relationships/slideLayout" Target="../slideLayouts/slideLayout37.xml"/></Relationships>
</file>

<file path=ppt/slides/_rels/slide7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1.xml"/><Relationship Id="rId1" Type="http://schemas.openxmlformats.org/officeDocument/2006/relationships/slideLayout" Target="../slideLayouts/slideLayout37.xml"/></Relationships>
</file>

<file path=ppt/slides/_rels/slide7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2.xml"/><Relationship Id="rId1" Type="http://schemas.openxmlformats.org/officeDocument/2006/relationships/slideLayout" Target="../slideLayouts/slideLayout37.xml"/><Relationship Id="rId4" Type="http://schemas.openxmlformats.org/officeDocument/2006/relationships/image" Target="../media/image5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6" name="Picture 3" descr="Text&#10;&#10;Description automatically generated"/>
          <p:cNvPicPr/>
          <p:nvPr/>
        </p:nvPicPr>
        <p:blipFill>
          <a:blip r:embed="rId2"/>
          <a:stretch/>
        </p:blipFill>
        <p:spPr>
          <a:xfrm>
            <a:off x="392040" y="271440"/>
            <a:ext cx="3174120" cy="1153080"/>
          </a:xfrm>
          <a:prstGeom prst="rect">
            <a:avLst/>
          </a:prstGeom>
          <a:ln>
            <a:noFill/>
          </a:ln>
        </p:spPr>
      </p:pic>
      <p:sp>
        <p:nvSpPr>
          <p:cNvPr id="307" name="CustomShape 1"/>
          <p:cNvSpPr/>
          <p:nvPr/>
        </p:nvSpPr>
        <p:spPr>
          <a:xfrm>
            <a:off x="695520" y="2269440"/>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308" name="CustomShape 2"/>
          <p:cNvSpPr/>
          <p:nvPr/>
        </p:nvSpPr>
        <p:spPr>
          <a:xfrm>
            <a:off x="695520" y="3403080"/>
            <a:ext cx="6095520" cy="222336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309" name="CustomShape 3"/>
          <p:cNvSpPr/>
          <p:nvPr/>
        </p:nvSpPr>
        <p:spPr>
          <a:xfrm>
            <a:off x="6962400" y="3269880"/>
            <a:ext cx="4329000" cy="1369440"/>
          </a:xfrm>
          <a:prstGeom prst="rect">
            <a:avLst/>
          </a:prstGeom>
          <a:noFill/>
          <a:ln>
            <a:noFill/>
          </a:ln>
        </p:spPr>
        <p:style>
          <a:lnRef idx="0">
            <a:scrgbClr r="0" g="0" b="0"/>
          </a:lnRef>
          <a:fillRef idx="0">
            <a:scrgbClr r="0" g="0" b="0"/>
          </a:fillRef>
          <a:effectRef idx="0">
            <a:scrgbClr r="0" g="0" b="0"/>
          </a:effectRef>
          <a:fontRef idx="minor"/>
        </p:style>
        <p:txBody>
          <a:bodyPr/>
          <a:lstStyle/>
          <a:p>
            <a:endParaRPr lang="en-US"/>
          </a:p>
        </p:txBody>
      </p:sp>
      <p:sp>
        <p:nvSpPr>
          <p:cNvPr id="6" name="CustomShape 1">
            <a:extLst>
              <a:ext uri="{FF2B5EF4-FFF2-40B4-BE49-F238E27FC236}">
                <a16:creationId xmlns:a16="http://schemas.microsoft.com/office/drawing/2014/main" id="{E733CEE1-32E0-BA60-6269-92BA4D47F124}"/>
              </a:ext>
            </a:extLst>
          </p:cNvPr>
          <p:cNvSpPr/>
          <p:nvPr/>
        </p:nvSpPr>
        <p:spPr>
          <a:xfrm>
            <a:off x="627026" y="1575552"/>
            <a:ext cx="8251560" cy="848520"/>
          </a:xfrm>
          <a:prstGeom prst="rect">
            <a:avLst/>
          </a:prstGeom>
          <a:noFill/>
          <a:ln>
            <a:noFill/>
          </a:ln>
        </p:spPr>
        <p:style>
          <a:lnRef idx="0">
            <a:scrgbClr r="0" g="0" b="0"/>
          </a:lnRef>
          <a:fillRef idx="0">
            <a:scrgbClr r="0" g="0" b="0"/>
          </a:fillRef>
          <a:effectRef idx="0">
            <a:scrgbClr r="0" g="0" b="0"/>
          </a:effectRef>
          <a:fontRef idx="minor"/>
        </p:style>
        <p:txBody>
          <a:bodyPr/>
          <a:lstStyle/>
          <a:p>
            <a:r>
              <a:rPr lang="en-US" sz="6400" b="1">
                <a:solidFill>
                  <a:srgbClr val="FF0000"/>
                </a:solidFill>
                <a:latin typeface="Lato" panose="020F0502020204030203" pitchFamily="34" charset="0"/>
                <a:ea typeface="Lato" panose="020F0502020204030203" pitchFamily="34" charset="0"/>
                <a:cs typeface="Lato" panose="020F0502020204030203" pitchFamily="34" charset="0"/>
              </a:rPr>
              <a:t>Software Security</a:t>
            </a:r>
          </a:p>
        </p:txBody>
      </p:sp>
      <p:sp>
        <p:nvSpPr>
          <p:cNvPr id="7" name="CustomShape 2">
            <a:extLst>
              <a:ext uri="{FF2B5EF4-FFF2-40B4-BE49-F238E27FC236}">
                <a16:creationId xmlns:a16="http://schemas.microsoft.com/office/drawing/2014/main" id="{4E762753-9DCF-E9D9-C6D3-24C492CFE4FC}"/>
              </a:ext>
            </a:extLst>
          </p:cNvPr>
          <p:cNvSpPr/>
          <p:nvPr/>
        </p:nvSpPr>
        <p:spPr>
          <a:xfrm>
            <a:off x="696298" y="2494997"/>
            <a:ext cx="7576150" cy="2729817"/>
          </a:xfrm>
          <a:prstGeom prst="rect">
            <a:avLst/>
          </a:prstGeom>
          <a:noFill/>
          <a:ln>
            <a:noFill/>
          </a:ln>
        </p:spPr>
        <p:style>
          <a:lnRef idx="0">
            <a:scrgbClr r="0" g="0" b="0"/>
          </a:lnRef>
          <a:fillRef idx="0">
            <a:scrgbClr r="0" g="0" b="0"/>
          </a:fillRef>
          <a:effectRef idx="0">
            <a:scrgbClr r="0" g="0" b="0"/>
          </a:effectRef>
          <a:fontRef idx="minor"/>
        </p:style>
        <p:txBody>
          <a:bodyPr lIns="91440" tIns="45720" rIns="91440" bIns="45720" anchor="t"/>
          <a:lstStyle/>
          <a:p>
            <a:r>
              <a:rPr lang="en-US" sz="2800" b="1">
                <a:solidFill>
                  <a:srgbClr val="FF0000"/>
                </a:solidFill>
              </a:rPr>
              <a:t>Analyzing C software </a:t>
            </a:r>
            <a:r>
              <a:rPr lang="en-US" sz="3200" b="1" err="1">
                <a:solidFill>
                  <a:srgbClr val="FF0000"/>
                </a:solidFill>
              </a:rPr>
              <a:t>Fuzzgoat</a:t>
            </a:r>
            <a:r>
              <a:rPr lang="en-US" sz="2800" b="1">
                <a:solidFill>
                  <a:srgbClr val="FF0000"/>
                </a:solidFill>
              </a:rPr>
              <a:t> using security tools</a:t>
            </a:r>
            <a:endParaRPr lang="en-US"/>
          </a:p>
          <a:p>
            <a:endParaRPr lang="en-US" sz="2800" b="1">
              <a:solidFill>
                <a:srgbClr val="FF0000"/>
              </a:solidFill>
            </a:endParaRPr>
          </a:p>
          <a:p>
            <a:r>
              <a:rPr lang="en-US" sz="2000" b="1"/>
              <a:t>Supervisor:</a:t>
            </a:r>
          </a:p>
          <a:p>
            <a:r>
              <a:rPr lang="en-US" sz="2000"/>
              <a:t> PhD. Tran Van Dang</a:t>
            </a:r>
          </a:p>
          <a:p>
            <a:r>
              <a:rPr lang="en-US" sz="2000" b="1"/>
              <a:t>Member:</a:t>
            </a:r>
          </a:p>
          <a:p>
            <a:r>
              <a:rPr lang="en-US" sz="2000"/>
              <a:t> Pham Minh Tien - 20225555</a:t>
            </a:r>
          </a:p>
          <a:p>
            <a:r>
              <a:rPr lang="en-US" sz="2000"/>
              <a:t> Chu Trung Anh   - 20225564</a:t>
            </a:r>
          </a:p>
          <a:p>
            <a:r>
              <a:rPr lang="en-US" sz="2000"/>
              <a:t> Bui Duy Anh       - 20225563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extShape 2"/>
          <p:cNvSpPr txBox="1"/>
          <p:nvPr/>
        </p:nvSpPr>
        <p:spPr>
          <a:xfrm>
            <a:off x="4558320" y="404280"/>
            <a:ext cx="739116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4" name="TextShape 2">
            <a:extLst>
              <a:ext uri="{FF2B5EF4-FFF2-40B4-BE49-F238E27FC236}">
                <a16:creationId xmlns:a16="http://schemas.microsoft.com/office/drawing/2014/main" id="{B5BDCE2D-AA1A-8EBB-9A94-6D46F7135102}"/>
              </a:ext>
            </a:extLst>
          </p:cNvPr>
          <p:cNvSpPr txBox="1"/>
          <p:nvPr/>
        </p:nvSpPr>
        <p:spPr>
          <a:xfrm>
            <a:off x="4558320" y="404280"/>
            <a:ext cx="739116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5" name="TextBox 4">
            <a:extLst>
              <a:ext uri="{FF2B5EF4-FFF2-40B4-BE49-F238E27FC236}">
                <a16:creationId xmlns:a16="http://schemas.microsoft.com/office/drawing/2014/main" id="{5CE2E976-5120-BF7D-17DA-E4A51C42C5BA}"/>
              </a:ext>
            </a:extLst>
          </p:cNvPr>
          <p:cNvSpPr txBox="1"/>
          <p:nvPr/>
        </p:nvSpPr>
        <p:spPr>
          <a:xfrm>
            <a:off x="4562523" y="115627"/>
            <a:ext cx="7116038" cy="60141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200" b="1"/>
              <a:t>Table of contents</a:t>
            </a:r>
            <a:endParaRPr lang="en-US"/>
          </a:p>
          <a:p>
            <a:pPr>
              <a:lnSpc>
                <a:spcPct val="150000"/>
              </a:lnSpc>
            </a:pPr>
            <a:endParaRPr lang="en-US" sz="3200" b="1"/>
          </a:p>
          <a:p>
            <a:pPr marL="514350" indent="-514350">
              <a:lnSpc>
                <a:spcPct val="150000"/>
              </a:lnSpc>
              <a:buAutoNum type="arabicPeriod"/>
            </a:pPr>
            <a:r>
              <a:rPr lang="en-US" sz="2800"/>
              <a:t>General overview of </a:t>
            </a:r>
            <a:r>
              <a:rPr lang="en-US" sz="2800" b="1" err="1"/>
              <a:t>Fuzzgoat</a:t>
            </a:r>
            <a:endParaRPr lang="en-US" sz="2800" b="1"/>
          </a:p>
          <a:p>
            <a:pPr marL="514350" indent="-514350">
              <a:lnSpc>
                <a:spcPct val="150000"/>
              </a:lnSpc>
              <a:buAutoNum type="arabicPeriod"/>
            </a:pPr>
            <a:r>
              <a:rPr lang="en-US" sz="2800" b="1"/>
              <a:t>Static analysis</a:t>
            </a:r>
            <a:r>
              <a:rPr lang="en-US" sz="2800"/>
              <a:t>:</a:t>
            </a:r>
            <a:endParaRPr lang="en-US"/>
          </a:p>
          <a:p>
            <a:pPr marL="971550" lvl="1" indent="-514350">
              <a:lnSpc>
                <a:spcPct val="150000"/>
              </a:lnSpc>
              <a:buAutoNum type="alphaLcPeriod"/>
            </a:pPr>
            <a:r>
              <a:rPr lang="en-US" sz="2800" err="1"/>
              <a:t>Cppcheck</a:t>
            </a:r>
            <a:endParaRPr lang="en-US"/>
          </a:p>
          <a:p>
            <a:pPr marL="971550" lvl="1" indent="-514350">
              <a:lnSpc>
                <a:spcPct val="150000"/>
              </a:lnSpc>
              <a:buAutoNum type="alphaLcPeriod"/>
            </a:pPr>
            <a:r>
              <a:rPr lang="en-US" sz="2800"/>
              <a:t>ESBMC</a:t>
            </a:r>
            <a:endParaRPr lang="en-US"/>
          </a:p>
          <a:p>
            <a:pPr marL="514350" indent="-514350">
              <a:lnSpc>
                <a:spcPct val="150000"/>
              </a:lnSpc>
              <a:buAutoNum type="arabicPeriod"/>
            </a:pPr>
            <a:r>
              <a:rPr lang="en-US" sz="2800" b="1"/>
              <a:t>Dynamic analysis</a:t>
            </a:r>
            <a:r>
              <a:rPr lang="en-US" sz="2800"/>
              <a:t>: </a:t>
            </a:r>
          </a:p>
          <a:p>
            <a:pPr marL="971550" lvl="1" indent="-514350">
              <a:lnSpc>
                <a:spcPct val="150000"/>
              </a:lnSpc>
              <a:buAutoNum type="alphaLcPeriod"/>
            </a:pPr>
            <a:r>
              <a:rPr lang="en-US" sz="2800"/>
              <a:t>AFL++</a:t>
            </a:r>
          </a:p>
          <a:p>
            <a:pPr marL="971550" lvl="1" indent="-514350">
              <a:lnSpc>
                <a:spcPct val="150000"/>
              </a:lnSpc>
              <a:buAutoNum type="alphaLcPeriod"/>
            </a:pPr>
            <a:r>
              <a:rPr lang="en-US" sz="2800" err="1"/>
              <a:t>HongFuzz</a:t>
            </a:r>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Freeform 1"/>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p:cNvSpPr txBox="1"/>
          <p:nvPr/>
        </p:nvSpPr>
        <p:spPr>
          <a:xfrm>
            <a:off x="222640" y="1807570"/>
            <a:ext cx="5425422" cy="3234082"/>
          </a:xfrm>
          <a:prstGeom prst="rect">
            <a:avLst/>
          </a:prstGeom>
          <a:noFill/>
          <a:ln>
            <a:noFill/>
          </a:ln>
        </p:spPr>
        <p:txBody>
          <a:bodyPr lIns="90000" tIns="45000" rIns="90000" bIns="45000" anchor="t">
            <a:noAutofit/>
          </a:bodyPr>
          <a:lstStyle/>
          <a:p>
            <a:r>
              <a:rPr lang="en-US" sz="2400" b="1"/>
              <a:t>What is </a:t>
            </a:r>
            <a:r>
              <a:rPr lang="en-US" sz="2400" b="1" err="1"/>
              <a:t>Fuzzgoat</a:t>
            </a:r>
            <a:r>
              <a:rPr lang="en-US" sz="2400" b="1"/>
              <a:t>?</a:t>
            </a:r>
          </a:p>
          <a:p>
            <a:endParaRPr lang="en-US" sz="2400" b="1"/>
          </a:p>
          <a:p>
            <a:pPr marL="457200" indent="-457200">
              <a:lnSpc>
                <a:spcPct val="150000"/>
              </a:lnSpc>
              <a:buFont typeface="Arial" panose="020B0604020202020204" pitchFamily="34" charset="0"/>
              <a:buChar char="•"/>
            </a:pPr>
            <a:r>
              <a:rPr lang="en-US" sz="2000"/>
              <a:t>Educational o</a:t>
            </a:r>
            <a:r>
              <a:rPr lang="en-US" sz="2000">
                <a:cs typeface="Arial"/>
              </a:rPr>
              <a:t>pen source</a:t>
            </a:r>
            <a:r>
              <a:rPr lang="en-US" sz="2000"/>
              <a:t> C program designed for learning and practicing software security, especially </a:t>
            </a:r>
            <a:r>
              <a:rPr lang="en-US" sz="2000" b="1"/>
              <a:t>Fuzzing techniques</a:t>
            </a:r>
          </a:p>
          <a:p>
            <a:pPr marL="457200" indent="-457200">
              <a:lnSpc>
                <a:spcPct val="150000"/>
              </a:lnSpc>
              <a:buFont typeface="Arial" panose="020B0604020202020204" pitchFamily="34" charset="0"/>
              <a:buChar char="•"/>
            </a:pPr>
            <a:r>
              <a:rPr lang="en-US" sz="2000"/>
              <a:t>Modifier of </a:t>
            </a:r>
            <a:r>
              <a:rPr lang="en-US" sz="2400" i="1" err="1">
                <a:solidFill>
                  <a:srgbClr val="000000"/>
                </a:solidFill>
                <a:highlight>
                  <a:srgbClr val="C0C0C0"/>
                </a:highlight>
                <a:ea typeface="+mn-lt"/>
                <a:cs typeface="+mn-lt"/>
              </a:rPr>
              <a:t>udp</a:t>
            </a:r>
            <a:r>
              <a:rPr lang="en-US" sz="2400" i="1">
                <a:solidFill>
                  <a:srgbClr val="000000"/>
                </a:solidFill>
                <a:highlight>
                  <a:srgbClr val="C0C0C0"/>
                </a:highlight>
                <a:ea typeface="+mn-lt"/>
                <a:cs typeface="+mn-lt"/>
              </a:rPr>
              <a:t>/</a:t>
            </a:r>
            <a:r>
              <a:rPr lang="en-US" sz="2400" i="1" err="1">
                <a:solidFill>
                  <a:srgbClr val="000000"/>
                </a:solidFill>
                <a:highlight>
                  <a:srgbClr val="C0C0C0"/>
                </a:highlight>
                <a:ea typeface="+mn-lt"/>
                <a:cs typeface="+mn-lt"/>
              </a:rPr>
              <a:t>json</a:t>
            </a:r>
            <a:r>
              <a:rPr lang="en-US" sz="2400" i="1">
                <a:solidFill>
                  <a:srgbClr val="000000"/>
                </a:solidFill>
                <a:highlight>
                  <a:srgbClr val="C0C0C0"/>
                </a:highlight>
                <a:ea typeface="+mn-lt"/>
                <a:cs typeface="+mn-lt"/>
              </a:rPr>
              <a:t>-parser</a:t>
            </a:r>
            <a:r>
              <a:rPr lang="en-US" sz="2000">
                <a:solidFill>
                  <a:srgbClr val="000000"/>
                </a:solidFill>
                <a:ea typeface="+mn-lt"/>
                <a:cs typeface="+mn-lt"/>
              </a:rPr>
              <a:t> library, processes </a:t>
            </a:r>
            <a:r>
              <a:rPr lang="en-US" sz="2000" b="1">
                <a:solidFill>
                  <a:srgbClr val="000000"/>
                </a:solidFill>
                <a:ea typeface="+mn-lt"/>
                <a:cs typeface="+mn-lt"/>
              </a:rPr>
              <a:t>JSON</a:t>
            </a:r>
            <a:r>
              <a:rPr lang="en-US" sz="2000" b="1"/>
              <a:t>‑like structured input</a:t>
            </a:r>
            <a:endParaRPr lang="en-US" sz="2000"/>
          </a:p>
        </p:txBody>
      </p:sp>
      <p:sp>
        <p:nvSpPr>
          <p:cNvPr id="4" name="TextBox 3">
            <a:extLst>
              <a:ext uri="{FF2B5EF4-FFF2-40B4-BE49-F238E27FC236}">
                <a16:creationId xmlns:a16="http://schemas.microsoft.com/office/drawing/2014/main" id="{E247FDA2-3BA6-F93B-A469-9BA68753B784}"/>
              </a:ext>
            </a:extLst>
          </p:cNvPr>
          <p:cNvSpPr txBox="1"/>
          <p:nvPr/>
        </p:nvSpPr>
        <p:spPr>
          <a:xfrm>
            <a:off x="-2491" y="-3795"/>
            <a:ext cx="657253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Font typeface="+mj-lt"/>
              <a:buAutoNum type="arabicPeriod"/>
            </a:pPr>
            <a:r>
              <a:rPr lang="en-US" sz="3200" b="1">
                <a:solidFill>
                  <a:schemeClr val="bg1"/>
                </a:solidFill>
                <a:latin typeface="Arial"/>
                <a:ea typeface="Arial"/>
                <a:cs typeface="Arial"/>
              </a:rPr>
              <a:t>General overview of </a:t>
            </a:r>
            <a:r>
              <a:rPr lang="en-US" sz="3200" b="1" err="1">
                <a:solidFill>
                  <a:schemeClr val="bg1"/>
                </a:solidFill>
                <a:latin typeface="Arial"/>
                <a:ea typeface="Arial"/>
                <a:cs typeface="Arial"/>
              </a:rPr>
              <a:t>Fuzzgoat</a:t>
            </a:r>
          </a:p>
          <a:p>
            <a:pPr algn="ctr"/>
            <a:endParaRPr lang="en-US" sz="2000" b="1">
              <a:solidFill>
                <a:schemeClr val="bg1"/>
              </a:solidFill>
              <a:cs typeface="Arial"/>
            </a:endParaRPr>
          </a:p>
        </p:txBody>
      </p:sp>
      <p:pic>
        <p:nvPicPr>
          <p:cNvPr id="3" name="Picture 2" descr="A screenshot of a computer program&#10;&#10;AI-generated content may be incorrect.">
            <a:extLst>
              <a:ext uri="{FF2B5EF4-FFF2-40B4-BE49-F238E27FC236}">
                <a16:creationId xmlns:a16="http://schemas.microsoft.com/office/drawing/2014/main" id="{758D7CDF-B7CF-2E85-D4F8-C0F653263454}"/>
              </a:ext>
            </a:extLst>
          </p:cNvPr>
          <p:cNvPicPr>
            <a:picLocks noChangeAspect="1"/>
          </p:cNvPicPr>
          <p:nvPr/>
        </p:nvPicPr>
        <p:blipFill>
          <a:blip r:embed="rId3"/>
          <a:stretch>
            <a:fillRect/>
          </a:stretch>
        </p:blipFill>
        <p:spPr>
          <a:xfrm>
            <a:off x="5645755" y="1806740"/>
            <a:ext cx="5916508" cy="323408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5F118-49CB-2D7C-252D-11CB4260082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574AE0C-1E15-38AF-CA62-7E15706B3E03}"/>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Freeform 1">
            <a:extLst>
              <a:ext uri="{FF2B5EF4-FFF2-40B4-BE49-F238E27FC236}">
                <a16:creationId xmlns:a16="http://schemas.microsoft.com/office/drawing/2014/main" id="{8186E494-98BE-357F-1EBB-BB31D643DDAB}"/>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4196270B-5DEE-8568-3322-00D7027B14D7}"/>
              </a:ext>
            </a:extLst>
          </p:cNvPr>
          <p:cNvSpPr txBox="1"/>
          <p:nvPr/>
        </p:nvSpPr>
        <p:spPr>
          <a:xfrm>
            <a:off x="338760" y="1058760"/>
            <a:ext cx="5374706" cy="4908600"/>
          </a:xfrm>
          <a:prstGeom prst="rect">
            <a:avLst/>
          </a:prstGeom>
          <a:noFill/>
          <a:ln>
            <a:noFill/>
          </a:ln>
        </p:spPr>
        <p:txBody>
          <a:bodyPr lIns="90000" tIns="45000" rIns="90000" bIns="45000">
            <a:noAutofit/>
          </a:bodyPr>
          <a:lstStyle/>
          <a:p>
            <a:br>
              <a:rPr lang="en-US" sz="1600"/>
            </a:br>
            <a:endParaRPr lang="en-US" sz="1600"/>
          </a:p>
          <a:p>
            <a:br>
              <a:rPr lang="en-US" sz="1200"/>
            </a:br>
            <a:endParaRPr lang="en-US" sz="1200"/>
          </a:p>
          <a:p>
            <a:endParaRPr lang="en-US" sz="1200"/>
          </a:p>
        </p:txBody>
      </p:sp>
      <p:sp>
        <p:nvSpPr>
          <p:cNvPr id="3" name="TextBox 2">
            <a:extLst>
              <a:ext uri="{FF2B5EF4-FFF2-40B4-BE49-F238E27FC236}">
                <a16:creationId xmlns:a16="http://schemas.microsoft.com/office/drawing/2014/main" id="{A6B19F91-9C3D-C605-6E84-8EB9010E6C6E}"/>
              </a:ext>
            </a:extLst>
          </p:cNvPr>
          <p:cNvSpPr txBox="1"/>
          <p:nvPr/>
        </p:nvSpPr>
        <p:spPr>
          <a:xfrm>
            <a:off x="5713466" y="1058760"/>
            <a:ext cx="6097022" cy="923330"/>
          </a:xfrm>
          <a:prstGeom prst="rect">
            <a:avLst/>
          </a:prstGeom>
          <a:noFill/>
        </p:spPr>
        <p:txBody>
          <a:bodyPr wrap="square">
            <a:spAutoFit/>
          </a:bodyPr>
          <a:lstStyle/>
          <a:p>
            <a:endParaRPr lang="en-US" sz="1800" b="1"/>
          </a:p>
          <a:p>
            <a:br>
              <a:rPr lang="en-US" sz="1800"/>
            </a:br>
            <a:endParaRPr lang="en-US" sz="1800"/>
          </a:p>
        </p:txBody>
      </p:sp>
      <p:graphicFrame>
        <p:nvGraphicFramePr>
          <p:cNvPr id="12" name="Table 11">
            <a:extLst>
              <a:ext uri="{FF2B5EF4-FFF2-40B4-BE49-F238E27FC236}">
                <a16:creationId xmlns:a16="http://schemas.microsoft.com/office/drawing/2014/main" id="{12C0F113-C022-3615-48E9-627A28250DC9}"/>
              </a:ext>
            </a:extLst>
          </p:cNvPr>
          <p:cNvGraphicFramePr>
            <a:graphicFrameLocks noGrp="1"/>
          </p:cNvGraphicFramePr>
          <p:nvPr>
            <p:extLst>
              <p:ext uri="{D42A27DB-BD31-4B8C-83A1-F6EECF244321}">
                <p14:modId xmlns:p14="http://schemas.microsoft.com/office/powerpoint/2010/main" val="296158379"/>
              </p:ext>
            </p:extLst>
          </p:nvPr>
        </p:nvGraphicFramePr>
        <p:xfrm>
          <a:off x="441614" y="995795"/>
          <a:ext cx="11307536" cy="5151120"/>
        </p:xfrm>
        <a:graphic>
          <a:graphicData uri="http://schemas.openxmlformats.org/drawingml/2006/table">
            <a:tbl>
              <a:tblPr firstRow="1" bandRow="1">
                <a:tableStyleId>{073A0DAA-6AF3-43AB-8588-CEC1D06C72B9}</a:tableStyleId>
              </a:tblPr>
              <a:tblGrid>
                <a:gridCol w="5493759">
                  <a:extLst>
                    <a:ext uri="{9D8B030D-6E8A-4147-A177-3AD203B41FA5}">
                      <a16:colId xmlns:a16="http://schemas.microsoft.com/office/drawing/2014/main" val="201636917"/>
                    </a:ext>
                  </a:extLst>
                </a:gridCol>
                <a:gridCol w="5813777">
                  <a:extLst>
                    <a:ext uri="{9D8B030D-6E8A-4147-A177-3AD203B41FA5}">
                      <a16:colId xmlns:a16="http://schemas.microsoft.com/office/drawing/2014/main" val="3109066852"/>
                    </a:ext>
                  </a:extLst>
                </a:gridCol>
              </a:tblGrid>
              <a:tr h="391326">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a:t>Manual Code Analysis – 4 Critical Vulnerabilities</a:t>
                      </a:r>
                    </a:p>
                  </a:txBody>
                  <a:tcPr/>
                </a:tc>
                <a:tc hMerge="1">
                  <a:txBody>
                    <a:bodyPr/>
                    <a:lstStyle/>
                    <a:p>
                      <a:endParaRPr lang="en-US"/>
                    </a:p>
                  </a:txBody>
                  <a:tcPr marL="0" marR="0" marT="0" marB="0" horzOverflow="overflow"/>
                </a:tc>
                <a:extLst>
                  <a:ext uri="{0D108BD9-81ED-4DB2-BD59-A6C34878D82A}">
                    <a16:rowId xmlns:a16="http://schemas.microsoft.com/office/drawing/2014/main" val="2637808817"/>
                  </a:ext>
                </a:extLst>
              </a:tr>
              <a:tr h="2107823">
                <a:tc>
                  <a:txBody>
                    <a:bodyPr/>
                    <a:lstStyle/>
                    <a:p>
                      <a:r>
                        <a:rPr lang="en-US" sz="2000" b="1"/>
                        <a:t>1. Use-After-Free (UAF)</a:t>
                      </a:r>
                    </a:p>
                    <a:p>
                      <a:pPr lvl="0">
                        <a:buNone/>
                      </a:pPr>
                      <a:endParaRPr lang="en-US" sz="2000" b="1"/>
                    </a:p>
                    <a:p>
                      <a:pPr marL="285750" indent="-285750">
                        <a:buFont typeface="Arial"/>
                        <a:buChar char="•"/>
                      </a:pPr>
                      <a:r>
                        <a:rPr lang="en-US" sz="2000"/>
                        <a:t>Location: Line </a:t>
                      </a:r>
                      <a:r>
                        <a:rPr lang="en-US" sz="2000" b="1"/>
                        <a:t>137</a:t>
                      </a:r>
                    </a:p>
                    <a:p>
                      <a:pPr marL="285750" indent="-285750">
                        <a:buFont typeface="Arial"/>
                        <a:buChar char="•"/>
                      </a:pPr>
                      <a:r>
                        <a:rPr lang="en-US" sz="2000"/>
                        <a:t>Issue: Object is freed while still being referenced.</a:t>
                      </a:r>
                    </a:p>
                    <a:p>
                      <a:pPr marL="285750" indent="-285750">
                        <a:buFont typeface="Arial"/>
                        <a:buChar char="•"/>
                      </a:pPr>
                      <a:r>
                        <a:rPr lang="en-US" sz="2000"/>
                        <a:t>Impact: Can lead to crashes, corruption, or arbitrary code execution.</a:t>
                      </a:r>
                    </a:p>
                  </a:txBody>
                  <a:tcPr/>
                </a:tc>
                <a:tc>
                  <a:txBody>
                    <a:bodyPr/>
                    <a:lstStyle/>
                    <a:p>
                      <a:r>
                        <a:rPr lang="en-US" sz="2000" b="1"/>
                        <a:t>3. Invalid Free (Pointer Decrement Bug)</a:t>
                      </a:r>
                    </a:p>
                    <a:p>
                      <a:pPr lvl="0">
                        <a:buNone/>
                      </a:pPr>
                      <a:endParaRPr lang="en-US" sz="2000" b="1"/>
                    </a:p>
                    <a:p>
                      <a:pPr marL="342900" indent="-342900">
                        <a:buFont typeface="Arial"/>
                        <a:buChar char="•"/>
                      </a:pPr>
                      <a:r>
                        <a:rPr lang="en-US" sz="2000"/>
                        <a:t>Location: Lines</a:t>
                      </a:r>
                      <a:r>
                        <a:rPr lang="en-US" sz="2000" b="1"/>
                        <a:t> 278–279</a:t>
                      </a:r>
                    </a:p>
                    <a:p>
                      <a:pPr marL="342900" indent="-342900">
                        <a:buFont typeface="Arial"/>
                        <a:buChar char="•"/>
                      </a:pPr>
                      <a:r>
                        <a:rPr lang="en-US" sz="2000"/>
                        <a:t>Issue: Pointer is decremented before free(), causing free on non-allocated memory.</a:t>
                      </a:r>
                    </a:p>
                    <a:p>
                      <a:pPr marL="342900" indent="-342900">
                        <a:buFont typeface="Arial"/>
                        <a:buChar char="•"/>
                      </a:pPr>
                      <a:r>
                        <a:rPr lang="en-US" sz="2000"/>
                        <a:t>Impact: Heap corruption and potential crash.</a:t>
                      </a:r>
                    </a:p>
                    <a:p>
                      <a:endParaRPr lang="en-US" sz="2000"/>
                    </a:p>
                  </a:txBody>
                  <a:tcPr/>
                </a:tc>
                <a:extLst>
                  <a:ext uri="{0D108BD9-81ED-4DB2-BD59-A6C34878D82A}">
                    <a16:rowId xmlns:a16="http://schemas.microsoft.com/office/drawing/2014/main" val="3336411332"/>
                  </a:ext>
                </a:extLst>
              </a:tr>
              <a:tr h="2392426">
                <a:tc>
                  <a:txBody>
                    <a:bodyPr/>
                    <a:lstStyle/>
                    <a:p>
                      <a:pPr lvl="0">
                        <a:buNone/>
                      </a:pPr>
                      <a:r>
                        <a:rPr lang="en-US" sz="2000" b="1"/>
                        <a:t>2. Out-of-Bounds Read/Write</a:t>
                      </a:r>
                      <a:endParaRPr lang="en-US"/>
                    </a:p>
                    <a:p>
                      <a:pPr lvl="0">
                        <a:buNone/>
                      </a:pPr>
                      <a:endParaRPr lang="en-US" sz="2000" b="1"/>
                    </a:p>
                    <a:p>
                      <a:pPr marL="342900" indent="-342900">
                        <a:buFont typeface="Arial"/>
                        <a:buChar char="•"/>
                      </a:pPr>
                      <a:r>
                        <a:rPr lang="en-US" sz="2000"/>
                        <a:t>Location: Line </a:t>
                      </a:r>
                      <a:r>
                        <a:rPr lang="en-US" sz="2000" b="1"/>
                        <a:t>258</a:t>
                      </a:r>
                    </a:p>
                    <a:p>
                      <a:pPr marL="342900" indent="-342900">
                        <a:buFont typeface="Arial"/>
                        <a:buChar char="•"/>
                      </a:pPr>
                      <a:r>
                        <a:rPr lang="en-US" sz="2000"/>
                        <a:t>Issue: Invalid array index allows memory access outside allocated region.</a:t>
                      </a:r>
                    </a:p>
                    <a:p>
                      <a:pPr marL="342900" indent="-342900">
                        <a:buFont typeface="Arial"/>
                        <a:buChar char="•"/>
                      </a:pPr>
                      <a:r>
                        <a:rPr lang="en-US" sz="2000"/>
                        <a:t>Impact: Data leakage, corruption, or potential RCE depending on context.</a:t>
                      </a:r>
                    </a:p>
                    <a:p>
                      <a:endParaRPr lang="en-US" sz="2000"/>
                    </a:p>
                  </a:txBody>
                  <a:tcPr/>
                </a:tc>
                <a:tc>
                  <a:txBody>
                    <a:bodyPr/>
                    <a:lstStyle/>
                    <a:p>
                      <a:r>
                        <a:rPr lang="en-US" sz="2000" b="1"/>
                        <a:t>4. NULL Pointer Dereference</a:t>
                      </a:r>
                    </a:p>
                    <a:p>
                      <a:pPr lvl="0">
                        <a:buNone/>
                      </a:pPr>
                      <a:endParaRPr lang="en-US" sz="2000" b="1"/>
                    </a:p>
                    <a:p>
                      <a:pPr marL="342900" indent="-342900">
                        <a:buFont typeface="Arial"/>
                        <a:buChar char="•"/>
                      </a:pPr>
                      <a:r>
                        <a:rPr lang="en-US" sz="2000"/>
                        <a:t>Location: Lines </a:t>
                      </a:r>
                      <a:r>
                        <a:rPr lang="en-US" sz="2000" b="1"/>
                        <a:t>296–298</a:t>
                      </a:r>
                    </a:p>
                    <a:p>
                      <a:pPr marL="342900" indent="-342900">
                        <a:buFont typeface="Arial"/>
                        <a:buChar char="•"/>
                      </a:pPr>
                      <a:r>
                        <a:rPr lang="en-US" sz="2000"/>
                        <a:t>Issue: A NULL pointer is intentionally created and dereferenced.</a:t>
                      </a:r>
                    </a:p>
                    <a:p>
                      <a:pPr marL="342900" indent="-342900">
                        <a:buFont typeface="Arial"/>
                        <a:buChar char="•"/>
                      </a:pPr>
                      <a:r>
                        <a:rPr lang="en-US" sz="2000"/>
                        <a:t>Impact: Immediate program crash.</a:t>
                      </a:r>
                    </a:p>
                    <a:p>
                      <a:endParaRPr lang="en-US" sz="2000"/>
                    </a:p>
                  </a:txBody>
                  <a:tcPr/>
                </a:tc>
                <a:extLst>
                  <a:ext uri="{0D108BD9-81ED-4DB2-BD59-A6C34878D82A}">
                    <a16:rowId xmlns:a16="http://schemas.microsoft.com/office/drawing/2014/main" val="909903263"/>
                  </a:ext>
                </a:extLst>
              </a:tr>
            </a:tbl>
          </a:graphicData>
        </a:graphic>
      </p:graphicFrame>
      <p:sp>
        <p:nvSpPr>
          <p:cNvPr id="6" name="TextBox 5">
            <a:extLst>
              <a:ext uri="{FF2B5EF4-FFF2-40B4-BE49-F238E27FC236}">
                <a16:creationId xmlns:a16="http://schemas.microsoft.com/office/drawing/2014/main" id="{D6D3BFE4-DE08-DB26-CE00-39BBFA58F22B}"/>
              </a:ext>
            </a:extLst>
          </p:cNvPr>
          <p:cNvSpPr txBox="1"/>
          <p:nvPr/>
        </p:nvSpPr>
        <p:spPr>
          <a:xfrm>
            <a:off x="-2491" y="-3795"/>
            <a:ext cx="657253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Font typeface="+mj-lt"/>
              <a:buAutoNum type="arabicPeriod"/>
            </a:pPr>
            <a:r>
              <a:rPr lang="en-US" sz="3200" b="1">
                <a:solidFill>
                  <a:schemeClr val="bg1"/>
                </a:solidFill>
                <a:latin typeface="Arial"/>
                <a:ea typeface="Arial"/>
                <a:cs typeface="Arial"/>
              </a:rPr>
              <a:t>General overview of </a:t>
            </a:r>
            <a:r>
              <a:rPr lang="en-US" sz="3200" b="1" err="1">
                <a:solidFill>
                  <a:schemeClr val="bg1"/>
                </a:solidFill>
                <a:latin typeface="Arial"/>
                <a:ea typeface="Arial"/>
                <a:cs typeface="Arial"/>
              </a:rPr>
              <a:t>Fuzzgoat</a:t>
            </a:r>
          </a:p>
          <a:p>
            <a:pPr algn="ctr"/>
            <a:endParaRPr lang="en-US" sz="2000" b="1">
              <a:solidFill>
                <a:schemeClr val="bg1"/>
              </a:solidFill>
              <a:cs typeface="Arial"/>
            </a:endParaRPr>
          </a:p>
        </p:txBody>
      </p:sp>
    </p:spTree>
    <p:extLst>
      <p:ext uri="{BB962C8B-B14F-4D97-AF65-F5344CB8AC3E}">
        <p14:creationId xmlns:p14="http://schemas.microsoft.com/office/powerpoint/2010/main" val="324049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TextShape 1"/>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Rectangle 2">
            <a:extLst>
              <a:ext uri="{FF2B5EF4-FFF2-40B4-BE49-F238E27FC236}">
                <a16:creationId xmlns:a16="http://schemas.microsoft.com/office/drawing/2014/main" id="{1C04A291-BE24-AED1-206B-B349491DAD98}"/>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1">
            <a:extLst>
              <a:ext uri="{FF2B5EF4-FFF2-40B4-BE49-F238E27FC236}">
                <a16:creationId xmlns:a16="http://schemas.microsoft.com/office/drawing/2014/main" id="{DD18F79D-51AC-32DD-FD72-8209727EE0DB}"/>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7" name="TextBox 6">
            <a:extLst>
              <a:ext uri="{FF2B5EF4-FFF2-40B4-BE49-F238E27FC236}">
                <a16:creationId xmlns:a16="http://schemas.microsoft.com/office/drawing/2014/main" id="{7A70E7B0-DED7-C624-1952-AE04C222EF34}"/>
              </a:ext>
            </a:extLst>
          </p:cNvPr>
          <p:cNvSpPr txBox="1"/>
          <p:nvPr/>
        </p:nvSpPr>
        <p:spPr>
          <a:xfrm>
            <a:off x="49208" y="674835"/>
            <a:ext cx="3651402"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1.1 Use-After-Free</a:t>
            </a:r>
          </a:p>
          <a:p>
            <a:endParaRPr lang="en-US" b="1">
              <a:solidFill>
                <a:schemeClr val="bg1"/>
              </a:solidFill>
            </a:endParaRPr>
          </a:p>
        </p:txBody>
      </p:sp>
      <p:sp>
        <p:nvSpPr>
          <p:cNvPr id="9" name="TextBox 8">
            <a:extLst>
              <a:ext uri="{FF2B5EF4-FFF2-40B4-BE49-F238E27FC236}">
                <a16:creationId xmlns:a16="http://schemas.microsoft.com/office/drawing/2014/main" id="{E8083CCF-7F6D-FB9F-9922-418F43FE86CD}"/>
              </a:ext>
            </a:extLst>
          </p:cNvPr>
          <p:cNvSpPr txBox="1"/>
          <p:nvPr/>
        </p:nvSpPr>
        <p:spPr>
          <a:xfrm>
            <a:off x="176318" y="3527455"/>
            <a:ext cx="1167938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sz="2400" b="1">
                <a:ea typeface="+mn-lt"/>
                <a:cs typeface="+mn-lt"/>
              </a:rPr>
              <a:t>Cause analysis</a:t>
            </a:r>
            <a:r>
              <a:rPr lang="en-US" sz="2400">
                <a:cs typeface="Arial"/>
              </a:rPr>
              <a:t>: </a:t>
            </a:r>
            <a:r>
              <a:rPr lang="en-US" sz="2400">
                <a:ea typeface="+mn-lt"/>
                <a:cs typeface="+mn-lt"/>
              </a:rPr>
              <a:t>When the parser encounters an empty JSON array (</a:t>
            </a:r>
            <a:r>
              <a:rPr lang="en-US" sz="2400">
                <a:highlight>
                  <a:srgbClr val="C0C0C0"/>
                </a:highlight>
                <a:latin typeface="Consolas"/>
                <a:cs typeface="Arial"/>
              </a:rPr>
              <a:t>[]</a:t>
            </a:r>
            <a:r>
              <a:rPr lang="en-US" sz="2400">
                <a:ea typeface="+mn-lt"/>
                <a:cs typeface="+mn-lt"/>
              </a:rPr>
              <a:t>), it calls </a:t>
            </a:r>
            <a:r>
              <a:rPr lang="en-US" sz="2400">
                <a:highlight>
                  <a:srgbClr val="C0C0C0"/>
                </a:highlight>
                <a:latin typeface="Consolas"/>
                <a:cs typeface="Arial"/>
              </a:rPr>
              <a:t>free(*top)</a:t>
            </a:r>
            <a:r>
              <a:rPr lang="en-US" sz="2400">
                <a:ea typeface="+mn-lt"/>
                <a:cs typeface="+mn-lt"/>
              </a:rPr>
              <a:t> to release the memory block pointed to by </a:t>
            </a:r>
            <a:r>
              <a:rPr lang="en-US" sz="2400">
                <a:highlight>
                  <a:srgbClr val="C0C0C0"/>
                </a:highlight>
                <a:latin typeface="Consolas"/>
                <a:cs typeface="Arial"/>
              </a:rPr>
              <a:t>*top</a:t>
            </a:r>
            <a:r>
              <a:rPr lang="en-US" sz="2400">
                <a:ea typeface="+mn-lt"/>
                <a:cs typeface="+mn-lt"/>
              </a:rPr>
              <a:t>. However, this pointer is not set to </a:t>
            </a:r>
            <a:r>
              <a:rPr lang="en-US" sz="2400">
                <a:highlight>
                  <a:srgbClr val="C0C0C0"/>
                </a:highlight>
                <a:latin typeface="Consolas"/>
                <a:cs typeface="Arial"/>
              </a:rPr>
              <a:t>NULL</a:t>
            </a:r>
            <a:r>
              <a:rPr lang="en-US" sz="2400">
                <a:ea typeface="+mn-lt"/>
                <a:cs typeface="+mn-lt"/>
              </a:rPr>
              <a:t> or otherwise handled correctly, allowing the program to continue and later access freed memory</a:t>
            </a:r>
          </a:p>
          <a:p>
            <a:pPr marL="228600" indent="-228600">
              <a:buFont typeface="Arial"/>
              <a:buChar char="•"/>
            </a:pPr>
            <a:endParaRPr lang="en-US" sz="2400">
              <a:ea typeface="+mn-lt"/>
              <a:cs typeface="+mn-lt"/>
            </a:endParaRPr>
          </a:p>
          <a:p>
            <a:pPr marL="228600" indent="-228600">
              <a:buFont typeface="Arial"/>
              <a:buChar char="•"/>
            </a:pPr>
            <a:r>
              <a:rPr lang="en-US" sz="2400" b="1">
                <a:ea typeface="+mn-lt"/>
                <a:cs typeface="+mn-lt"/>
              </a:rPr>
              <a:t>Trigger:</a:t>
            </a:r>
            <a:r>
              <a:rPr lang="en-US" sz="2400">
                <a:ea typeface="+mn-lt"/>
                <a:cs typeface="+mn-lt"/>
              </a:rPr>
              <a:t> Provide an empty JSON array </a:t>
            </a:r>
            <a:r>
              <a:rPr lang="en-US" sz="2400">
                <a:highlight>
                  <a:srgbClr val="C0C0C0"/>
                </a:highlight>
                <a:latin typeface="Consolas"/>
                <a:ea typeface="+mn-lt"/>
                <a:cs typeface="+mn-lt"/>
              </a:rPr>
              <a:t>[]</a:t>
            </a:r>
            <a:r>
              <a:rPr lang="en-US" sz="2400">
                <a:ea typeface="+mn-lt"/>
                <a:cs typeface="+mn-lt"/>
              </a:rPr>
              <a:t> as input.</a:t>
            </a:r>
            <a:endParaRPr lang="en-US" sz="2400" b="1">
              <a:cs typeface="Arial"/>
            </a:endParaRPr>
          </a:p>
          <a:p>
            <a:pPr marL="228600" indent="-228600">
              <a:buFont typeface="Arial"/>
              <a:buChar char="•"/>
            </a:pPr>
            <a:endParaRPr lang="en-US" sz="2400">
              <a:cs typeface="Arial"/>
            </a:endParaRPr>
          </a:p>
        </p:txBody>
      </p:sp>
      <p:pic>
        <p:nvPicPr>
          <p:cNvPr id="11" name="Picture 10" descr="A math equation with green and black text&#10;&#10;AI-generated content may be incorrect.">
            <a:extLst>
              <a:ext uri="{FF2B5EF4-FFF2-40B4-BE49-F238E27FC236}">
                <a16:creationId xmlns:a16="http://schemas.microsoft.com/office/drawing/2014/main" id="{D643D7CB-5D08-72B0-FA3B-384A3F1C3B31}"/>
              </a:ext>
            </a:extLst>
          </p:cNvPr>
          <p:cNvPicPr>
            <a:picLocks noChangeAspect="1"/>
          </p:cNvPicPr>
          <p:nvPr/>
        </p:nvPicPr>
        <p:blipFill>
          <a:blip r:embed="rId3"/>
          <a:stretch>
            <a:fillRect/>
          </a:stretch>
        </p:blipFill>
        <p:spPr>
          <a:xfrm>
            <a:off x="2074337" y="1414812"/>
            <a:ext cx="7516519" cy="1802930"/>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9E2FA1FE-5E3F-9F87-9480-58E31398628A}"/>
              </a:ext>
            </a:extLst>
          </p:cNvPr>
          <p:cNvSpPr txBox="1"/>
          <p:nvPr/>
        </p:nvSpPr>
        <p:spPr>
          <a:xfrm>
            <a:off x="-2491" y="-3795"/>
            <a:ext cx="657253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Font typeface="+mj-lt"/>
              <a:buAutoNum type="arabicPeriod"/>
            </a:pPr>
            <a:r>
              <a:rPr lang="en-US" sz="3200" b="1">
                <a:solidFill>
                  <a:schemeClr val="bg1"/>
                </a:solidFill>
                <a:latin typeface="Arial"/>
                <a:ea typeface="Arial"/>
                <a:cs typeface="Arial"/>
              </a:rPr>
              <a:t>General overview of </a:t>
            </a:r>
            <a:r>
              <a:rPr lang="en-US" sz="3200" b="1" err="1">
                <a:solidFill>
                  <a:schemeClr val="bg1"/>
                </a:solidFill>
                <a:latin typeface="Arial"/>
                <a:ea typeface="Arial"/>
                <a:cs typeface="Arial"/>
              </a:rPr>
              <a:t>Fuzzgoat</a:t>
            </a:r>
          </a:p>
          <a:p>
            <a:pPr algn="ctr"/>
            <a:endParaRPr lang="en-US" sz="2000" b="1">
              <a:solidFill>
                <a:schemeClr val="bg1"/>
              </a:solidFil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F8622-B74B-2303-820B-B4C66B00AFA7}"/>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4672FC83-C66D-71D7-C99A-DB7DF94BBD27}"/>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3" name="Rectangle 2">
            <a:extLst>
              <a:ext uri="{FF2B5EF4-FFF2-40B4-BE49-F238E27FC236}">
                <a16:creationId xmlns:a16="http://schemas.microsoft.com/office/drawing/2014/main" id="{10C14340-F3DD-EDBC-451F-AD1172EC4980}"/>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reeform 1">
            <a:extLst>
              <a:ext uri="{FF2B5EF4-FFF2-40B4-BE49-F238E27FC236}">
                <a16:creationId xmlns:a16="http://schemas.microsoft.com/office/drawing/2014/main" id="{BC05B8CD-FF79-A7B6-1603-01CA7D515BC5}"/>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3" name="TextBox 12">
            <a:extLst>
              <a:ext uri="{FF2B5EF4-FFF2-40B4-BE49-F238E27FC236}">
                <a16:creationId xmlns:a16="http://schemas.microsoft.com/office/drawing/2014/main" id="{21B26E84-DC42-C5CC-E429-4EE93CCDFF4D}"/>
              </a:ext>
            </a:extLst>
          </p:cNvPr>
          <p:cNvSpPr txBox="1"/>
          <p:nvPr/>
        </p:nvSpPr>
        <p:spPr>
          <a:xfrm>
            <a:off x="-2491" y="-3795"/>
            <a:ext cx="657253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Font typeface="+mj-lt"/>
              <a:buAutoNum type="arabicPeriod"/>
            </a:pPr>
            <a:r>
              <a:rPr lang="en-US" sz="3200" b="1">
                <a:solidFill>
                  <a:schemeClr val="bg1"/>
                </a:solidFill>
                <a:latin typeface="Arial"/>
                <a:ea typeface="Arial"/>
                <a:cs typeface="Arial"/>
              </a:rPr>
              <a:t>General overview of </a:t>
            </a:r>
            <a:r>
              <a:rPr lang="en-US" sz="3200" b="1" err="1">
                <a:solidFill>
                  <a:schemeClr val="bg1"/>
                </a:solidFill>
                <a:latin typeface="Arial"/>
                <a:ea typeface="Arial"/>
                <a:cs typeface="Arial"/>
              </a:rPr>
              <a:t>Fuzzgoat</a:t>
            </a:r>
          </a:p>
          <a:p>
            <a:pPr algn="ctr"/>
            <a:endParaRPr lang="en-US" sz="2000" b="1">
              <a:solidFill>
                <a:schemeClr val="bg1"/>
              </a:solidFill>
              <a:cs typeface="Arial"/>
            </a:endParaRPr>
          </a:p>
        </p:txBody>
      </p:sp>
      <p:sp>
        <p:nvSpPr>
          <p:cNvPr id="4" name="Rectangle 3">
            <a:extLst>
              <a:ext uri="{FF2B5EF4-FFF2-40B4-BE49-F238E27FC236}">
                <a16:creationId xmlns:a16="http://schemas.microsoft.com/office/drawing/2014/main" id="{66FC8BA0-5362-4D4A-608D-A77B207AB78C}"/>
              </a:ext>
            </a:extLst>
          </p:cNvPr>
          <p:cNvSpPr/>
          <p:nvPr/>
        </p:nvSpPr>
        <p:spPr>
          <a:xfrm>
            <a:off x="323978" y="62579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1">
            <a:extLst>
              <a:ext uri="{FF2B5EF4-FFF2-40B4-BE49-F238E27FC236}">
                <a16:creationId xmlns:a16="http://schemas.microsoft.com/office/drawing/2014/main" id="{6DC77CCD-426F-6097-84BD-E30566DB3616}"/>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12" name="TextBox 11">
            <a:extLst>
              <a:ext uri="{FF2B5EF4-FFF2-40B4-BE49-F238E27FC236}">
                <a16:creationId xmlns:a16="http://schemas.microsoft.com/office/drawing/2014/main" id="{182CA83B-E71D-2A9A-1C3A-B8A1AF786D7B}"/>
              </a:ext>
            </a:extLst>
          </p:cNvPr>
          <p:cNvSpPr txBox="1"/>
          <p:nvPr/>
        </p:nvSpPr>
        <p:spPr>
          <a:xfrm>
            <a:off x="64789"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1.2 Out-of-bounds</a:t>
            </a:r>
            <a:r>
              <a:rPr lang="en-US" sz="2400" b="1">
                <a:solidFill>
                  <a:schemeClr val="bg1"/>
                </a:solidFill>
                <a:ea typeface="+mn-lt"/>
                <a:cs typeface="+mn-lt"/>
              </a:rPr>
              <a:t> Read / Invalid Free</a:t>
            </a:r>
            <a:endParaRPr lang="en-US" sz="2400" b="1">
              <a:solidFill>
                <a:schemeClr val="bg1"/>
              </a:solidFill>
              <a:cs typeface="Arial"/>
            </a:endParaRPr>
          </a:p>
          <a:p>
            <a:endParaRPr lang="en-US" sz="2400" b="1"/>
          </a:p>
        </p:txBody>
      </p:sp>
      <p:sp>
        <p:nvSpPr>
          <p:cNvPr id="17" name="TextBox 16">
            <a:extLst>
              <a:ext uri="{FF2B5EF4-FFF2-40B4-BE49-F238E27FC236}">
                <a16:creationId xmlns:a16="http://schemas.microsoft.com/office/drawing/2014/main" id="{DE67A61B-AEAF-8877-A025-0ACD157C7E07}"/>
              </a:ext>
            </a:extLst>
          </p:cNvPr>
          <p:cNvSpPr txBox="1"/>
          <p:nvPr/>
        </p:nvSpPr>
        <p:spPr>
          <a:xfrm>
            <a:off x="343005" y="3682237"/>
            <a:ext cx="1167938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sz="2400" b="1">
                <a:ea typeface="+mn-lt"/>
                <a:cs typeface="+mn-lt"/>
              </a:rPr>
              <a:t>Cause analysis</a:t>
            </a:r>
            <a:r>
              <a:rPr lang="en-US" sz="2400">
                <a:cs typeface="Arial"/>
              </a:rPr>
              <a:t>: </a:t>
            </a:r>
            <a:r>
              <a:rPr lang="en-US" sz="2400">
                <a:ea typeface="+mn-lt"/>
                <a:cs typeface="+mn-lt"/>
              </a:rPr>
              <a:t>uses the post-decrement operator </a:t>
            </a:r>
            <a:r>
              <a:rPr lang="en-US" sz="2400">
                <a:highlight>
                  <a:srgbClr val="C0C0C0"/>
                </a:highlight>
                <a:latin typeface="Consolas"/>
                <a:cs typeface="Arial"/>
              </a:rPr>
              <a:t>length--</a:t>
            </a:r>
            <a:r>
              <a:rPr lang="en-US" sz="2400">
                <a:ea typeface="+mn-lt"/>
                <a:cs typeface="+mn-lt"/>
              </a:rPr>
              <a:t> as an array index.</a:t>
            </a:r>
            <a:br>
              <a:rPr lang="en-US" sz="2400">
                <a:ea typeface="+mn-lt"/>
                <a:cs typeface="+mn-lt"/>
              </a:rPr>
            </a:br>
            <a:r>
              <a:rPr lang="en-US" sz="2400">
                <a:ea typeface="+mn-lt"/>
                <a:cs typeface="+mn-lt"/>
              </a:rPr>
              <a:t> If the array length is </a:t>
            </a:r>
            <a:r>
              <a:rPr lang="en-US" sz="2400">
                <a:highlight>
                  <a:srgbClr val="C0C0C0"/>
                </a:highlight>
                <a:latin typeface="Consolas"/>
                <a:cs typeface="Arial"/>
              </a:rPr>
              <a:t>N</a:t>
            </a:r>
            <a:r>
              <a:rPr lang="en-US" sz="2400">
                <a:ea typeface="+mn-lt"/>
                <a:cs typeface="+mn-lt"/>
              </a:rPr>
              <a:t>, valid indices are </a:t>
            </a:r>
            <a:r>
              <a:rPr lang="en-US" sz="2400">
                <a:highlight>
                  <a:srgbClr val="C0C0C0"/>
                </a:highlight>
                <a:latin typeface="Consolas"/>
                <a:cs typeface="Arial"/>
              </a:rPr>
              <a:t>0</a:t>
            </a:r>
            <a:r>
              <a:rPr lang="en-US" sz="2400">
                <a:ea typeface="+mn-lt"/>
                <a:cs typeface="+mn-lt"/>
              </a:rPr>
              <a:t> to </a:t>
            </a:r>
            <a:r>
              <a:rPr lang="en-US" sz="2400">
                <a:highlight>
                  <a:srgbClr val="C0C0C0"/>
                </a:highlight>
                <a:latin typeface="Consolas"/>
                <a:cs typeface="Arial"/>
              </a:rPr>
              <a:t>N-1</a:t>
            </a:r>
            <a:r>
              <a:rPr lang="en-US" sz="2400">
                <a:ea typeface="+mn-lt"/>
                <a:cs typeface="+mn-lt"/>
              </a:rPr>
              <a:t>. Using </a:t>
            </a:r>
            <a:r>
              <a:rPr lang="en-US" sz="2400">
                <a:highlight>
                  <a:srgbClr val="C0C0C0"/>
                </a:highlight>
                <a:latin typeface="Consolas"/>
                <a:cs typeface="Arial"/>
              </a:rPr>
              <a:t>[length--]</a:t>
            </a:r>
            <a:r>
              <a:rPr lang="en-US" sz="2400">
                <a:ea typeface="+mn-lt"/>
                <a:cs typeface="+mn-lt"/>
              </a:rPr>
              <a:t> accesses index </a:t>
            </a:r>
            <a:r>
              <a:rPr lang="en-US" sz="2400">
                <a:highlight>
                  <a:srgbClr val="C0C0C0"/>
                </a:highlight>
                <a:latin typeface="Consolas"/>
                <a:cs typeface="Arial"/>
              </a:rPr>
              <a:t>N</a:t>
            </a:r>
            <a:r>
              <a:rPr lang="en-US" sz="2400">
                <a:ea typeface="+mn-lt"/>
                <a:cs typeface="+mn-lt"/>
              </a:rPr>
              <a:t> (out of bounds) before decrementing </a:t>
            </a:r>
            <a:r>
              <a:rPr lang="en-US" sz="2400">
                <a:highlight>
                  <a:srgbClr val="C0C0C0"/>
                </a:highlight>
                <a:latin typeface="Consolas"/>
                <a:cs typeface="Arial"/>
              </a:rPr>
              <a:t>length</a:t>
            </a:r>
            <a:r>
              <a:rPr lang="en-US" sz="2400">
                <a:ea typeface="+mn-lt"/>
                <a:cs typeface="+mn-lt"/>
              </a:rPr>
              <a:t>, resulting in reading invalid or unintended memory.</a:t>
            </a:r>
          </a:p>
          <a:p>
            <a:pPr marL="228600" indent="-228600">
              <a:buFont typeface="Arial"/>
              <a:buChar char="•"/>
            </a:pPr>
            <a:endParaRPr lang="en-US" sz="2400">
              <a:ea typeface="+mn-lt"/>
              <a:cs typeface="+mn-lt"/>
            </a:endParaRPr>
          </a:p>
          <a:p>
            <a:pPr marL="228600" indent="-228600">
              <a:buFont typeface="Arial"/>
              <a:buChar char="•"/>
            </a:pPr>
            <a:r>
              <a:rPr lang="en-US" sz="2400" b="1">
                <a:ea typeface="+mn-lt"/>
                <a:cs typeface="+mn-lt"/>
              </a:rPr>
              <a:t>Trigger:</a:t>
            </a:r>
            <a:r>
              <a:rPr lang="en-US" sz="2400">
                <a:ea typeface="+mn-lt"/>
                <a:cs typeface="+mn-lt"/>
              </a:rPr>
              <a:t> Provide any valid JSON object, e.g. </a:t>
            </a:r>
            <a:r>
              <a:rPr lang="en-US" sz="2400">
                <a:highlight>
                  <a:srgbClr val="C0C0C0"/>
                </a:highlight>
                <a:ea typeface="+mn-lt"/>
                <a:cs typeface="+mn-lt"/>
              </a:rPr>
              <a:t>{"":0}</a:t>
            </a:r>
            <a:endParaRPr lang="en-US" sz="2400">
              <a:highlight>
                <a:srgbClr val="C0C0C0"/>
              </a:highlight>
              <a:cs typeface="Arial"/>
            </a:endParaRPr>
          </a:p>
        </p:txBody>
      </p:sp>
      <p:pic>
        <p:nvPicPr>
          <p:cNvPr id="19" name="Picture 18" descr="A black text with a white background&#10;&#10;AI-generated content may be incorrect.">
            <a:extLst>
              <a:ext uri="{FF2B5EF4-FFF2-40B4-BE49-F238E27FC236}">
                <a16:creationId xmlns:a16="http://schemas.microsoft.com/office/drawing/2014/main" id="{7BD17E86-E0FD-46A0-3177-9E3C75B3073C}"/>
              </a:ext>
            </a:extLst>
          </p:cNvPr>
          <p:cNvPicPr>
            <a:picLocks noChangeAspect="1"/>
          </p:cNvPicPr>
          <p:nvPr/>
        </p:nvPicPr>
        <p:blipFill>
          <a:blip r:embed="rId3"/>
          <a:srcRect l="-43" r="22915" b="-1351"/>
          <a:stretch>
            <a:fillRect/>
          </a:stretch>
        </p:blipFill>
        <p:spPr>
          <a:xfrm>
            <a:off x="1418655" y="2036288"/>
            <a:ext cx="9153774" cy="859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8678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687B0-EF64-6220-F580-CC3D6567113B}"/>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61CB09CC-90B7-02E3-9178-E3623AA2B27B}"/>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5" name="Freeform 1">
            <a:extLst>
              <a:ext uri="{FF2B5EF4-FFF2-40B4-BE49-F238E27FC236}">
                <a16:creationId xmlns:a16="http://schemas.microsoft.com/office/drawing/2014/main" id="{F7C85BCB-BB3F-811C-C5B4-8165A5A29115}"/>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3" name="TextBox 12">
            <a:extLst>
              <a:ext uri="{FF2B5EF4-FFF2-40B4-BE49-F238E27FC236}">
                <a16:creationId xmlns:a16="http://schemas.microsoft.com/office/drawing/2014/main" id="{9E86E977-B410-9B1A-1CCE-F1104133194A}"/>
              </a:ext>
            </a:extLst>
          </p:cNvPr>
          <p:cNvSpPr txBox="1"/>
          <p:nvPr/>
        </p:nvSpPr>
        <p:spPr>
          <a:xfrm>
            <a:off x="-2491" y="-3795"/>
            <a:ext cx="657253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Font typeface="+mj-lt"/>
              <a:buAutoNum type="arabicPeriod"/>
            </a:pPr>
            <a:r>
              <a:rPr lang="en-US" sz="3200" b="1">
                <a:solidFill>
                  <a:schemeClr val="bg1"/>
                </a:solidFill>
                <a:latin typeface="Arial"/>
                <a:ea typeface="Arial"/>
                <a:cs typeface="Arial"/>
              </a:rPr>
              <a:t>General overview of </a:t>
            </a:r>
            <a:r>
              <a:rPr lang="en-US" sz="3200" b="1" err="1">
                <a:solidFill>
                  <a:schemeClr val="bg1"/>
                </a:solidFill>
                <a:latin typeface="Arial"/>
                <a:ea typeface="Arial"/>
                <a:cs typeface="Arial"/>
              </a:rPr>
              <a:t>Fuzzgoat</a:t>
            </a:r>
          </a:p>
          <a:p>
            <a:pPr algn="ctr"/>
            <a:endParaRPr lang="en-US" sz="2000" b="1">
              <a:solidFill>
                <a:schemeClr val="bg1"/>
              </a:solidFill>
              <a:cs typeface="Arial"/>
            </a:endParaRPr>
          </a:p>
        </p:txBody>
      </p:sp>
      <p:sp>
        <p:nvSpPr>
          <p:cNvPr id="8" name="Freeform 1">
            <a:extLst>
              <a:ext uri="{FF2B5EF4-FFF2-40B4-BE49-F238E27FC236}">
                <a16:creationId xmlns:a16="http://schemas.microsoft.com/office/drawing/2014/main" id="{3A21F688-002F-ED62-649A-E8B347D99A08}"/>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6" name="Rectangle 5">
            <a:extLst>
              <a:ext uri="{FF2B5EF4-FFF2-40B4-BE49-F238E27FC236}">
                <a16:creationId xmlns:a16="http://schemas.microsoft.com/office/drawing/2014/main" id="{2ACC80E8-EC8D-59FA-750A-F6ADBC12E0F0}"/>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
            <a:extLst>
              <a:ext uri="{FF2B5EF4-FFF2-40B4-BE49-F238E27FC236}">
                <a16:creationId xmlns:a16="http://schemas.microsoft.com/office/drawing/2014/main" id="{D2741E4E-A74A-5158-0BBA-E2760E35E83C}"/>
              </a:ext>
            </a:extLst>
          </p:cNvPr>
          <p:cNvSpPr/>
          <p:nvPr/>
        </p:nvSpPr>
        <p:spPr>
          <a:xfrm>
            <a:off x="3514200" y="24694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5D74C4B2-F144-585B-333B-C90C6E9323CE}"/>
              </a:ext>
            </a:extLst>
          </p:cNvPr>
          <p:cNvSpPr txBox="1"/>
          <p:nvPr/>
        </p:nvSpPr>
        <p:spPr>
          <a:xfrm>
            <a:off x="90338" y="702977"/>
            <a:ext cx="68813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1.3  Invalid Free (Pointer Decrement Bug)</a:t>
            </a:r>
          </a:p>
          <a:p>
            <a:endParaRPr lang="en-US" sz="2400" b="1">
              <a:solidFill>
                <a:schemeClr val="bg1"/>
              </a:solidFill>
              <a:cs typeface="Arial"/>
            </a:endParaRPr>
          </a:p>
          <a:p>
            <a:endParaRPr lang="en-US" sz="2400" b="1">
              <a:solidFill>
                <a:schemeClr val="bg1"/>
              </a:solidFill>
            </a:endParaRPr>
          </a:p>
        </p:txBody>
      </p:sp>
      <p:sp>
        <p:nvSpPr>
          <p:cNvPr id="15" name="TextBox 14">
            <a:extLst>
              <a:ext uri="{FF2B5EF4-FFF2-40B4-BE49-F238E27FC236}">
                <a16:creationId xmlns:a16="http://schemas.microsoft.com/office/drawing/2014/main" id="{1B9ED456-ED68-3137-F6F9-9375CDA76B92}"/>
              </a:ext>
            </a:extLst>
          </p:cNvPr>
          <p:cNvSpPr txBox="1"/>
          <p:nvPr/>
        </p:nvSpPr>
        <p:spPr>
          <a:xfrm>
            <a:off x="3438415" y="4901580"/>
            <a:ext cx="657253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Font typeface="+mj-lt"/>
              <a:buAutoNum type="arabicPeriod"/>
            </a:pPr>
            <a:r>
              <a:rPr lang="en-US" sz="3200" b="1">
                <a:solidFill>
                  <a:schemeClr val="bg1"/>
                </a:solidFill>
                <a:latin typeface="Arial"/>
                <a:ea typeface="Arial"/>
                <a:cs typeface="Arial"/>
              </a:rPr>
              <a:t>General overview of </a:t>
            </a:r>
            <a:r>
              <a:rPr lang="en-US" sz="3200" b="1" err="1">
                <a:solidFill>
                  <a:schemeClr val="bg1"/>
                </a:solidFill>
                <a:latin typeface="Arial"/>
                <a:ea typeface="Arial"/>
                <a:cs typeface="Arial"/>
              </a:rPr>
              <a:t>Fuzzgoat</a:t>
            </a:r>
          </a:p>
          <a:p>
            <a:pPr algn="ctr"/>
            <a:endParaRPr lang="en-US" sz="2000" b="1">
              <a:solidFill>
                <a:schemeClr val="bg1"/>
              </a:solidFill>
              <a:cs typeface="Arial"/>
            </a:endParaRPr>
          </a:p>
        </p:txBody>
      </p:sp>
      <p:sp>
        <p:nvSpPr>
          <p:cNvPr id="18" name="TextBox 17">
            <a:extLst>
              <a:ext uri="{FF2B5EF4-FFF2-40B4-BE49-F238E27FC236}">
                <a16:creationId xmlns:a16="http://schemas.microsoft.com/office/drawing/2014/main" id="{5ED336EF-7114-0910-8B3F-65801E666D81}"/>
              </a:ext>
            </a:extLst>
          </p:cNvPr>
          <p:cNvSpPr txBox="1"/>
          <p:nvPr/>
        </p:nvSpPr>
        <p:spPr>
          <a:xfrm>
            <a:off x="259661" y="3706049"/>
            <a:ext cx="1167938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sz="2400" b="1">
                <a:ea typeface="+mn-lt"/>
                <a:cs typeface="+mn-lt"/>
              </a:rPr>
              <a:t>Cause analysis</a:t>
            </a:r>
            <a:r>
              <a:rPr lang="en-US" sz="2400">
                <a:cs typeface="Arial"/>
              </a:rPr>
              <a:t>: </a:t>
            </a:r>
            <a:r>
              <a:rPr lang="en-US" sz="2400">
                <a:ea typeface="+mn-lt"/>
                <a:cs typeface="+mn-lt"/>
              </a:rPr>
              <a:t>If the JSON string is empty (length = 0), the code intentionally decrements the pointer </a:t>
            </a:r>
            <a:r>
              <a:rPr lang="en-US" sz="2400">
                <a:highlight>
                  <a:srgbClr val="C0C0C0"/>
                </a:highlight>
                <a:latin typeface="Arial"/>
                <a:cs typeface="Arial"/>
              </a:rPr>
              <a:t>value-&gt;</a:t>
            </a:r>
            <a:r>
              <a:rPr lang="en-US" sz="2400" err="1">
                <a:highlight>
                  <a:srgbClr val="C0C0C0"/>
                </a:highlight>
                <a:latin typeface="Arial"/>
                <a:cs typeface="Arial"/>
              </a:rPr>
              <a:t>u.string.ptr</a:t>
            </a:r>
            <a:r>
              <a:rPr lang="en-US" sz="2400">
                <a:ea typeface="+mn-lt"/>
                <a:cs typeface="+mn-lt"/>
              </a:rPr>
              <a:t> by one. The program then calls </a:t>
            </a:r>
            <a:r>
              <a:rPr lang="en-US" sz="2400" err="1">
                <a:highlight>
                  <a:srgbClr val="C0C0C0"/>
                </a:highlight>
                <a:latin typeface="Arial"/>
                <a:cs typeface="Arial"/>
              </a:rPr>
              <a:t>mem_free</a:t>
            </a:r>
            <a:r>
              <a:rPr lang="en-US" sz="2400">
                <a:ea typeface="+mn-lt"/>
                <a:cs typeface="+mn-lt"/>
              </a:rPr>
              <a:t> (equivalent to </a:t>
            </a:r>
            <a:r>
              <a:rPr lang="en-US" sz="2400">
                <a:latin typeface="Arial"/>
                <a:cs typeface="Arial"/>
              </a:rPr>
              <a:t>free</a:t>
            </a:r>
            <a:r>
              <a:rPr lang="en-US" sz="2400">
                <a:ea typeface="+mn-lt"/>
                <a:cs typeface="+mn-lt"/>
              </a:rPr>
              <a:t>) on this modified pointer. Memory allocators can only free the exact starting address of an allocated block; passing an altered pointer results in an error.</a:t>
            </a:r>
          </a:p>
          <a:p>
            <a:pPr marL="228600" indent="-228600">
              <a:buFont typeface="Arial"/>
              <a:buChar char="•"/>
            </a:pPr>
            <a:endParaRPr lang="en-US" sz="2400">
              <a:ea typeface="+mn-lt"/>
              <a:cs typeface="+mn-lt"/>
            </a:endParaRPr>
          </a:p>
          <a:p>
            <a:pPr marL="228600" indent="-228600">
              <a:buFont typeface="Arial"/>
              <a:buChar char="•"/>
            </a:pPr>
            <a:r>
              <a:rPr lang="en-US" sz="2400" b="1">
                <a:ea typeface="+mn-lt"/>
                <a:cs typeface="+mn-lt"/>
              </a:rPr>
              <a:t>Trigger:</a:t>
            </a:r>
            <a:r>
              <a:rPr lang="en-US" sz="2400">
                <a:ea typeface="+mn-lt"/>
                <a:cs typeface="+mn-lt"/>
              </a:rPr>
              <a:t> Provide an empty JSON string as input, e.g. </a:t>
            </a:r>
            <a:r>
              <a:rPr lang="en-US" sz="2400">
                <a:highlight>
                  <a:srgbClr val="C0C0C0"/>
                </a:highlight>
                <a:ea typeface="+mn-lt"/>
                <a:cs typeface="+mn-lt"/>
              </a:rPr>
              <a:t>""</a:t>
            </a:r>
            <a:endParaRPr lang="en-US" sz="2400">
              <a:highlight>
                <a:srgbClr val="C0C0C0"/>
              </a:highlight>
              <a:cs typeface="Arial"/>
            </a:endParaRPr>
          </a:p>
        </p:txBody>
      </p:sp>
      <p:pic>
        <p:nvPicPr>
          <p:cNvPr id="21" name="Picture 20" descr="A computer code with text&#10;&#10;AI-generated content may be incorrect.">
            <a:extLst>
              <a:ext uri="{FF2B5EF4-FFF2-40B4-BE49-F238E27FC236}">
                <a16:creationId xmlns:a16="http://schemas.microsoft.com/office/drawing/2014/main" id="{07F90318-FD63-0178-BAEC-CBB3E302BCB9}"/>
              </a:ext>
            </a:extLst>
          </p:cNvPr>
          <p:cNvPicPr>
            <a:picLocks noChangeAspect="1"/>
          </p:cNvPicPr>
          <p:nvPr/>
        </p:nvPicPr>
        <p:blipFill>
          <a:blip r:embed="rId3"/>
          <a:stretch>
            <a:fillRect/>
          </a:stretch>
        </p:blipFill>
        <p:spPr>
          <a:xfrm>
            <a:off x="993513" y="1413184"/>
            <a:ext cx="10182225" cy="20193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25336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C92AE-36FC-2CC5-0BCE-80C949090331}"/>
            </a:ext>
          </a:extLst>
        </p:cNvPr>
        <p:cNvGrpSpPr/>
        <p:nvPr/>
      </p:nvGrpSpPr>
      <p:grpSpPr>
        <a:xfrm>
          <a:off x="0" y="0"/>
          <a:ext cx="0" cy="0"/>
          <a:chOff x="0" y="0"/>
          <a:chExt cx="0" cy="0"/>
        </a:xfrm>
      </p:grpSpPr>
      <p:sp>
        <p:nvSpPr>
          <p:cNvPr id="319" name="TextShape 1">
            <a:extLst>
              <a:ext uri="{FF2B5EF4-FFF2-40B4-BE49-F238E27FC236}">
                <a16:creationId xmlns:a16="http://schemas.microsoft.com/office/drawing/2014/main" id="{0EF18F7A-342B-EFC0-56B9-0C21DF3D9BB0}"/>
              </a:ext>
            </a:extLst>
          </p:cNvPr>
          <p:cNvSpPr txBox="1"/>
          <p:nvPr/>
        </p:nvSpPr>
        <p:spPr>
          <a:xfrm>
            <a:off x="338760" y="112680"/>
            <a:ext cx="11514240" cy="435600"/>
          </a:xfrm>
          <a:prstGeom prst="rect">
            <a:avLst/>
          </a:prstGeom>
          <a:noFill/>
          <a:ln>
            <a:noFill/>
          </a:ln>
        </p:spPr>
        <p:txBody>
          <a:bodyPr lIns="90000" tIns="45000" rIns="90000" bIns="45000">
            <a:noAutofit/>
          </a:bodyPr>
          <a:lstStyle/>
          <a:p>
            <a:endParaRPr lang="en-US" sz="1800" b="0" strike="noStrike" spc="-1">
              <a:solidFill>
                <a:srgbClr val="000000"/>
              </a:solidFill>
              <a:latin typeface="Calibri"/>
            </a:endParaRPr>
          </a:p>
        </p:txBody>
      </p:sp>
      <p:sp>
        <p:nvSpPr>
          <p:cNvPr id="13" name="TextBox 12">
            <a:extLst>
              <a:ext uri="{FF2B5EF4-FFF2-40B4-BE49-F238E27FC236}">
                <a16:creationId xmlns:a16="http://schemas.microsoft.com/office/drawing/2014/main" id="{45B184A5-F1D5-E85F-2680-70C66FE66F85}"/>
              </a:ext>
            </a:extLst>
          </p:cNvPr>
          <p:cNvSpPr txBox="1"/>
          <p:nvPr/>
        </p:nvSpPr>
        <p:spPr>
          <a:xfrm>
            <a:off x="-2491" y="-3795"/>
            <a:ext cx="6572532"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Font typeface="+mj-lt"/>
              <a:buAutoNum type="arabicPeriod"/>
            </a:pPr>
            <a:r>
              <a:rPr lang="en-US" sz="3200" b="1">
                <a:solidFill>
                  <a:schemeClr val="bg1"/>
                </a:solidFill>
                <a:latin typeface="Arial"/>
                <a:ea typeface="Arial"/>
                <a:cs typeface="Arial"/>
              </a:rPr>
              <a:t>General overview of </a:t>
            </a:r>
            <a:r>
              <a:rPr lang="en-US" sz="3200" b="1" err="1">
                <a:solidFill>
                  <a:schemeClr val="bg1"/>
                </a:solidFill>
                <a:latin typeface="Arial"/>
                <a:ea typeface="Arial"/>
                <a:cs typeface="Arial"/>
              </a:rPr>
              <a:t>Fuzzgoat</a:t>
            </a:r>
          </a:p>
          <a:p>
            <a:pPr algn="ctr"/>
            <a:endParaRPr lang="en-US" sz="2000" b="1">
              <a:solidFill>
                <a:schemeClr val="bg1"/>
              </a:solidFill>
              <a:cs typeface="Arial"/>
            </a:endParaRPr>
          </a:p>
        </p:txBody>
      </p:sp>
      <p:sp>
        <p:nvSpPr>
          <p:cNvPr id="3" name="Rectangle 2">
            <a:extLst>
              <a:ext uri="{FF2B5EF4-FFF2-40B4-BE49-F238E27FC236}">
                <a16:creationId xmlns:a16="http://schemas.microsoft.com/office/drawing/2014/main" id="{31677FB8-F7E1-B624-0014-6DF864E42B47}"/>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1">
            <a:extLst>
              <a:ext uri="{FF2B5EF4-FFF2-40B4-BE49-F238E27FC236}">
                <a16:creationId xmlns:a16="http://schemas.microsoft.com/office/drawing/2014/main" id="{E1C68B35-FAFD-E24E-79DB-0BC7A32618F5}"/>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2" name="TextBox 11">
            <a:extLst>
              <a:ext uri="{FF2B5EF4-FFF2-40B4-BE49-F238E27FC236}">
                <a16:creationId xmlns:a16="http://schemas.microsoft.com/office/drawing/2014/main" id="{FC8AFE48-01A2-CFE0-9687-1B369EE7023B}"/>
              </a:ext>
            </a:extLst>
          </p:cNvPr>
          <p:cNvSpPr txBox="1"/>
          <p:nvPr/>
        </p:nvSpPr>
        <p:spPr>
          <a:xfrm>
            <a:off x="44877" y="708389"/>
            <a:ext cx="688137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mn-lt"/>
                <a:cs typeface="+mn-lt"/>
              </a:rPr>
              <a:t>1.4 Null Pointer Dereference </a:t>
            </a:r>
          </a:p>
          <a:p>
            <a:endParaRPr lang="en-US" sz="2400" b="1">
              <a:solidFill>
                <a:schemeClr val="bg1"/>
              </a:solidFill>
              <a:cs typeface="Arial"/>
            </a:endParaRPr>
          </a:p>
          <a:p>
            <a:endParaRPr lang="en-US" sz="2400" b="1">
              <a:solidFill>
                <a:schemeClr val="bg1"/>
              </a:solidFill>
            </a:endParaRPr>
          </a:p>
        </p:txBody>
      </p:sp>
      <p:sp>
        <p:nvSpPr>
          <p:cNvPr id="16" name="TextBox 15">
            <a:extLst>
              <a:ext uri="{FF2B5EF4-FFF2-40B4-BE49-F238E27FC236}">
                <a16:creationId xmlns:a16="http://schemas.microsoft.com/office/drawing/2014/main" id="{55D03259-A5A4-7455-46F2-E76635930525}"/>
              </a:ext>
            </a:extLst>
          </p:cNvPr>
          <p:cNvSpPr txBox="1"/>
          <p:nvPr/>
        </p:nvSpPr>
        <p:spPr>
          <a:xfrm>
            <a:off x="176318" y="3872737"/>
            <a:ext cx="11679380"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
              <a:buChar char="•"/>
            </a:pPr>
            <a:r>
              <a:rPr lang="en-US" sz="2400" b="1">
                <a:ea typeface="+mn-lt"/>
                <a:cs typeface="+mn-lt"/>
              </a:rPr>
              <a:t>Cause analysis</a:t>
            </a:r>
            <a:r>
              <a:rPr lang="en-US" sz="2400">
                <a:cs typeface="Arial"/>
              </a:rPr>
              <a:t>: </a:t>
            </a:r>
            <a:r>
              <a:rPr lang="en-US" sz="2400">
                <a:ea typeface="+mn-lt"/>
                <a:cs typeface="+mn-lt"/>
              </a:rPr>
              <a:t>The code checks whether the string length is exactly 1. If true, it initializes a pointer </a:t>
            </a:r>
            <a:r>
              <a:rPr lang="en-US" sz="2400" err="1">
                <a:highlight>
                  <a:srgbClr val="C0C0C0"/>
                </a:highlight>
                <a:latin typeface="Arial"/>
                <a:cs typeface="Arial"/>
              </a:rPr>
              <a:t>null_pointer</a:t>
            </a:r>
            <a:r>
              <a:rPr lang="en-US" sz="2400">
                <a:ea typeface="+mn-lt"/>
                <a:cs typeface="+mn-lt"/>
              </a:rPr>
              <a:t> to </a:t>
            </a:r>
            <a:r>
              <a:rPr lang="en-US" sz="2400">
                <a:highlight>
                  <a:srgbClr val="C0C0C0"/>
                </a:highlight>
                <a:latin typeface="Arial"/>
                <a:cs typeface="Arial"/>
              </a:rPr>
              <a:t>NULL</a:t>
            </a:r>
            <a:r>
              <a:rPr lang="en-US" sz="2400">
                <a:ea typeface="+mn-lt"/>
                <a:cs typeface="+mn-lt"/>
              </a:rPr>
              <a:t> and then attempts to dereference it to print its value.</a:t>
            </a:r>
          </a:p>
          <a:p>
            <a:pPr marL="228600" indent="-228600">
              <a:buFont typeface="Arial"/>
              <a:buChar char="•"/>
            </a:pPr>
            <a:endParaRPr lang="en-US" sz="2400">
              <a:ea typeface="+mn-lt"/>
              <a:cs typeface="+mn-lt"/>
            </a:endParaRPr>
          </a:p>
          <a:p>
            <a:pPr marL="228600" indent="-228600">
              <a:buFont typeface="Arial"/>
              <a:buChar char="•"/>
            </a:pPr>
            <a:r>
              <a:rPr lang="en-US" sz="2400" b="1">
                <a:ea typeface="+mn-lt"/>
                <a:cs typeface="+mn-lt"/>
              </a:rPr>
              <a:t>Trigger:</a:t>
            </a:r>
            <a:r>
              <a:rPr lang="en-US" sz="2400">
                <a:ea typeface="+mn-lt"/>
                <a:cs typeface="+mn-lt"/>
              </a:rPr>
              <a:t> Provide a JSON string with a length of exactly one character, e.g. </a:t>
            </a:r>
            <a:r>
              <a:rPr lang="en-US" sz="2400">
                <a:highlight>
                  <a:srgbClr val="C0C0C0"/>
                </a:highlight>
                <a:ea typeface="+mn-lt"/>
                <a:cs typeface="+mn-lt"/>
              </a:rPr>
              <a:t>"A"</a:t>
            </a:r>
            <a:endParaRPr lang="en-US" sz="2400">
              <a:highlight>
                <a:srgbClr val="C0C0C0"/>
              </a:highlight>
              <a:cs typeface="Arial"/>
            </a:endParaRPr>
          </a:p>
        </p:txBody>
      </p:sp>
      <p:pic>
        <p:nvPicPr>
          <p:cNvPr id="19" name="Picture 18" descr="A screen shot of a computer code&#10;&#10;AI-generated content may be incorrect.">
            <a:extLst>
              <a:ext uri="{FF2B5EF4-FFF2-40B4-BE49-F238E27FC236}">
                <a16:creationId xmlns:a16="http://schemas.microsoft.com/office/drawing/2014/main" id="{BCC3F6F0-8762-107E-8CC4-E7C7000A065A}"/>
              </a:ext>
            </a:extLst>
          </p:cNvPr>
          <p:cNvPicPr>
            <a:picLocks noChangeAspect="1"/>
          </p:cNvPicPr>
          <p:nvPr/>
        </p:nvPicPr>
        <p:blipFill>
          <a:blip r:embed="rId3"/>
          <a:stretch>
            <a:fillRect/>
          </a:stretch>
        </p:blipFill>
        <p:spPr>
          <a:xfrm>
            <a:off x="2571317" y="1711036"/>
            <a:ext cx="5867400" cy="164782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27986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2E53F-C4D5-D7A4-325B-B690D138F4B6}"/>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4965AC9F-4882-4E76-D3E7-DBEB6451F848}"/>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5" name="TextBox 12">
            <a:extLst>
              <a:ext uri="{FF2B5EF4-FFF2-40B4-BE49-F238E27FC236}">
                <a16:creationId xmlns:a16="http://schemas.microsoft.com/office/drawing/2014/main" id="{553688CC-2DBF-B9B9-70D1-88311328F086}"/>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6" name="TextBox 12">
            <a:extLst>
              <a:ext uri="{FF2B5EF4-FFF2-40B4-BE49-F238E27FC236}">
                <a16:creationId xmlns:a16="http://schemas.microsoft.com/office/drawing/2014/main" id="{DBD08D8A-76BC-DCC5-918E-7CB32988AA0A}"/>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8" name="Picture 7" descr="A black text on a white background&#10;&#10;AI-generated content may be incorrect.">
            <a:extLst>
              <a:ext uri="{FF2B5EF4-FFF2-40B4-BE49-F238E27FC236}">
                <a16:creationId xmlns:a16="http://schemas.microsoft.com/office/drawing/2014/main" id="{1CE5F2A5-1C67-32B2-215D-A599517093B9}"/>
              </a:ext>
            </a:extLst>
          </p:cNvPr>
          <p:cNvPicPr>
            <a:picLocks noChangeAspect="1"/>
          </p:cNvPicPr>
          <p:nvPr/>
        </p:nvPicPr>
        <p:blipFill>
          <a:blip r:embed="rId3"/>
          <a:srcRect t="324" b="16923"/>
          <a:stretch>
            <a:fillRect/>
          </a:stretch>
        </p:blipFill>
        <p:spPr>
          <a:xfrm>
            <a:off x="1404938" y="1519238"/>
            <a:ext cx="9382125" cy="638464"/>
          </a:xfrm>
          <a:prstGeom prst="rect">
            <a:avLst/>
          </a:prstGeom>
        </p:spPr>
      </p:pic>
    </p:spTree>
    <p:extLst>
      <p:ext uri="{BB962C8B-B14F-4D97-AF65-F5344CB8AC3E}">
        <p14:creationId xmlns:p14="http://schemas.microsoft.com/office/powerpoint/2010/main" val="3430285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385FF-E9CA-EFDD-4ED3-39DE85958D9F}"/>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7B145A99-291B-26A9-14B2-B6E2C838272C}"/>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5" name="TextBox 12">
            <a:extLst>
              <a:ext uri="{FF2B5EF4-FFF2-40B4-BE49-F238E27FC236}">
                <a16:creationId xmlns:a16="http://schemas.microsoft.com/office/drawing/2014/main" id="{28315107-07BA-66C0-A3B3-7F5E8C639191}"/>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6" name="TextBox 12">
            <a:extLst>
              <a:ext uri="{FF2B5EF4-FFF2-40B4-BE49-F238E27FC236}">
                <a16:creationId xmlns:a16="http://schemas.microsoft.com/office/drawing/2014/main" id="{B41C6F6B-D43E-D853-E066-448E74C96066}"/>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8" name="Picture 7" descr="A black text on a white background&#10;&#10;AI-generated content may be incorrect.">
            <a:extLst>
              <a:ext uri="{FF2B5EF4-FFF2-40B4-BE49-F238E27FC236}">
                <a16:creationId xmlns:a16="http://schemas.microsoft.com/office/drawing/2014/main" id="{49831659-CE1F-B4B5-B4B0-C4B44DB9194E}"/>
              </a:ext>
            </a:extLst>
          </p:cNvPr>
          <p:cNvPicPr>
            <a:picLocks noChangeAspect="1"/>
          </p:cNvPicPr>
          <p:nvPr/>
        </p:nvPicPr>
        <p:blipFill>
          <a:blip r:embed="rId3"/>
          <a:srcRect t="324" b="16923"/>
          <a:stretch>
            <a:fillRect/>
          </a:stretch>
        </p:blipFill>
        <p:spPr>
          <a:xfrm>
            <a:off x="1404938" y="1519238"/>
            <a:ext cx="9382125" cy="638464"/>
          </a:xfrm>
          <a:prstGeom prst="rect">
            <a:avLst/>
          </a:prstGeom>
        </p:spPr>
      </p:pic>
      <p:sp>
        <p:nvSpPr>
          <p:cNvPr id="4" name="Rectangle 3">
            <a:extLst>
              <a:ext uri="{FF2B5EF4-FFF2-40B4-BE49-F238E27FC236}">
                <a16:creationId xmlns:a16="http://schemas.microsoft.com/office/drawing/2014/main" id="{0B7EE8D0-C133-B950-8DE4-D064B418BB62}"/>
              </a:ext>
            </a:extLst>
          </p:cNvPr>
          <p:cNvSpPr/>
          <p:nvPr/>
        </p:nvSpPr>
        <p:spPr>
          <a:xfrm>
            <a:off x="2821781" y="1619249"/>
            <a:ext cx="1738312" cy="53578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9A83607-BADB-856B-96AE-3CFACA8FA6F7}"/>
              </a:ext>
            </a:extLst>
          </p:cNvPr>
          <p:cNvSpPr txBox="1"/>
          <p:nvPr/>
        </p:nvSpPr>
        <p:spPr>
          <a:xfrm>
            <a:off x="369094" y="3036094"/>
            <a:ext cx="4191000" cy="1938992"/>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3B3B3B"/>
                </a:solidFill>
                <a:latin typeface="Arial"/>
                <a:ea typeface="-apple-system"/>
                <a:cs typeface="Arial"/>
              </a:rPr>
              <a:t>Enable check groups, including warning, style, performance</a:t>
            </a:r>
            <a:r>
              <a:rPr lang="en-US" sz="2400">
                <a:solidFill>
                  <a:srgbClr val="3B3B3B"/>
                </a:solidFill>
                <a:latin typeface="Arial"/>
                <a:ea typeface="-apple-system"/>
                <a:cs typeface="-apple-system"/>
              </a:rPr>
              <a:t>,</a:t>
            </a:r>
            <a:r>
              <a:rPr lang="en-US" sz="2400" b="0" i="0">
                <a:solidFill>
                  <a:srgbClr val="3B3B3B"/>
                </a:solidFill>
                <a:latin typeface="Arial"/>
                <a:ea typeface="-apple-system"/>
                <a:cs typeface="-apple-system"/>
              </a:rPr>
              <a:t> portability (</a:t>
            </a:r>
            <a:r>
              <a:rPr lang="en-US" sz="2400">
                <a:solidFill>
                  <a:srgbClr val="3B3B3B"/>
                </a:solidFill>
                <a:latin typeface="Arial"/>
                <a:ea typeface="-apple-system"/>
                <a:cs typeface="-apple-system"/>
              </a:rPr>
              <a:t>incompatible issue with system </a:t>
            </a:r>
            <a:r>
              <a:rPr lang="en-US" sz="2400" b="0" i="0">
                <a:solidFill>
                  <a:srgbClr val="3B3B3B"/>
                </a:solidFill>
                <a:latin typeface="Arial"/>
                <a:ea typeface="-apple-system"/>
                <a:cs typeface="-apple-system"/>
              </a:rPr>
              <a:t>), </a:t>
            </a:r>
            <a:r>
              <a:rPr lang="en-US" sz="2400" b="0" i="0" err="1">
                <a:solidFill>
                  <a:srgbClr val="3B3B3B"/>
                </a:solidFill>
                <a:latin typeface="Arial"/>
                <a:ea typeface="-apple-system"/>
                <a:cs typeface="-apple-system"/>
              </a:rPr>
              <a:t>unusedFunction</a:t>
            </a:r>
            <a:r>
              <a:rPr lang="en-US" sz="2400">
                <a:solidFill>
                  <a:srgbClr val="3B3B3B"/>
                </a:solidFill>
                <a:latin typeface="Arial"/>
                <a:ea typeface="-apple-system"/>
                <a:cs typeface="-apple-system"/>
              </a:rPr>
              <a:t>, ...</a:t>
            </a:r>
            <a:endParaRPr lang="en-US" sz="2400">
              <a:solidFill>
                <a:srgbClr val="3B3B3B"/>
              </a:solidFill>
            </a:endParaRPr>
          </a:p>
        </p:txBody>
      </p:sp>
      <p:cxnSp>
        <p:nvCxnSpPr>
          <p:cNvPr id="17" name="Straight Arrow Connector 16">
            <a:extLst>
              <a:ext uri="{FF2B5EF4-FFF2-40B4-BE49-F238E27FC236}">
                <a16:creationId xmlns:a16="http://schemas.microsoft.com/office/drawing/2014/main" id="{3DF2E4F0-391B-DD92-2EFF-EBFBF45BCE2C}"/>
              </a:ext>
            </a:extLst>
          </p:cNvPr>
          <p:cNvCxnSpPr/>
          <p:nvPr/>
        </p:nvCxnSpPr>
        <p:spPr>
          <a:xfrm flipH="1">
            <a:off x="2476500" y="2226467"/>
            <a:ext cx="1012030" cy="7620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096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BE24-5CA6-061D-4810-C5727FDE9193}"/>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C220D5BE-C17F-7CC6-295A-4D9DBAC7AEB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5" name="TextBox 12">
            <a:extLst>
              <a:ext uri="{FF2B5EF4-FFF2-40B4-BE49-F238E27FC236}">
                <a16:creationId xmlns:a16="http://schemas.microsoft.com/office/drawing/2014/main" id="{5EF2D178-79D0-72CA-8A9B-FA6745AF49C3}"/>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6" name="TextBox 12">
            <a:extLst>
              <a:ext uri="{FF2B5EF4-FFF2-40B4-BE49-F238E27FC236}">
                <a16:creationId xmlns:a16="http://schemas.microsoft.com/office/drawing/2014/main" id="{A66549C3-B190-437F-4106-DA7AAD2462CB}"/>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8" name="Picture 7" descr="A black text on a white background&#10;&#10;AI-generated content may be incorrect.">
            <a:extLst>
              <a:ext uri="{FF2B5EF4-FFF2-40B4-BE49-F238E27FC236}">
                <a16:creationId xmlns:a16="http://schemas.microsoft.com/office/drawing/2014/main" id="{2B104C37-E841-CA4A-DE61-EDFA7BED5B79}"/>
              </a:ext>
            </a:extLst>
          </p:cNvPr>
          <p:cNvPicPr>
            <a:picLocks noChangeAspect="1"/>
          </p:cNvPicPr>
          <p:nvPr/>
        </p:nvPicPr>
        <p:blipFill>
          <a:blip r:embed="rId3"/>
          <a:srcRect t="324" b="16923"/>
          <a:stretch>
            <a:fillRect/>
          </a:stretch>
        </p:blipFill>
        <p:spPr>
          <a:xfrm>
            <a:off x="1404938" y="1519238"/>
            <a:ext cx="9382125" cy="638464"/>
          </a:xfrm>
          <a:prstGeom prst="rect">
            <a:avLst/>
          </a:prstGeom>
        </p:spPr>
      </p:pic>
      <p:sp>
        <p:nvSpPr>
          <p:cNvPr id="4" name="Rectangle 3">
            <a:extLst>
              <a:ext uri="{FF2B5EF4-FFF2-40B4-BE49-F238E27FC236}">
                <a16:creationId xmlns:a16="http://schemas.microsoft.com/office/drawing/2014/main" id="{43645546-EC99-B7B6-B6F2-B761F23619D6}"/>
              </a:ext>
            </a:extLst>
          </p:cNvPr>
          <p:cNvSpPr/>
          <p:nvPr/>
        </p:nvSpPr>
        <p:spPr>
          <a:xfrm>
            <a:off x="2821781" y="1619249"/>
            <a:ext cx="1738312" cy="53578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E04EADB-04D0-2886-1B15-51FCEB614ADB}"/>
              </a:ext>
            </a:extLst>
          </p:cNvPr>
          <p:cNvSpPr txBox="1"/>
          <p:nvPr/>
        </p:nvSpPr>
        <p:spPr>
          <a:xfrm>
            <a:off x="369094" y="3036094"/>
            <a:ext cx="4191000" cy="1938992"/>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3B3B3B"/>
                </a:solidFill>
                <a:latin typeface="Arial"/>
                <a:ea typeface="-apple-system"/>
                <a:cs typeface="Arial"/>
              </a:rPr>
              <a:t>Enable check groups, including warning, style, performance</a:t>
            </a:r>
            <a:r>
              <a:rPr lang="en-US" sz="2400">
                <a:solidFill>
                  <a:srgbClr val="3B3B3B"/>
                </a:solidFill>
                <a:latin typeface="Arial"/>
                <a:ea typeface="-apple-system"/>
                <a:cs typeface="-apple-system"/>
              </a:rPr>
              <a:t>,</a:t>
            </a:r>
            <a:r>
              <a:rPr lang="en-US" sz="2400" b="0" i="0">
                <a:solidFill>
                  <a:srgbClr val="3B3B3B"/>
                </a:solidFill>
                <a:latin typeface="Arial"/>
                <a:ea typeface="-apple-system"/>
                <a:cs typeface="-apple-system"/>
              </a:rPr>
              <a:t> portability (</a:t>
            </a:r>
            <a:r>
              <a:rPr lang="en-US" sz="2400">
                <a:solidFill>
                  <a:srgbClr val="3B3B3B"/>
                </a:solidFill>
                <a:latin typeface="Arial"/>
                <a:ea typeface="-apple-system"/>
                <a:cs typeface="-apple-system"/>
              </a:rPr>
              <a:t>incompatible issue with system </a:t>
            </a:r>
            <a:r>
              <a:rPr lang="en-US" sz="2400" b="0" i="0">
                <a:solidFill>
                  <a:srgbClr val="3B3B3B"/>
                </a:solidFill>
                <a:latin typeface="Arial"/>
                <a:ea typeface="-apple-system"/>
                <a:cs typeface="-apple-system"/>
              </a:rPr>
              <a:t>), </a:t>
            </a:r>
            <a:r>
              <a:rPr lang="en-US" sz="2400" b="0" i="0" err="1">
                <a:solidFill>
                  <a:srgbClr val="3B3B3B"/>
                </a:solidFill>
                <a:latin typeface="Arial"/>
                <a:ea typeface="-apple-system"/>
                <a:cs typeface="-apple-system"/>
              </a:rPr>
              <a:t>unusedFunction</a:t>
            </a:r>
            <a:r>
              <a:rPr lang="en-US" sz="2400">
                <a:solidFill>
                  <a:srgbClr val="3B3B3B"/>
                </a:solidFill>
                <a:latin typeface="Arial"/>
                <a:ea typeface="-apple-system"/>
                <a:cs typeface="-apple-system"/>
              </a:rPr>
              <a:t>, ...</a:t>
            </a:r>
            <a:endParaRPr lang="en-US" sz="2400">
              <a:solidFill>
                <a:srgbClr val="3B3B3B"/>
              </a:solidFill>
            </a:endParaRPr>
          </a:p>
        </p:txBody>
      </p:sp>
      <p:cxnSp>
        <p:nvCxnSpPr>
          <p:cNvPr id="17" name="Straight Arrow Connector 16">
            <a:extLst>
              <a:ext uri="{FF2B5EF4-FFF2-40B4-BE49-F238E27FC236}">
                <a16:creationId xmlns:a16="http://schemas.microsoft.com/office/drawing/2014/main" id="{B9475241-9E49-12E7-881E-B14A7AD77443}"/>
              </a:ext>
            </a:extLst>
          </p:cNvPr>
          <p:cNvCxnSpPr/>
          <p:nvPr/>
        </p:nvCxnSpPr>
        <p:spPr>
          <a:xfrm flipH="1">
            <a:off x="2476500" y="2226467"/>
            <a:ext cx="1012030" cy="7620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88D1E15C-683F-00F3-D2CF-C54278D70CFB}"/>
              </a:ext>
            </a:extLst>
          </p:cNvPr>
          <p:cNvSpPr/>
          <p:nvPr/>
        </p:nvSpPr>
        <p:spPr>
          <a:xfrm>
            <a:off x="4643437" y="1619249"/>
            <a:ext cx="2059780" cy="53578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A36E5DDE-824D-7EF8-01AB-F32D3434F53A}"/>
              </a:ext>
            </a:extLst>
          </p:cNvPr>
          <p:cNvCxnSpPr>
            <a:cxnSpLocks/>
          </p:cNvCxnSpPr>
          <p:nvPr/>
        </p:nvCxnSpPr>
        <p:spPr>
          <a:xfrm>
            <a:off x="5798344" y="2226467"/>
            <a:ext cx="1012031" cy="76200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798B6CA-EC7F-861D-C678-6167E5833727}"/>
              </a:ext>
            </a:extLst>
          </p:cNvPr>
          <p:cNvSpPr txBox="1"/>
          <p:nvPr/>
        </p:nvSpPr>
        <p:spPr>
          <a:xfrm rot="-10800000" flipV="1">
            <a:off x="5883852" y="3032571"/>
            <a:ext cx="4191000" cy="830997"/>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3B3B3B"/>
                </a:solidFill>
                <a:cs typeface="Arial"/>
              </a:rPr>
              <a:t>Enable “possible” warnings and accept false positives.</a:t>
            </a:r>
            <a:endParaRPr lang="en-US"/>
          </a:p>
        </p:txBody>
      </p:sp>
    </p:spTree>
    <p:extLst>
      <p:ext uri="{BB962C8B-B14F-4D97-AF65-F5344CB8AC3E}">
        <p14:creationId xmlns:p14="http://schemas.microsoft.com/office/powerpoint/2010/main" val="1381971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C62FA-C799-232E-A323-E5D559E31343}"/>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EBAF630D-8CCB-7F35-B983-FCD243D46513}"/>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6" name="TextBox 12">
            <a:extLst>
              <a:ext uri="{FF2B5EF4-FFF2-40B4-BE49-F238E27FC236}">
                <a16:creationId xmlns:a16="http://schemas.microsoft.com/office/drawing/2014/main" id="{C891301E-1E1F-D57F-789A-C5F21DE5A59D}"/>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2" name="Picture 1" descr="A screenshot of a computer code&#10;&#10;AI-generated content may be incorrect.">
            <a:extLst>
              <a:ext uri="{FF2B5EF4-FFF2-40B4-BE49-F238E27FC236}">
                <a16:creationId xmlns:a16="http://schemas.microsoft.com/office/drawing/2014/main" id="{E4E89930-C052-C22C-06AC-FB013656AB1F}"/>
              </a:ext>
            </a:extLst>
          </p:cNvPr>
          <p:cNvPicPr>
            <a:picLocks noChangeAspect="1"/>
          </p:cNvPicPr>
          <p:nvPr/>
        </p:nvPicPr>
        <p:blipFill>
          <a:blip r:embed="rId3"/>
          <a:stretch>
            <a:fillRect/>
          </a:stretch>
        </p:blipFill>
        <p:spPr>
          <a:xfrm>
            <a:off x="1181533" y="1333933"/>
            <a:ext cx="9344025" cy="3895725"/>
          </a:xfrm>
          <a:prstGeom prst="rect">
            <a:avLst/>
          </a:prstGeom>
        </p:spPr>
      </p:pic>
      <p:sp>
        <p:nvSpPr>
          <p:cNvPr id="3" name="Rectangle 2">
            <a:extLst>
              <a:ext uri="{FF2B5EF4-FFF2-40B4-BE49-F238E27FC236}">
                <a16:creationId xmlns:a16="http://schemas.microsoft.com/office/drawing/2014/main" id="{FA188B42-774E-4260-54D6-F376AC980CA0}"/>
              </a:ext>
            </a:extLst>
          </p:cNvPr>
          <p:cNvSpPr/>
          <p:nvPr/>
        </p:nvSpPr>
        <p:spPr>
          <a:xfrm>
            <a:off x="1273790" y="3923731"/>
            <a:ext cx="9041641" cy="73925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1802AC6-2089-3F62-DE8B-8202224736FD}"/>
              </a:ext>
            </a:extLst>
          </p:cNvPr>
          <p:cNvSpPr txBox="1"/>
          <p:nvPr/>
        </p:nvSpPr>
        <p:spPr>
          <a:xfrm>
            <a:off x="2658341" y="5230091"/>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rgbClr val="3B3B3B"/>
                </a:solidFill>
              </a:rPr>
              <a:t>Cppcheck can only detect 1/4 bugs (Bug number 4)</a:t>
            </a:r>
          </a:p>
          <a:p>
            <a:pPr algn="ctr"/>
            <a:endParaRPr lang="en-US" i="1"/>
          </a:p>
        </p:txBody>
      </p:sp>
    </p:spTree>
    <p:extLst>
      <p:ext uri="{BB962C8B-B14F-4D97-AF65-F5344CB8AC3E}">
        <p14:creationId xmlns:p14="http://schemas.microsoft.com/office/powerpoint/2010/main" val="1534186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A8A35-D8D3-AB36-A4D2-7D69F9232F68}"/>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4339F223-0A61-B788-68E3-688BBC2C1312}"/>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6" name="TextBox 12">
            <a:extLst>
              <a:ext uri="{FF2B5EF4-FFF2-40B4-BE49-F238E27FC236}">
                <a16:creationId xmlns:a16="http://schemas.microsoft.com/office/drawing/2014/main" id="{3FB7ABE9-9092-67F1-DB1E-27586FBCA0B3}"/>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Cppcheck</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4" name="Picture 3" descr="A screenshot of a computer&#10;&#10;AI-generated content may be incorrect.">
            <a:extLst>
              <a:ext uri="{FF2B5EF4-FFF2-40B4-BE49-F238E27FC236}">
                <a16:creationId xmlns:a16="http://schemas.microsoft.com/office/drawing/2014/main" id="{EC6CD40B-3801-B609-086A-7075CAD166AC}"/>
              </a:ext>
            </a:extLst>
          </p:cNvPr>
          <p:cNvPicPr>
            <a:picLocks noChangeAspect="1"/>
          </p:cNvPicPr>
          <p:nvPr/>
        </p:nvPicPr>
        <p:blipFill>
          <a:blip r:embed="rId3"/>
          <a:stretch>
            <a:fillRect/>
          </a:stretch>
        </p:blipFill>
        <p:spPr>
          <a:xfrm>
            <a:off x="2301216" y="966716"/>
            <a:ext cx="6338523" cy="5140657"/>
          </a:xfrm>
          <a:prstGeom prst="rect">
            <a:avLst/>
          </a:prstGeom>
        </p:spPr>
      </p:pic>
      <p:sp>
        <p:nvSpPr>
          <p:cNvPr id="10" name="Rectangle 9">
            <a:extLst>
              <a:ext uri="{FF2B5EF4-FFF2-40B4-BE49-F238E27FC236}">
                <a16:creationId xmlns:a16="http://schemas.microsoft.com/office/drawing/2014/main" id="{34F73E09-0E6A-68DD-D737-94D15E9E4AC2}"/>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83DCE8C-0464-2ACA-013E-532010F0FE27}"/>
              </a:ext>
            </a:extLst>
          </p:cNvPr>
          <p:cNvSpPr txBox="1"/>
          <p:nvPr/>
        </p:nvSpPr>
        <p:spPr>
          <a:xfrm>
            <a:off x="2658341" y="6105822"/>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rgbClr val="3B3B3B"/>
                </a:solidFill>
              </a:rPr>
              <a:t>Cppcheck can only detect 1/4 bugs (Bug number 4)</a:t>
            </a:r>
          </a:p>
          <a:p>
            <a:pPr algn="ctr"/>
            <a:endParaRPr lang="en-US" i="1"/>
          </a:p>
        </p:txBody>
      </p:sp>
    </p:spTree>
    <p:extLst>
      <p:ext uri="{BB962C8B-B14F-4D97-AF65-F5344CB8AC3E}">
        <p14:creationId xmlns:p14="http://schemas.microsoft.com/office/powerpoint/2010/main" val="2779136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DDAB2-4B9C-2CFD-F9BD-4EDC97E9B8F1}"/>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F461CAB9-83D1-6DF4-A5DD-8E04486B6607}"/>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10" name="Rectangle 9">
            <a:extLst>
              <a:ext uri="{FF2B5EF4-FFF2-40B4-BE49-F238E27FC236}">
                <a16:creationId xmlns:a16="http://schemas.microsoft.com/office/drawing/2014/main" id="{BA89DEBC-15E0-F5EB-CF60-CFD7AB0C368C}"/>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 code&#10;&#10;AI-generated content may be incorrect.">
            <a:extLst>
              <a:ext uri="{FF2B5EF4-FFF2-40B4-BE49-F238E27FC236}">
                <a16:creationId xmlns:a16="http://schemas.microsoft.com/office/drawing/2014/main" id="{084A3BC3-8D57-B63E-26F3-3DE0DF0540EC}"/>
              </a:ext>
            </a:extLst>
          </p:cNvPr>
          <p:cNvPicPr>
            <a:picLocks noChangeAspect="1"/>
          </p:cNvPicPr>
          <p:nvPr/>
        </p:nvPicPr>
        <p:blipFill>
          <a:blip r:embed="rId3"/>
          <a:stretch>
            <a:fillRect/>
          </a:stretch>
        </p:blipFill>
        <p:spPr>
          <a:xfrm>
            <a:off x="171237" y="986193"/>
            <a:ext cx="6253945" cy="5272301"/>
          </a:xfrm>
          <a:prstGeom prst="rect">
            <a:avLst/>
          </a:prstGeom>
        </p:spPr>
      </p:pic>
      <p:sp>
        <p:nvSpPr>
          <p:cNvPr id="11" name="TextBox 10">
            <a:extLst>
              <a:ext uri="{FF2B5EF4-FFF2-40B4-BE49-F238E27FC236}">
                <a16:creationId xmlns:a16="http://schemas.microsoft.com/office/drawing/2014/main" id="{F57F6DE5-C984-7888-6354-7FE94FBF7FAB}"/>
              </a:ext>
            </a:extLst>
          </p:cNvPr>
          <p:cNvSpPr txBox="1"/>
          <p:nvPr/>
        </p:nvSpPr>
        <p:spPr>
          <a:xfrm>
            <a:off x="1319284" y="6374642"/>
            <a:ext cx="30480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rgbClr val="3B3B3B"/>
                </a:solidFill>
                <a:latin typeface="Arial"/>
                <a:ea typeface="Droid Sans Mono"/>
                <a:cs typeface="Droid Sans Mono"/>
              </a:rPr>
              <a:t>Struct inside </a:t>
            </a:r>
            <a:r>
              <a:rPr lang="en-US" i="1" err="1">
                <a:solidFill>
                  <a:srgbClr val="3B3B3B"/>
                </a:solidFill>
                <a:highlight>
                  <a:srgbClr val="C0C0C0"/>
                </a:highlight>
                <a:latin typeface="Arial"/>
                <a:ea typeface="Droid Sans Mono"/>
                <a:cs typeface="Droid Sans Mono"/>
              </a:rPr>
              <a:t>fuzzgoat</a:t>
            </a:r>
            <a:r>
              <a:rPr lang="en-US" b="0" i="1" err="1">
                <a:solidFill>
                  <a:srgbClr val="3B3B3B"/>
                </a:solidFill>
                <a:highlight>
                  <a:srgbClr val="C0C0C0"/>
                </a:highlight>
                <a:latin typeface="Arial"/>
                <a:ea typeface="Droid Sans Mono"/>
                <a:cs typeface="Droid Sans Mono"/>
              </a:rPr>
              <a:t>.h</a:t>
            </a:r>
            <a:endParaRPr lang="en-US" i="1">
              <a:highlight>
                <a:srgbClr val="C0C0C0"/>
              </a:highlight>
              <a:latin typeface="Arial"/>
            </a:endParaRPr>
          </a:p>
          <a:p>
            <a:pPr algn="ctr"/>
            <a:endParaRPr lang="en-US" i="1">
              <a:highlight>
                <a:srgbClr val="C0C0C0"/>
              </a:highlight>
            </a:endParaRPr>
          </a:p>
        </p:txBody>
      </p:sp>
    </p:spTree>
    <p:extLst>
      <p:ext uri="{BB962C8B-B14F-4D97-AF65-F5344CB8AC3E}">
        <p14:creationId xmlns:p14="http://schemas.microsoft.com/office/powerpoint/2010/main" val="3876152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DCBC8-7C72-046B-2EF7-1F88EAD22973}"/>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32DE8E5F-0908-B395-DDE4-4A5F41D3F74A}"/>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10" name="Rectangle 9">
            <a:extLst>
              <a:ext uri="{FF2B5EF4-FFF2-40B4-BE49-F238E27FC236}">
                <a16:creationId xmlns:a16="http://schemas.microsoft.com/office/drawing/2014/main" id="{48801E6E-929B-C274-A20F-3A89BBDCCFA7}"/>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 code&#10;&#10;AI-generated content may be incorrect.">
            <a:extLst>
              <a:ext uri="{FF2B5EF4-FFF2-40B4-BE49-F238E27FC236}">
                <a16:creationId xmlns:a16="http://schemas.microsoft.com/office/drawing/2014/main" id="{4A790B50-C987-9890-007C-A3995E9F2011}"/>
              </a:ext>
            </a:extLst>
          </p:cNvPr>
          <p:cNvPicPr>
            <a:picLocks noChangeAspect="1"/>
          </p:cNvPicPr>
          <p:nvPr/>
        </p:nvPicPr>
        <p:blipFill>
          <a:blip r:embed="rId3"/>
          <a:stretch>
            <a:fillRect/>
          </a:stretch>
        </p:blipFill>
        <p:spPr>
          <a:xfrm>
            <a:off x="171237" y="986193"/>
            <a:ext cx="6253945" cy="5272301"/>
          </a:xfrm>
          <a:prstGeom prst="rect">
            <a:avLst/>
          </a:prstGeom>
        </p:spPr>
      </p:pic>
      <p:pic>
        <p:nvPicPr>
          <p:cNvPr id="3" name="Picture 2" descr="A screenshot of a computer code&#10;&#10;AI-generated content may be incorrect.">
            <a:extLst>
              <a:ext uri="{FF2B5EF4-FFF2-40B4-BE49-F238E27FC236}">
                <a16:creationId xmlns:a16="http://schemas.microsoft.com/office/drawing/2014/main" id="{DD0BD4BF-B6FB-E8E0-BD3A-835A982304E7}"/>
              </a:ext>
            </a:extLst>
          </p:cNvPr>
          <p:cNvPicPr>
            <a:picLocks noChangeAspect="1"/>
          </p:cNvPicPr>
          <p:nvPr/>
        </p:nvPicPr>
        <p:blipFill>
          <a:blip r:embed="rId4"/>
          <a:stretch>
            <a:fillRect/>
          </a:stretch>
        </p:blipFill>
        <p:spPr>
          <a:xfrm>
            <a:off x="6934485" y="3055109"/>
            <a:ext cx="2781300" cy="2476500"/>
          </a:xfrm>
          <a:prstGeom prst="rect">
            <a:avLst/>
          </a:prstGeom>
        </p:spPr>
      </p:pic>
      <p:sp>
        <p:nvSpPr>
          <p:cNvPr id="7" name="Rectangle 6">
            <a:extLst>
              <a:ext uri="{FF2B5EF4-FFF2-40B4-BE49-F238E27FC236}">
                <a16:creationId xmlns:a16="http://schemas.microsoft.com/office/drawing/2014/main" id="{56053230-35D6-26BA-72E5-5F82F8326769}"/>
              </a:ext>
            </a:extLst>
          </p:cNvPr>
          <p:cNvSpPr/>
          <p:nvPr/>
        </p:nvSpPr>
        <p:spPr>
          <a:xfrm>
            <a:off x="420806" y="5948149"/>
            <a:ext cx="966716" cy="25020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08C2429C-B8C0-E8C2-0478-A8CFE171FF5F}"/>
              </a:ext>
            </a:extLst>
          </p:cNvPr>
          <p:cNvCxnSpPr/>
          <p:nvPr/>
        </p:nvCxnSpPr>
        <p:spPr>
          <a:xfrm flipV="1">
            <a:off x="1523999" y="3320954"/>
            <a:ext cx="5379492" cy="27181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D9C9005-3F2B-34C2-4DAB-5DD9E9722DDA}"/>
              </a:ext>
            </a:extLst>
          </p:cNvPr>
          <p:cNvSpPr txBox="1"/>
          <p:nvPr/>
        </p:nvSpPr>
        <p:spPr>
          <a:xfrm>
            <a:off x="1319284" y="6374642"/>
            <a:ext cx="30480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solidFill>
                  <a:srgbClr val="3B3B3B"/>
                </a:solidFill>
                <a:latin typeface="Arial"/>
                <a:ea typeface="Droid Sans Mono"/>
                <a:cs typeface="Droid Sans Mono"/>
              </a:rPr>
              <a:t>Struct inside </a:t>
            </a:r>
            <a:r>
              <a:rPr lang="en-US" i="1" err="1">
                <a:solidFill>
                  <a:srgbClr val="3B3B3B"/>
                </a:solidFill>
                <a:highlight>
                  <a:srgbClr val="C0C0C0"/>
                </a:highlight>
                <a:latin typeface="Arial"/>
                <a:ea typeface="Droid Sans Mono"/>
                <a:cs typeface="Droid Sans Mono"/>
              </a:rPr>
              <a:t>fuzzgoat</a:t>
            </a:r>
            <a:r>
              <a:rPr lang="en-US" b="0" i="1" err="1">
                <a:solidFill>
                  <a:srgbClr val="3B3B3B"/>
                </a:solidFill>
                <a:highlight>
                  <a:srgbClr val="C0C0C0"/>
                </a:highlight>
                <a:latin typeface="Arial"/>
                <a:ea typeface="Droid Sans Mono"/>
                <a:cs typeface="Droid Sans Mono"/>
              </a:rPr>
              <a:t>.h</a:t>
            </a:r>
            <a:endParaRPr lang="en-US" i="1">
              <a:highlight>
                <a:srgbClr val="C0C0C0"/>
              </a:highlight>
              <a:latin typeface="Arial"/>
            </a:endParaRPr>
          </a:p>
          <a:p>
            <a:pPr algn="ctr"/>
            <a:endParaRPr lang="en-US" i="1">
              <a:highlight>
                <a:srgbClr val="C0C0C0"/>
              </a:highlight>
            </a:endParaRPr>
          </a:p>
        </p:txBody>
      </p:sp>
    </p:spTree>
    <p:extLst>
      <p:ext uri="{BB962C8B-B14F-4D97-AF65-F5344CB8AC3E}">
        <p14:creationId xmlns:p14="http://schemas.microsoft.com/office/powerpoint/2010/main" val="2482491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90BF4-5FD5-F6BA-6788-15104FCD2500}"/>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0671F19D-281E-C64B-584E-B9784615F048}"/>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10" name="Rectangle 9">
            <a:extLst>
              <a:ext uri="{FF2B5EF4-FFF2-40B4-BE49-F238E27FC236}">
                <a16:creationId xmlns:a16="http://schemas.microsoft.com/office/drawing/2014/main" id="{3E3B046E-B78C-0DB0-C1AA-E11CA236CFE8}"/>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6450C7B-B2F4-3176-867A-20CBAEABAABC}"/>
              </a:ext>
            </a:extLst>
          </p:cNvPr>
          <p:cNvSpPr txBox="1"/>
          <p:nvPr/>
        </p:nvSpPr>
        <p:spPr>
          <a:xfrm>
            <a:off x="4159466" y="5924370"/>
            <a:ext cx="30480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i="1">
              <a:solidFill>
                <a:srgbClr val="3B3B3B"/>
              </a:solidFill>
              <a:highlight>
                <a:srgbClr val="C0C0C0"/>
              </a:highlight>
              <a:latin typeface="Arial"/>
            </a:endParaRPr>
          </a:p>
          <a:p>
            <a:pPr algn="ctr"/>
            <a:r>
              <a:rPr lang="en-US" i="1"/>
              <a:t>Harness file for ESBMC</a:t>
            </a:r>
          </a:p>
        </p:txBody>
      </p:sp>
      <p:pic>
        <p:nvPicPr>
          <p:cNvPr id="9" name="Picture 8" descr="A computer code with green text&#10;&#10;AI-generated content may be incorrect.">
            <a:extLst>
              <a:ext uri="{FF2B5EF4-FFF2-40B4-BE49-F238E27FC236}">
                <a16:creationId xmlns:a16="http://schemas.microsoft.com/office/drawing/2014/main" id="{BE431274-E884-8254-72E7-B4301E945D71}"/>
              </a:ext>
            </a:extLst>
          </p:cNvPr>
          <p:cNvPicPr>
            <a:picLocks noChangeAspect="1"/>
          </p:cNvPicPr>
          <p:nvPr/>
        </p:nvPicPr>
        <p:blipFill>
          <a:blip r:embed="rId3"/>
          <a:stretch>
            <a:fillRect/>
          </a:stretch>
        </p:blipFill>
        <p:spPr>
          <a:xfrm>
            <a:off x="81395" y="1115291"/>
            <a:ext cx="11734800" cy="4991100"/>
          </a:xfrm>
          <a:prstGeom prst="rect">
            <a:avLst/>
          </a:prstGeom>
        </p:spPr>
      </p:pic>
    </p:spTree>
    <p:extLst>
      <p:ext uri="{BB962C8B-B14F-4D97-AF65-F5344CB8AC3E}">
        <p14:creationId xmlns:p14="http://schemas.microsoft.com/office/powerpoint/2010/main" val="3725897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B8367-2934-530D-47DF-6B2E92C0D849}"/>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A26EAA9B-DFA7-B510-D865-562A1F338884}"/>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10" name="Rectangle 9">
            <a:extLst>
              <a:ext uri="{FF2B5EF4-FFF2-40B4-BE49-F238E27FC236}">
                <a16:creationId xmlns:a16="http://schemas.microsoft.com/office/drawing/2014/main" id="{6E1E54BA-A1B9-01EF-DF03-74D97F08CDCA}"/>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600736C-3D3F-17E7-1581-5EAC5952B334}"/>
              </a:ext>
            </a:extLst>
          </p:cNvPr>
          <p:cNvSpPr txBox="1"/>
          <p:nvPr/>
        </p:nvSpPr>
        <p:spPr>
          <a:xfrm>
            <a:off x="4159466" y="5924370"/>
            <a:ext cx="30480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i="1">
              <a:solidFill>
                <a:srgbClr val="3B3B3B"/>
              </a:solidFill>
              <a:highlight>
                <a:srgbClr val="C0C0C0"/>
              </a:highlight>
              <a:latin typeface="Arial"/>
            </a:endParaRPr>
          </a:p>
          <a:p>
            <a:pPr algn="ctr"/>
            <a:r>
              <a:rPr lang="en-US" i="1"/>
              <a:t>Harness file for ESBMC</a:t>
            </a:r>
          </a:p>
        </p:txBody>
      </p:sp>
      <p:pic>
        <p:nvPicPr>
          <p:cNvPr id="2" name="Picture 1" descr="A screenshot of a computer code&#10;&#10;AI-generated content may be incorrect.">
            <a:extLst>
              <a:ext uri="{FF2B5EF4-FFF2-40B4-BE49-F238E27FC236}">
                <a16:creationId xmlns:a16="http://schemas.microsoft.com/office/drawing/2014/main" id="{0C5A6B9C-C476-B87A-1501-8367E6E95B99}"/>
              </a:ext>
            </a:extLst>
          </p:cNvPr>
          <p:cNvPicPr>
            <a:picLocks noChangeAspect="1"/>
          </p:cNvPicPr>
          <p:nvPr/>
        </p:nvPicPr>
        <p:blipFill>
          <a:blip r:embed="rId3"/>
          <a:srcRect r="571" b="127"/>
          <a:stretch>
            <a:fillRect/>
          </a:stretch>
        </p:blipFill>
        <p:spPr>
          <a:xfrm>
            <a:off x="2651414" y="1175904"/>
            <a:ext cx="6031897" cy="4924221"/>
          </a:xfrm>
          <a:prstGeom prst="rect">
            <a:avLst/>
          </a:prstGeom>
        </p:spPr>
      </p:pic>
    </p:spTree>
    <p:extLst>
      <p:ext uri="{BB962C8B-B14F-4D97-AF65-F5344CB8AC3E}">
        <p14:creationId xmlns:p14="http://schemas.microsoft.com/office/powerpoint/2010/main" val="3389646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5E2B4-843E-E737-E4B3-5300C060FE49}"/>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D9DB5C94-38B4-533D-0201-E25B7ADC9AAC}"/>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10" name="Rectangle 9">
            <a:extLst>
              <a:ext uri="{FF2B5EF4-FFF2-40B4-BE49-F238E27FC236}">
                <a16:creationId xmlns:a16="http://schemas.microsoft.com/office/drawing/2014/main" id="{11454DAD-1C59-11FC-A966-02F961EF38CC}"/>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4E96449-536F-11D8-0D45-DABCDA32A9FA}"/>
              </a:ext>
            </a:extLst>
          </p:cNvPr>
          <p:cNvSpPr txBox="1"/>
          <p:nvPr/>
        </p:nvSpPr>
        <p:spPr>
          <a:xfrm>
            <a:off x="7746075" y="5966633"/>
            <a:ext cx="304800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i="1">
              <a:solidFill>
                <a:srgbClr val="3B3B3B"/>
              </a:solidFill>
              <a:highlight>
                <a:srgbClr val="C0C0C0"/>
              </a:highlight>
              <a:latin typeface="Arial"/>
            </a:endParaRPr>
          </a:p>
          <a:p>
            <a:pPr algn="ctr"/>
            <a:r>
              <a:rPr lang="en-US" i="1"/>
              <a:t>Harness file for ESBMC</a:t>
            </a:r>
          </a:p>
        </p:txBody>
      </p:sp>
      <p:pic>
        <p:nvPicPr>
          <p:cNvPr id="2" name="Picture 1" descr="A screenshot of a computer code&#10;&#10;AI-generated content may be incorrect.">
            <a:extLst>
              <a:ext uri="{FF2B5EF4-FFF2-40B4-BE49-F238E27FC236}">
                <a16:creationId xmlns:a16="http://schemas.microsoft.com/office/drawing/2014/main" id="{4A5E08D1-A8FE-389B-5D11-20E4D6BBB227}"/>
              </a:ext>
            </a:extLst>
          </p:cNvPr>
          <p:cNvPicPr>
            <a:picLocks noChangeAspect="1"/>
          </p:cNvPicPr>
          <p:nvPr/>
        </p:nvPicPr>
        <p:blipFill>
          <a:blip r:embed="rId3"/>
          <a:srcRect r="571" b="127"/>
          <a:stretch>
            <a:fillRect/>
          </a:stretch>
        </p:blipFill>
        <p:spPr>
          <a:xfrm>
            <a:off x="5981636" y="1260571"/>
            <a:ext cx="6031897" cy="4924221"/>
          </a:xfrm>
          <a:prstGeom prst="rect">
            <a:avLst/>
          </a:prstGeom>
        </p:spPr>
      </p:pic>
      <p:sp>
        <p:nvSpPr>
          <p:cNvPr id="4" name="TextBox 3">
            <a:extLst>
              <a:ext uri="{FF2B5EF4-FFF2-40B4-BE49-F238E27FC236}">
                <a16:creationId xmlns:a16="http://schemas.microsoft.com/office/drawing/2014/main" id="{45E8DBE7-53DE-8496-B27A-886BB4A38AC6}"/>
              </a:ext>
            </a:extLst>
          </p:cNvPr>
          <p:cNvSpPr txBox="1"/>
          <p:nvPr/>
        </p:nvSpPr>
        <p:spPr>
          <a:xfrm>
            <a:off x="451697" y="1721907"/>
            <a:ext cx="536825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ESBMC will automatically explore all paths corresponding to:</a:t>
            </a:r>
            <a:endParaRPr lang="en-US" sz="2400"/>
          </a:p>
          <a:p>
            <a:endParaRPr lang="en-US" sz="2400">
              <a:latin typeface="Arial"/>
              <a:cs typeface="Arial"/>
            </a:endParaRPr>
          </a:p>
          <a:p>
            <a:pPr marL="285750" indent="-285750">
              <a:buFont typeface="Arial"/>
              <a:buChar char="•"/>
            </a:pPr>
            <a:r>
              <a:rPr lang="en-US" sz="2400">
                <a:latin typeface="Arial"/>
                <a:cs typeface="Arial"/>
              </a:rPr>
              <a:t>type</a:t>
            </a:r>
            <a:r>
              <a:rPr lang="en-US" sz="2400">
                <a:ea typeface="+mn-lt"/>
                <a:cs typeface="+mn-lt"/>
              </a:rPr>
              <a:t> can take values from </a:t>
            </a:r>
            <a:r>
              <a:rPr lang="en-US" sz="2400" b="1">
                <a:ea typeface="+mn-lt"/>
                <a:cs typeface="+mn-lt"/>
              </a:rPr>
              <a:t>0</a:t>
            </a:r>
            <a:r>
              <a:rPr lang="en-US" sz="2400">
                <a:ea typeface="+mn-lt"/>
                <a:cs typeface="+mn-lt"/>
              </a:rPr>
              <a:t> to </a:t>
            </a:r>
            <a:r>
              <a:rPr lang="en-US" sz="2400" b="1">
                <a:ea typeface="+mn-lt"/>
                <a:cs typeface="+mn-lt"/>
              </a:rPr>
              <a:t>7</a:t>
            </a:r>
            <a:endParaRPr lang="en-US" sz="2400">
              <a:ea typeface="+mn-lt"/>
              <a:cs typeface="+mn-lt"/>
            </a:endParaRPr>
          </a:p>
          <a:p>
            <a:pPr marL="285750" indent="-285750">
              <a:buFont typeface="Arial"/>
              <a:buChar char="•"/>
            </a:pPr>
            <a:endParaRPr lang="en-US" sz="2400">
              <a:ea typeface="+mn-lt"/>
              <a:cs typeface="+mn-lt"/>
            </a:endParaRPr>
          </a:p>
          <a:p>
            <a:pPr marL="285750" indent="-285750">
              <a:buFont typeface="Arial"/>
              <a:buChar char="•"/>
            </a:pPr>
            <a:r>
              <a:rPr lang="en-US" sz="2400">
                <a:ea typeface="+mn-lt"/>
                <a:cs typeface="+mn-lt"/>
              </a:rPr>
              <a:t> </a:t>
            </a:r>
            <a:r>
              <a:rPr lang="en-US" sz="2400">
                <a:latin typeface="Arial"/>
                <a:cs typeface="Arial"/>
              </a:rPr>
              <a:t>length</a:t>
            </a:r>
            <a:r>
              <a:rPr lang="en-US" sz="2400">
                <a:ea typeface="+mn-lt"/>
                <a:cs typeface="+mn-lt"/>
              </a:rPr>
              <a:t> can take values from </a:t>
            </a:r>
            <a:r>
              <a:rPr lang="en-US" sz="2400" b="1">
                <a:ea typeface="+mn-lt"/>
                <a:cs typeface="+mn-lt"/>
              </a:rPr>
              <a:t>0</a:t>
            </a:r>
            <a:r>
              <a:rPr lang="en-US" sz="2400">
                <a:ea typeface="+mn-lt"/>
                <a:cs typeface="+mn-lt"/>
              </a:rPr>
              <a:t> to </a:t>
            </a:r>
            <a:r>
              <a:rPr lang="en-US" sz="2400" b="1">
                <a:ea typeface="+mn-lt"/>
                <a:cs typeface="+mn-lt"/>
              </a:rPr>
              <a:t>5</a:t>
            </a:r>
            <a:r>
              <a:rPr lang="en-US" sz="2400">
                <a:ea typeface="+mn-lt"/>
                <a:cs typeface="+mn-lt"/>
              </a:rPr>
              <a:t> (6 possible values for each </a:t>
            </a:r>
            <a:r>
              <a:rPr lang="en-US" sz="2400">
                <a:latin typeface="Arial"/>
                <a:cs typeface="Arial"/>
              </a:rPr>
              <a:t>type</a:t>
            </a:r>
            <a:r>
              <a:rPr lang="en-US" sz="2400">
                <a:ea typeface="+mn-lt"/>
                <a:cs typeface="+mn-lt"/>
              </a:rPr>
              <a:t>)</a:t>
            </a:r>
            <a:endParaRPr lang="en-US" sz="2400"/>
          </a:p>
          <a:p>
            <a:pPr>
              <a:buFont typeface="Arial"/>
              <a:buChar char="•"/>
            </a:pPr>
            <a:endParaRPr lang="en-US" sz="2400"/>
          </a:p>
          <a:p>
            <a:pPr algn="ctr"/>
            <a:endParaRPr lang="en-US" sz="2400"/>
          </a:p>
        </p:txBody>
      </p:sp>
    </p:spTree>
    <p:extLst>
      <p:ext uri="{BB962C8B-B14F-4D97-AF65-F5344CB8AC3E}">
        <p14:creationId xmlns:p14="http://schemas.microsoft.com/office/powerpoint/2010/main" val="3486387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F36C8-94BE-67CB-1075-87B1B57279A3}"/>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2E8F3A62-8481-6156-718F-16ED8BAC6662}"/>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10" name="Rectangle 9">
            <a:extLst>
              <a:ext uri="{FF2B5EF4-FFF2-40B4-BE49-F238E27FC236}">
                <a16:creationId xmlns:a16="http://schemas.microsoft.com/office/drawing/2014/main" id="{D2976542-F5AE-9EF5-039B-66A45B5C63E3}"/>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text with a white background&#10;&#10;AI-generated content may be incorrect.">
            <a:extLst>
              <a:ext uri="{FF2B5EF4-FFF2-40B4-BE49-F238E27FC236}">
                <a16:creationId xmlns:a16="http://schemas.microsoft.com/office/drawing/2014/main" id="{AC351484-4FA9-39D4-C24B-E4F04E67F223}"/>
              </a:ext>
            </a:extLst>
          </p:cNvPr>
          <p:cNvPicPr>
            <a:picLocks noChangeAspect="1"/>
          </p:cNvPicPr>
          <p:nvPr/>
        </p:nvPicPr>
        <p:blipFill>
          <a:blip r:embed="rId3"/>
          <a:stretch>
            <a:fillRect/>
          </a:stretch>
        </p:blipFill>
        <p:spPr>
          <a:xfrm>
            <a:off x="2443163" y="1716561"/>
            <a:ext cx="7305675" cy="695325"/>
          </a:xfrm>
          <a:prstGeom prst="rect">
            <a:avLst/>
          </a:prstGeom>
        </p:spPr>
      </p:pic>
    </p:spTree>
    <p:extLst>
      <p:ext uri="{BB962C8B-B14F-4D97-AF65-F5344CB8AC3E}">
        <p14:creationId xmlns:p14="http://schemas.microsoft.com/office/powerpoint/2010/main" val="59606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5D192-62C6-FF70-6C99-E0836B029A11}"/>
            </a:ext>
          </a:extLst>
        </p:cNvPr>
        <p:cNvGrpSpPr/>
        <p:nvPr/>
      </p:nvGrpSpPr>
      <p:grpSpPr>
        <a:xfrm>
          <a:off x="0" y="0"/>
          <a:ext cx="0" cy="0"/>
          <a:chOff x="0" y="0"/>
          <a:chExt cx="0" cy="0"/>
        </a:xfrm>
      </p:grpSpPr>
      <p:sp>
        <p:nvSpPr>
          <p:cNvPr id="5" name="TextBox 12">
            <a:extLst>
              <a:ext uri="{FF2B5EF4-FFF2-40B4-BE49-F238E27FC236}">
                <a16:creationId xmlns:a16="http://schemas.microsoft.com/office/drawing/2014/main" id="{1D51D7BC-668F-C8D1-88E6-67412BCE39B3}"/>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
        <p:nvSpPr>
          <p:cNvPr id="10" name="Rectangle 9">
            <a:extLst>
              <a:ext uri="{FF2B5EF4-FFF2-40B4-BE49-F238E27FC236}">
                <a16:creationId xmlns:a16="http://schemas.microsoft.com/office/drawing/2014/main" id="{7F38818E-4A1A-FB89-B803-849C8D6939F8}"/>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text with a white background&#10;&#10;AI-generated content may be incorrect.">
            <a:extLst>
              <a:ext uri="{FF2B5EF4-FFF2-40B4-BE49-F238E27FC236}">
                <a16:creationId xmlns:a16="http://schemas.microsoft.com/office/drawing/2014/main" id="{9BCED349-5001-4122-A4F6-0EA939172E6B}"/>
              </a:ext>
            </a:extLst>
          </p:cNvPr>
          <p:cNvPicPr>
            <a:picLocks noChangeAspect="1"/>
          </p:cNvPicPr>
          <p:nvPr/>
        </p:nvPicPr>
        <p:blipFill>
          <a:blip r:embed="rId3"/>
          <a:stretch>
            <a:fillRect/>
          </a:stretch>
        </p:blipFill>
        <p:spPr>
          <a:xfrm>
            <a:off x="2443163" y="1716561"/>
            <a:ext cx="7305675" cy="695325"/>
          </a:xfrm>
          <a:prstGeom prst="rect">
            <a:avLst/>
          </a:prstGeom>
        </p:spPr>
      </p:pic>
      <p:sp>
        <p:nvSpPr>
          <p:cNvPr id="11" name="Rectangle 10">
            <a:extLst>
              <a:ext uri="{FF2B5EF4-FFF2-40B4-BE49-F238E27FC236}">
                <a16:creationId xmlns:a16="http://schemas.microsoft.com/office/drawing/2014/main" id="{998CD780-F37C-67EF-E427-EB8FE10128CB}"/>
              </a:ext>
            </a:extLst>
          </p:cNvPr>
          <p:cNvSpPr/>
          <p:nvPr/>
        </p:nvSpPr>
        <p:spPr>
          <a:xfrm>
            <a:off x="6099198" y="1801219"/>
            <a:ext cx="1547989" cy="49028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1214EC9B-A709-3D44-4537-124C3DE76A04}"/>
              </a:ext>
            </a:extLst>
          </p:cNvPr>
          <p:cNvCxnSpPr>
            <a:cxnSpLocks/>
          </p:cNvCxnSpPr>
          <p:nvPr/>
        </p:nvCxnSpPr>
        <p:spPr>
          <a:xfrm>
            <a:off x="6901538" y="2340198"/>
            <a:ext cx="921046" cy="6710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0CEF7CF-A9F8-1DE3-EE90-BA31CDFDCA58}"/>
              </a:ext>
            </a:extLst>
          </p:cNvPr>
          <p:cNvSpPr txBox="1"/>
          <p:nvPr/>
        </p:nvSpPr>
        <p:spPr>
          <a:xfrm rot="10800000" flipV="1">
            <a:off x="6418389" y="3061300"/>
            <a:ext cx="2439538" cy="1569660"/>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3B3B3B"/>
                </a:solidFill>
                <a:cs typeface="Arial"/>
              </a:rPr>
              <a:t>Specify how</a:t>
            </a:r>
            <a:r>
              <a:rPr lang="en-US" sz="2400">
                <a:solidFill>
                  <a:srgbClr val="3B3B3B"/>
                </a:solidFill>
                <a:ea typeface="+mn-lt"/>
                <a:cs typeface="+mn-lt"/>
              </a:rPr>
              <a:t> many times should the loop be unrolled</a:t>
            </a:r>
            <a:endParaRPr lang="en-US" sz="2400">
              <a:solidFill>
                <a:srgbClr val="3B3B3B"/>
              </a:solidFill>
              <a:cs typeface="Arial"/>
            </a:endParaRPr>
          </a:p>
        </p:txBody>
      </p:sp>
    </p:spTree>
    <p:extLst>
      <p:ext uri="{BB962C8B-B14F-4D97-AF65-F5344CB8AC3E}">
        <p14:creationId xmlns:p14="http://schemas.microsoft.com/office/powerpoint/2010/main" val="3463259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431D0-569F-CED3-C82A-3D19558059B5}"/>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40773408-856A-54EB-C638-AC13E4C43E0D}"/>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BB6DCD9-8470-0BB2-B50E-1E050DB25AE9}"/>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1A62C9C-15A1-4A22-FD5B-21DC369D4D6B}"/>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graphicFrame>
        <p:nvGraphicFramePr>
          <p:cNvPr id="8" name="Table 7">
            <a:extLst>
              <a:ext uri="{FF2B5EF4-FFF2-40B4-BE49-F238E27FC236}">
                <a16:creationId xmlns:a16="http://schemas.microsoft.com/office/drawing/2014/main" id="{D0130AE2-27CC-535A-691E-DD8732490B13}"/>
              </a:ext>
            </a:extLst>
          </p:cNvPr>
          <p:cNvGraphicFramePr>
            <a:graphicFrameLocks noGrp="1"/>
          </p:cNvGraphicFramePr>
          <p:nvPr>
            <p:extLst>
              <p:ext uri="{D42A27DB-BD31-4B8C-83A1-F6EECF244321}">
                <p14:modId xmlns:p14="http://schemas.microsoft.com/office/powerpoint/2010/main" val="2865050556"/>
              </p:ext>
            </p:extLst>
          </p:nvPr>
        </p:nvGraphicFramePr>
        <p:xfrm>
          <a:off x="147851" y="887104"/>
          <a:ext cx="11884916" cy="5737765"/>
        </p:xfrm>
        <a:graphic>
          <a:graphicData uri="http://schemas.openxmlformats.org/drawingml/2006/table">
            <a:tbl>
              <a:tblPr bandRow="1">
                <a:tableStyleId>{073A0DAA-6AF3-43AB-8588-CEC1D06C72B9}</a:tableStyleId>
              </a:tblPr>
              <a:tblGrid>
                <a:gridCol w="2661313">
                  <a:extLst>
                    <a:ext uri="{9D8B030D-6E8A-4147-A177-3AD203B41FA5}">
                      <a16:colId xmlns:a16="http://schemas.microsoft.com/office/drawing/2014/main" val="2027833875"/>
                    </a:ext>
                  </a:extLst>
                </a:gridCol>
                <a:gridCol w="8074925">
                  <a:extLst>
                    <a:ext uri="{9D8B030D-6E8A-4147-A177-3AD203B41FA5}">
                      <a16:colId xmlns:a16="http://schemas.microsoft.com/office/drawing/2014/main" val="594224594"/>
                    </a:ext>
                  </a:extLst>
                </a:gridCol>
                <a:gridCol w="1148678">
                  <a:extLst>
                    <a:ext uri="{9D8B030D-6E8A-4147-A177-3AD203B41FA5}">
                      <a16:colId xmlns:a16="http://schemas.microsoft.com/office/drawing/2014/main" val="2343512858"/>
                    </a:ext>
                  </a:extLst>
                </a:gridCol>
              </a:tblGrid>
              <a:tr h="602776">
                <a:tc>
                  <a:txBody>
                    <a:bodyPr/>
                    <a:lstStyle/>
                    <a:p>
                      <a:pPr algn="l">
                        <a:buNone/>
                      </a:pPr>
                      <a:r>
                        <a:rPr lang="en-US" sz="1400" b="1">
                          <a:effectLst/>
                        </a:rPr>
                        <a:t>Option</a:t>
                      </a:r>
                    </a:p>
                  </a:txBody>
                  <a:tcPr marL="95250" marR="95250" marT="47625" marB="47625" anchor="ctr"/>
                </a:tc>
                <a:tc>
                  <a:txBody>
                    <a:bodyPr/>
                    <a:lstStyle/>
                    <a:p>
                      <a:pPr algn="l">
                        <a:buNone/>
                      </a:pPr>
                      <a:r>
                        <a:rPr lang="en-US" sz="1400" b="1" i="0" u="none" strike="noStrike" noProof="0">
                          <a:effectLst/>
                          <a:latin typeface="Arial"/>
                        </a:rPr>
                        <a:t>Function</a:t>
                      </a:r>
                      <a:endParaRPr lang="en-US" sz="1400" b="1">
                        <a:effectLst/>
                      </a:endParaRPr>
                    </a:p>
                  </a:txBody>
                  <a:tcPr marL="95250" marR="95250" marT="47625" marB="47625" anchor="ctr"/>
                </a:tc>
                <a:tc>
                  <a:txBody>
                    <a:bodyPr/>
                    <a:lstStyle/>
                    <a:p>
                      <a:pPr algn="l">
                        <a:buNone/>
                      </a:pPr>
                      <a:r>
                        <a:rPr lang="en-US" sz="1400" b="1">
                          <a:effectLst/>
                        </a:rPr>
                        <a:t>Enabled by default</a:t>
                      </a:r>
                    </a:p>
                  </a:txBody>
                  <a:tcPr marL="95250" marR="95250" marT="47625" marB="47625" anchor="ctr"/>
                </a:tc>
                <a:extLst>
                  <a:ext uri="{0D108BD9-81ED-4DB2-BD59-A6C34878D82A}">
                    <a16:rowId xmlns:a16="http://schemas.microsoft.com/office/drawing/2014/main" val="3898434046"/>
                  </a:ext>
                </a:extLst>
              </a:tr>
              <a:tr h="285853">
                <a:tc>
                  <a:txBody>
                    <a:bodyPr/>
                    <a:lstStyle/>
                    <a:p>
                      <a:pPr>
                        <a:buNone/>
                      </a:pPr>
                      <a:r>
                        <a:rPr lang="en-US" sz="1600">
                          <a:solidFill>
                            <a:srgbClr val="3B3B3B"/>
                          </a:solidFill>
                          <a:effectLst/>
                        </a:rPr>
                        <a:t>--overflow-check</a:t>
                      </a:r>
                      <a:endParaRPr lang="en-US" sz="1600">
                        <a:effectLst/>
                      </a:endParaRPr>
                    </a:p>
                  </a:txBody>
                  <a:tcPr marL="95250" marR="95250" marT="47625" marB="47625" anchor="ctr"/>
                </a:tc>
                <a:tc>
                  <a:txBody>
                    <a:bodyPr/>
                    <a:lstStyle/>
                    <a:p>
                      <a:pPr lvl="0">
                        <a:buNone/>
                      </a:pPr>
                      <a:r>
                        <a:rPr lang="en-US" sz="1600" b="0" i="0" u="none" strike="noStrike" noProof="0">
                          <a:effectLst/>
                          <a:latin typeface="Arial"/>
                        </a:rPr>
                        <a:t>Check for integer overflow</a:t>
                      </a:r>
                      <a:endParaRPr lang="en-US"/>
                    </a:p>
                  </a:txBody>
                  <a:tcPr marL="95250" marR="95250" marT="47625" marB="47625" anchor="ctr"/>
                </a:tc>
                <a:tc>
                  <a:txBody>
                    <a:bodyPr/>
                    <a:lstStyle/>
                    <a:p>
                      <a:pPr>
                        <a:buNone/>
                      </a:pPr>
                      <a:endParaRPr lang="en-US" sz="1600">
                        <a:effectLst/>
                      </a:endParaRPr>
                    </a:p>
                  </a:txBody>
                  <a:tcPr marL="95250" marR="95250" marT="47625" marB="47625" anchor="ctr"/>
                </a:tc>
                <a:extLst>
                  <a:ext uri="{0D108BD9-81ED-4DB2-BD59-A6C34878D82A}">
                    <a16:rowId xmlns:a16="http://schemas.microsoft.com/office/drawing/2014/main" val="571477804"/>
                  </a:ext>
                </a:extLst>
              </a:tr>
              <a:tr h="285853">
                <a:tc>
                  <a:txBody>
                    <a:bodyPr/>
                    <a:lstStyle/>
                    <a:p>
                      <a:pPr>
                        <a:buNone/>
                      </a:pPr>
                      <a:r>
                        <a:rPr lang="en-US" sz="1600">
                          <a:solidFill>
                            <a:srgbClr val="3B3B3B"/>
                          </a:solidFill>
                          <a:effectLst/>
                        </a:rPr>
                        <a:t>--memory-leak-check</a:t>
                      </a:r>
                      <a:endParaRPr lang="en-US" sz="1600">
                        <a:effectLst/>
                      </a:endParaRPr>
                    </a:p>
                  </a:txBody>
                  <a:tcPr marL="95250" marR="95250" marT="47625" marB="47625" anchor="ctr"/>
                </a:tc>
                <a:tc>
                  <a:txBody>
                    <a:bodyPr/>
                    <a:lstStyle/>
                    <a:p>
                      <a:pPr lvl="0">
                        <a:buNone/>
                      </a:pPr>
                      <a:r>
                        <a:rPr lang="en-US" sz="1600" b="0" i="0" u="none" strike="noStrike" noProof="0">
                          <a:effectLst/>
                          <a:latin typeface="Arial"/>
                        </a:rPr>
                        <a:t>Check for memory leaks</a:t>
                      </a:r>
                      <a:endParaRPr lang="en-US"/>
                    </a:p>
                  </a:txBody>
                  <a:tcPr marL="95250" marR="95250" marT="47625" marB="47625" anchor="ctr"/>
                </a:tc>
                <a:tc>
                  <a:txBody>
                    <a:bodyPr/>
                    <a:lstStyle/>
                    <a:p>
                      <a:pPr>
                        <a:buNone/>
                      </a:pPr>
                      <a:endParaRPr lang="en-US" sz="1600">
                        <a:effectLst/>
                      </a:endParaRPr>
                    </a:p>
                  </a:txBody>
                  <a:tcPr marL="95250" marR="95250" marT="47625" marB="47625" anchor="ctr"/>
                </a:tc>
                <a:extLst>
                  <a:ext uri="{0D108BD9-81ED-4DB2-BD59-A6C34878D82A}">
                    <a16:rowId xmlns:a16="http://schemas.microsoft.com/office/drawing/2014/main" val="2212565338"/>
                  </a:ext>
                </a:extLst>
              </a:tr>
              <a:tr h="285853">
                <a:tc>
                  <a:txBody>
                    <a:bodyPr/>
                    <a:lstStyle/>
                    <a:p>
                      <a:pPr>
                        <a:buNone/>
                      </a:pPr>
                      <a:r>
                        <a:rPr lang="en-US" sz="1600">
                          <a:solidFill>
                            <a:srgbClr val="3B3B3B"/>
                          </a:solidFill>
                          <a:effectLst/>
                        </a:rPr>
                        <a:t>--deadlock-check</a:t>
                      </a:r>
                      <a:endParaRPr lang="en-US" sz="1600">
                        <a:effectLst/>
                      </a:endParaRPr>
                    </a:p>
                  </a:txBody>
                  <a:tcPr marL="95250" marR="95250" marT="47625" marB="47625" anchor="ctr"/>
                </a:tc>
                <a:tc>
                  <a:txBody>
                    <a:bodyPr/>
                    <a:lstStyle/>
                    <a:p>
                      <a:pPr>
                        <a:buNone/>
                      </a:pPr>
                      <a:r>
                        <a:rPr lang="en-US" sz="1600" b="0" i="0" u="none" strike="noStrike" noProof="0">
                          <a:effectLst/>
                          <a:latin typeface="Arial"/>
                        </a:rPr>
                        <a:t>Check for deadlocks in multithreaded programs</a:t>
                      </a:r>
                      <a:endParaRPr lang="en-US" sz="1600" err="1">
                        <a:effectLst/>
                      </a:endParaRPr>
                    </a:p>
                  </a:txBody>
                  <a:tcPr marL="95250" marR="95250" marT="47625" marB="47625" anchor="ctr"/>
                </a:tc>
                <a:tc>
                  <a:txBody>
                    <a:bodyPr/>
                    <a:lstStyle/>
                    <a:p>
                      <a:pPr>
                        <a:buNone/>
                      </a:pPr>
                      <a:endParaRPr lang="en-US" sz="1600">
                        <a:effectLst/>
                      </a:endParaRPr>
                    </a:p>
                  </a:txBody>
                  <a:tcPr marL="95250" marR="95250" marT="47625" marB="47625" anchor="ctr"/>
                </a:tc>
                <a:extLst>
                  <a:ext uri="{0D108BD9-81ED-4DB2-BD59-A6C34878D82A}">
                    <a16:rowId xmlns:a16="http://schemas.microsoft.com/office/drawing/2014/main" val="268739601"/>
                  </a:ext>
                </a:extLst>
              </a:tr>
              <a:tr h="285853">
                <a:tc>
                  <a:txBody>
                    <a:bodyPr/>
                    <a:lstStyle/>
                    <a:p>
                      <a:pPr>
                        <a:buNone/>
                      </a:pPr>
                      <a:r>
                        <a:rPr lang="en-US" sz="1600">
                          <a:solidFill>
                            <a:srgbClr val="3B3B3B"/>
                          </a:solidFill>
                          <a:effectLst/>
                        </a:rPr>
                        <a:t>--data-races-check</a:t>
                      </a:r>
                      <a:endParaRPr lang="en-US" sz="1600">
                        <a:effectLst/>
                      </a:endParaRPr>
                    </a:p>
                  </a:txBody>
                  <a:tcPr marL="95250" marR="95250" marT="47625" marB="47625" anchor="ctr"/>
                </a:tc>
                <a:tc>
                  <a:txBody>
                    <a:bodyPr/>
                    <a:lstStyle/>
                    <a:p>
                      <a:pPr>
                        <a:buNone/>
                      </a:pPr>
                      <a:r>
                        <a:rPr lang="en-US" sz="1600" b="0" i="0" u="none" strike="noStrike" noProof="0">
                          <a:solidFill>
                            <a:srgbClr val="000000"/>
                          </a:solidFill>
                          <a:effectLst/>
                          <a:latin typeface="Arial"/>
                        </a:rPr>
                        <a:t>Check for data races between threads</a:t>
                      </a:r>
                      <a:endParaRPr lang="vi-VN" sz="1600">
                        <a:effectLst/>
                      </a:endParaRPr>
                    </a:p>
                  </a:txBody>
                  <a:tcPr marL="95250" marR="95250" marT="47625" marB="47625" anchor="ctr"/>
                </a:tc>
                <a:tc>
                  <a:txBody>
                    <a:bodyPr/>
                    <a:lstStyle/>
                    <a:p>
                      <a:pPr>
                        <a:buNone/>
                      </a:pPr>
                      <a:endParaRPr lang="en-US" sz="1600">
                        <a:effectLst/>
                      </a:endParaRPr>
                    </a:p>
                  </a:txBody>
                  <a:tcPr marL="95250" marR="95250" marT="47625" marB="47625" anchor="ctr"/>
                </a:tc>
                <a:extLst>
                  <a:ext uri="{0D108BD9-81ED-4DB2-BD59-A6C34878D82A}">
                    <a16:rowId xmlns:a16="http://schemas.microsoft.com/office/drawing/2014/main" val="537039908"/>
                  </a:ext>
                </a:extLst>
              </a:tr>
              <a:tr h="509177">
                <a:tc>
                  <a:txBody>
                    <a:bodyPr/>
                    <a:lstStyle/>
                    <a:p>
                      <a:pPr>
                        <a:buNone/>
                      </a:pPr>
                      <a:r>
                        <a:rPr lang="en-US" sz="1600">
                          <a:solidFill>
                            <a:srgbClr val="3B3B3B"/>
                          </a:solidFill>
                          <a:effectLst/>
                        </a:rPr>
                        <a:t>--lock-order-check</a:t>
                      </a:r>
                      <a:endParaRPr lang="en-US" sz="1600">
                        <a:effectLst/>
                      </a:endParaRPr>
                    </a:p>
                  </a:txBody>
                  <a:tcPr marL="95250" marR="95250" marT="47625" marB="47625" anchor="ctr"/>
                </a:tc>
                <a:tc>
                  <a:txBody>
                    <a:bodyPr/>
                    <a:lstStyle/>
                    <a:p>
                      <a:pPr>
                        <a:buNone/>
                      </a:pPr>
                      <a:r>
                        <a:rPr lang="en-US" sz="1600" b="0" i="0" u="none" strike="noStrike" noProof="0">
                          <a:effectLst/>
                        </a:rPr>
                        <a:t>Check lock acquisition/release order</a:t>
                      </a:r>
                      <a:endParaRPr lang="en-US" sz="1600" err="1">
                        <a:effectLst/>
                      </a:endParaRPr>
                    </a:p>
                  </a:txBody>
                  <a:tcPr marL="95250" marR="95250" marT="47625" marB="47625" anchor="ctr"/>
                </a:tc>
                <a:tc>
                  <a:txBody>
                    <a:bodyPr/>
                    <a:lstStyle/>
                    <a:p>
                      <a:pPr>
                        <a:buNone/>
                      </a:pPr>
                      <a:endParaRPr lang="en-US" sz="1600">
                        <a:effectLst/>
                      </a:endParaRPr>
                    </a:p>
                  </a:txBody>
                  <a:tcPr marL="95250" marR="95250" marT="47625" marB="47625" anchor="ctr"/>
                </a:tc>
                <a:extLst>
                  <a:ext uri="{0D108BD9-81ED-4DB2-BD59-A6C34878D82A}">
                    <a16:rowId xmlns:a16="http://schemas.microsoft.com/office/drawing/2014/main" val="2449025272"/>
                  </a:ext>
                </a:extLst>
              </a:tr>
              <a:tr h="509177">
                <a:tc>
                  <a:txBody>
                    <a:bodyPr/>
                    <a:lstStyle/>
                    <a:p>
                      <a:pPr>
                        <a:buNone/>
                      </a:pPr>
                      <a:r>
                        <a:rPr lang="en-US" sz="1600">
                          <a:solidFill>
                            <a:srgbClr val="3B3B3B"/>
                          </a:solidFill>
                          <a:effectLst/>
                        </a:rPr>
                        <a:t>--atomicity-check</a:t>
                      </a:r>
                      <a:endParaRPr lang="en-US" sz="1600">
                        <a:effectLst/>
                      </a:endParaRPr>
                    </a:p>
                  </a:txBody>
                  <a:tcPr marL="95250" marR="95250" marT="47625" marB="47625" anchor="ctr"/>
                </a:tc>
                <a:tc>
                  <a:txBody>
                    <a:bodyPr/>
                    <a:lstStyle/>
                    <a:p>
                      <a:pPr>
                        <a:buNone/>
                      </a:pPr>
                      <a:r>
                        <a:rPr lang="en-US" sz="1600" b="0" i="0" u="none" strike="noStrike" noProof="0">
                          <a:effectLst/>
                          <a:latin typeface="Arial"/>
                        </a:rPr>
                        <a:t>Check violations of atomicity in visible assignments</a:t>
                      </a:r>
                      <a:endParaRPr lang="en-US" sz="1600" err="1">
                        <a:effectLst/>
                      </a:endParaRPr>
                    </a:p>
                  </a:txBody>
                  <a:tcPr marL="95250" marR="95250" marT="47625" marB="47625" anchor="ctr"/>
                </a:tc>
                <a:tc>
                  <a:txBody>
                    <a:bodyPr/>
                    <a:lstStyle/>
                    <a:p>
                      <a:pPr>
                        <a:buNone/>
                      </a:pPr>
                      <a:endParaRPr lang="en-US" sz="1600">
                        <a:effectLst/>
                      </a:endParaRPr>
                    </a:p>
                  </a:txBody>
                  <a:tcPr marL="95250" marR="95250" marT="47625" marB="47625" anchor="ctr"/>
                </a:tc>
                <a:extLst>
                  <a:ext uri="{0D108BD9-81ED-4DB2-BD59-A6C34878D82A}">
                    <a16:rowId xmlns:a16="http://schemas.microsoft.com/office/drawing/2014/main" val="3100757107"/>
                  </a:ext>
                </a:extLst>
              </a:tr>
              <a:tr h="509177">
                <a:tc>
                  <a:txBody>
                    <a:bodyPr/>
                    <a:lstStyle/>
                    <a:p>
                      <a:pPr>
                        <a:buNone/>
                      </a:pPr>
                      <a:r>
                        <a:rPr lang="en-US" sz="1600">
                          <a:solidFill>
                            <a:srgbClr val="3B3B3B"/>
                          </a:solidFill>
                          <a:effectLst/>
                        </a:rPr>
                        <a:t>--force-malloc-success</a:t>
                      </a:r>
                      <a:endParaRPr lang="en-US" sz="1600">
                        <a:effectLst/>
                      </a:endParaRPr>
                    </a:p>
                  </a:txBody>
                  <a:tcPr marL="95250" marR="95250" marT="47625" marB="47625" anchor="ctr"/>
                </a:tc>
                <a:tc>
                  <a:txBody>
                    <a:bodyPr/>
                    <a:lstStyle/>
                    <a:p>
                      <a:pPr>
                        <a:buNone/>
                      </a:pPr>
                      <a:r>
                        <a:rPr lang="en-US" sz="1600" b="0" i="0" u="none" strike="noStrike" noProof="0">
                          <a:effectLst/>
                          <a:latin typeface="Arial"/>
                        </a:rPr>
                        <a:t>Assume </a:t>
                      </a:r>
                      <a:r>
                        <a:rPr lang="en-US" sz="1600" b="0" i="0" u="none" strike="noStrike" noProof="0">
                          <a:effectLst/>
                          <a:latin typeface="Consolas"/>
                        </a:rPr>
                        <a:t>malloc</a:t>
                      </a:r>
                      <a:r>
                        <a:rPr lang="en-US" sz="1600" b="0" i="0" u="none" strike="noStrike" noProof="0">
                          <a:effectLst/>
                          <a:latin typeface="Arial"/>
                        </a:rPr>
                        <a:t> always succeeds (used to ignore allocation failures)</a:t>
                      </a:r>
                      <a:endParaRPr lang="en-US" sz="1600">
                        <a:effectLst/>
                      </a:endParaRPr>
                    </a:p>
                  </a:txBody>
                  <a:tcPr marL="95250" marR="95250" marT="47625" marB="47625" anchor="ctr"/>
                </a:tc>
                <a:tc>
                  <a:txBody>
                    <a:bodyPr/>
                    <a:lstStyle/>
                    <a:p>
                      <a:pPr>
                        <a:buNone/>
                      </a:pPr>
                      <a:endParaRPr lang="en-US" sz="1600">
                        <a:effectLst/>
                      </a:endParaRPr>
                    </a:p>
                  </a:txBody>
                  <a:tcPr marL="95250" marR="95250" marT="47625" marB="47625" anchor="ctr"/>
                </a:tc>
                <a:extLst>
                  <a:ext uri="{0D108BD9-81ED-4DB2-BD59-A6C34878D82A}">
                    <a16:rowId xmlns:a16="http://schemas.microsoft.com/office/drawing/2014/main" val="3191196100"/>
                  </a:ext>
                </a:extLst>
              </a:tr>
              <a:tr h="509177">
                <a:tc>
                  <a:txBody>
                    <a:bodyPr/>
                    <a:lstStyle/>
                    <a:p>
                      <a:pPr>
                        <a:buNone/>
                      </a:pPr>
                      <a:r>
                        <a:rPr lang="en-US" sz="1600">
                          <a:solidFill>
                            <a:srgbClr val="3B3B3B"/>
                          </a:solidFill>
                          <a:effectLst/>
                        </a:rPr>
                        <a:t>--bounds-check</a:t>
                      </a:r>
                      <a:endParaRPr lang="en-US" sz="1600">
                        <a:effectLst/>
                      </a:endParaRPr>
                    </a:p>
                  </a:txBody>
                  <a:tcPr marL="95250" marR="95250" marT="47625" marB="47625" anchor="ctr"/>
                </a:tc>
                <a:tc>
                  <a:txBody>
                    <a:bodyPr/>
                    <a:lstStyle/>
                    <a:p>
                      <a:pPr>
                        <a:buNone/>
                      </a:pPr>
                      <a:r>
                        <a:rPr lang="en-US" sz="1600" b="0" i="0" u="none" strike="noStrike" noProof="0">
                          <a:effectLst/>
                          <a:latin typeface="Arial"/>
                        </a:rPr>
                        <a:t>Check array out-of-bounds accesses</a:t>
                      </a:r>
                      <a:endParaRPr lang="en-US" sz="1600">
                        <a:effectLst/>
                      </a:endParaRPr>
                    </a:p>
                  </a:txBody>
                  <a:tcPr marL="95250" marR="95250" marT="47625" marB="47625" anchor="ctr"/>
                </a:tc>
                <a:tc>
                  <a:txBody>
                    <a:bodyPr/>
                    <a:lstStyle/>
                    <a:p>
                      <a:pPr>
                        <a:buNone/>
                      </a:pPr>
                      <a:r>
                        <a:rPr lang="en-US" sz="1600">
                          <a:effectLst/>
                        </a:rPr>
                        <a:t>✓</a:t>
                      </a:r>
                    </a:p>
                  </a:txBody>
                  <a:tcPr marL="95250" marR="95250" marT="47625" marB="47625" anchor="ctr"/>
                </a:tc>
                <a:extLst>
                  <a:ext uri="{0D108BD9-81ED-4DB2-BD59-A6C34878D82A}">
                    <a16:rowId xmlns:a16="http://schemas.microsoft.com/office/drawing/2014/main" val="3887146956"/>
                  </a:ext>
                </a:extLst>
              </a:tr>
              <a:tr h="723567">
                <a:tc>
                  <a:txBody>
                    <a:bodyPr/>
                    <a:lstStyle/>
                    <a:p>
                      <a:pPr>
                        <a:buNone/>
                      </a:pPr>
                      <a:r>
                        <a:rPr lang="en-US" sz="1600">
                          <a:solidFill>
                            <a:srgbClr val="3B3B3B"/>
                          </a:solidFill>
                          <a:effectLst/>
                        </a:rPr>
                        <a:t>--pointer-check</a:t>
                      </a:r>
                      <a:endParaRPr lang="en-US" sz="1600">
                        <a:effectLst/>
                      </a:endParaRPr>
                    </a:p>
                  </a:txBody>
                  <a:tcPr marL="95250" marR="95250" marT="47625" marB="47625" anchor="ctr"/>
                </a:tc>
                <a:tc>
                  <a:txBody>
                    <a:bodyPr/>
                    <a:lstStyle/>
                    <a:p>
                      <a:pPr>
                        <a:buNone/>
                      </a:pPr>
                      <a:r>
                        <a:rPr lang="en-US" sz="1600" b="0" i="0" u="none" strike="noStrike" noProof="0">
                          <a:effectLst/>
                          <a:latin typeface="Arial"/>
                        </a:rPr>
                        <a:t>Check pointer errors (NULL dereference, out-of-bounds pointer, double free)</a:t>
                      </a:r>
                      <a:endParaRPr lang="en-US" sz="1600">
                        <a:effectLst/>
                      </a:endParaRPr>
                    </a:p>
                  </a:txBody>
                  <a:tcPr marL="95250" marR="95250" marT="47625" marB="47625" anchor="ctr"/>
                </a:tc>
                <a:tc>
                  <a:txBody>
                    <a:bodyPr/>
                    <a:lstStyle/>
                    <a:p>
                      <a:pPr>
                        <a:buNone/>
                      </a:pPr>
                      <a:r>
                        <a:rPr lang="en-US" sz="1600">
                          <a:effectLst/>
                        </a:rPr>
                        <a:t>✓</a:t>
                      </a:r>
                    </a:p>
                  </a:txBody>
                  <a:tcPr marL="95250" marR="95250" marT="47625" marB="47625" anchor="ctr"/>
                </a:tc>
                <a:extLst>
                  <a:ext uri="{0D108BD9-81ED-4DB2-BD59-A6C34878D82A}">
                    <a16:rowId xmlns:a16="http://schemas.microsoft.com/office/drawing/2014/main" val="435542996"/>
                  </a:ext>
                </a:extLst>
              </a:tr>
              <a:tr h="509177">
                <a:tc>
                  <a:txBody>
                    <a:bodyPr/>
                    <a:lstStyle/>
                    <a:p>
                      <a:pPr>
                        <a:buNone/>
                      </a:pPr>
                      <a:r>
                        <a:rPr lang="en-US" sz="1600">
                          <a:solidFill>
                            <a:srgbClr val="3B3B3B"/>
                          </a:solidFill>
                          <a:effectLst/>
                        </a:rPr>
                        <a:t>--div-by-zero-check</a:t>
                      </a:r>
                      <a:endParaRPr lang="en-US" sz="1600">
                        <a:effectLst/>
                      </a:endParaRPr>
                    </a:p>
                  </a:txBody>
                  <a:tcPr marL="95250" marR="95250" marT="47625" marB="47625" anchor="ctr"/>
                </a:tc>
                <a:tc>
                  <a:txBody>
                    <a:bodyPr/>
                    <a:lstStyle/>
                    <a:p>
                      <a:pPr>
                        <a:buNone/>
                      </a:pPr>
                      <a:r>
                        <a:rPr lang="en-US" sz="1600" b="0" i="0" u="none" strike="noStrike" noProof="0">
                          <a:effectLst/>
                          <a:latin typeface="Arial"/>
                        </a:rPr>
                        <a:t>Check division-by-zero errors</a:t>
                      </a:r>
                      <a:endParaRPr lang="en-US" sz="1600">
                        <a:effectLst/>
                      </a:endParaRPr>
                    </a:p>
                  </a:txBody>
                  <a:tcPr marL="95250" marR="95250" marT="47625" marB="47625" anchor="ctr"/>
                </a:tc>
                <a:tc>
                  <a:txBody>
                    <a:bodyPr/>
                    <a:lstStyle/>
                    <a:p>
                      <a:pPr>
                        <a:buNone/>
                      </a:pPr>
                      <a:r>
                        <a:rPr lang="en-US" sz="1600">
                          <a:effectLst/>
                        </a:rPr>
                        <a:t>✓</a:t>
                      </a:r>
                    </a:p>
                  </a:txBody>
                  <a:tcPr marL="95250" marR="95250" marT="47625" marB="47625" anchor="ctr"/>
                </a:tc>
                <a:extLst>
                  <a:ext uri="{0D108BD9-81ED-4DB2-BD59-A6C34878D82A}">
                    <a16:rowId xmlns:a16="http://schemas.microsoft.com/office/drawing/2014/main" val="986089657"/>
                  </a:ext>
                </a:extLst>
              </a:tr>
              <a:tr h="509177">
                <a:tc>
                  <a:txBody>
                    <a:bodyPr/>
                    <a:lstStyle/>
                    <a:p>
                      <a:pPr>
                        <a:buNone/>
                      </a:pPr>
                      <a:r>
                        <a:rPr lang="en-US" sz="1600">
                          <a:solidFill>
                            <a:srgbClr val="3B3B3B"/>
                          </a:solidFill>
                          <a:effectLst/>
                        </a:rPr>
                        <a:t>--assertions</a:t>
                      </a:r>
                      <a:endParaRPr lang="en-US" sz="1600">
                        <a:effectLst/>
                      </a:endParaRPr>
                    </a:p>
                  </a:txBody>
                  <a:tcPr marL="95250" marR="95250" marT="47625" marB="47625" anchor="ctr"/>
                </a:tc>
                <a:tc>
                  <a:txBody>
                    <a:bodyPr/>
                    <a:lstStyle/>
                    <a:p>
                      <a:pPr>
                        <a:buNone/>
                      </a:pPr>
                      <a:r>
                        <a:rPr lang="vi-VN" sz="1600" b="0" i="0" u="none" strike="noStrike" noProof="0">
                          <a:effectLst/>
                          <a:latin typeface="Arial"/>
                        </a:rPr>
                        <a:t>Check user-specified assertions</a:t>
                      </a:r>
                      <a:endParaRPr lang="vi-VN" sz="1600" err="1">
                        <a:effectLst/>
                      </a:endParaRPr>
                    </a:p>
                  </a:txBody>
                  <a:tcPr marL="95250" marR="95250" marT="47625" marB="47625" anchor="ctr"/>
                </a:tc>
                <a:tc>
                  <a:txBody>
                    <a:bodyPr/>
                    <a:lstStyle/>
                    <a:p>
                      <a:pPr>
                        <a:buNone/>
                      </a:pPr>
                      <a:r>
                        <a:rPr lang="en-US" sz="1600">
                          <a:effectLst/>
                        </a:rPr>
                        <a:t>✓</a:t>
                      </a:r>
                    </a:p>
                  </a:txBody>
                  <a:tcPr marL="95250" marR="95250" marT="47625" marB="47625" anchor="ctr"/>
                </a:tc>
                <a:extLst>
                  <a:ext uri="{0D108BD9-81ED-4DB2-BD59-A6C34878D82A}">
                    <a16:rowId xmlns:a16="http://schemas.microsoft.com/office/drawing/2014/main" val="1468328363"/>
                  </a:ext>
                </a:extLst>
              </a:tr>
            </a:tbl>
          </a:graphicData>
        </a:graphic>
      </p:graphicFrame>
      <p:sp>
        <p:nvSpPr>
          <p:cNvPr id="12" name="TextBox 12">
            <a:extLst>
              <a:ext uri="{FF2B5EF4-FFF2-40B4-BE49-F238E27FC236}">
                <a16:creationId xmlns:a16="http://schemas.microsoft.com/office/drawing/2014/main" id="{D3D9E2F6-1F76-1E55-6943-775AB41A2CB6}"/>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spTree>
    <p:extLst>
      <p:ext uri="{BB962C8B-B14F-4D97-AF65-F5344CB8AC3E}">
        <p14:creationId xmlns:p14="http://schemas.microsoft.com/office/powerpoint/2010/main" val="40183266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2B71C-4EF3-FD8B-4AC8-367304DDDFA9}"/>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FB9EDB26-47C9-4E1C-74A5-9B42993EBAF1}"/>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496D068-BBD0-6468-9D95-5261EEAA2B3B}"/>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D502D7-C999-0709-1139-E47C2CEB676C}"/>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1F6A31DF-80BE-2AAA-D646-F02683901FC8}"/>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7" name="Picture 6" descr="A screenshot of a computer code&#10;&#10;AI-generated content may be incorrect.">
            <a:extLst>
              <a:ext uri="{FF2B5EF4-FFF2-40B4-BE49-F238E27FC236}">
                <a16:creationId xmlns:a16="http://schemas.microsoft.com/office/drawing/2014/main" id="{41B5D9F3-BCAB-DCA1-0AB8-DA197CB1D779}"/>
              </a:ext>
            </a:extLst>
          </p:cNvPr>
          <p:cNvPicPr>
            <a:picLocks noChangeAspect="1"/>
          </p:cNvPicPr>
          <p:nvPr/>
        </p:nvPicPr>
        <p:blipFill>
          <a:blip r:embed="rId3"/>
          <a:stretch>
            <a:fillRect/>
          </a:stretch>
        </p:blipFill>
        <p:spPr>
          <a:xfrm>
            <a:off x="0" y="1090309"/>
            <a:ext cx="12192000" cy="4677383"/>
          </a:xfrm>
          <a:prstGeom prst="rect">
            <a:avLst/>
          </a:prstGeom>
        </p:spPr>
      </p:pic>
    </p:spTree>
    <p:extLst>
      <p:ext uri="{BB962C8B-B14F-4D97-AF65-F5344CB8AC3E}">
        <p14:creationId xmlns:p14="http://schemas.microsoft.com/office/powerpoint/2010/main" val="17267461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2C9A3-20B4-EC5C-C7F4-C16E95C963A4}"/>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7CA53118-0C36-7791-1542-0E735BBB3B30}"/>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4A04350-9E8E-755B-4146-03313A430150}"/>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DAB304C-16A2-EFC9-DCAA-AF6C368193D1}"/>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109C2C03-26B1-7F5D-024F-E8EFEA4ED3D8}"/>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6FEDE437-B4F4-D569-4A0E-B4861918C01A}"/>
              </a:ext>
            </a:extLst>
          </p:cNvPr>
          <p:cNvPicPr>
            <a:picLocks noChangeAspect="1"/>
          </p:cNvPicPr>
          <p:nvPr/>
        </p:nvPicPr>
        <p:blipFill>
          <a:blip r:embed="rId3"/>
          <a:stretch>
            <a:fillRect/>
          </a:stretch>
        </p:blipFill>
        <p:spPr>
          <a:xfrm>
            <a:off x="0" y="1090309"/>
            <a:ext cx="12192000" cy="4677383"/>
          </a:xfrm>
          <a:prstGeom prst="rect">
            <a:avLst/>
          </a:prstGeom>
        </p:spPr>
      </p:pic>
      <p:sp>
        <p:nvSpPr>
          <p:cNvPr id="5" name="Rectangle 4">
            <a:extLst>
              <a:ext uri="{FF2B5EF4-FFF2-40B4-BE49-F238E27FC236}">
                <a16:creationId xmlns:a16="http://schemas.microsoft.com/office/drawing/2014/main" id="{0A9CFF33-F168-56C7-1301-A85E51D25DE3}"/>
              </a:ext>
            </a:extLst>
          </p:cNvPr>
          <p:cNvSpPr/>
          <p:nvPr/>
        </p:nvSpPr>
        <p:spPr>
          <a:xfrm>
            <a:off x="22745" y="4321791"/>
            <a:ext cx="5709312" cy="100083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17908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313BE-1560-C9DA-D5F2-D9D690063C9E}"/>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329BA1FD-E3F5-6934-BB20-22675EE54677}"/>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74C5290-5233-948B-2E9D-FF1BE82AFFF0}"/>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B2EABF-8C4F-9196-191D-530A151F25C8}"/>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7D838ABE-969E-A545-D2F2-EDA9B8DA652B}"/>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C61D0F58-39FC-30F2-C4EC-0C21917FC928}"/>
              </a:ext>
            </a:extLst>
          </p:cNvPr>
          <p:cNvPicPr>
            <a:picLocks noChangeAspect="1"/>
          </p:cNvPicPr>
          <p:nvPr/>
        </p:nvPicPr>
        <p:blipFill>
          <a:blip r:embed="rId3"/>
          <a:stretch>
            <a:fillRect/>
          </a:stretch>
        </p:blipFill>
        <p:spPr>
          <a:xfrm>
            <a:off x="0" y="1090309"/>
            <a:ext cx="12192000" cy="4677383"/>
          </a:xfrm>
          <a:prstGeom prst="rect">
            <a:avLst/>
          </a:prstGeom>
        </p:spPr>
      </p:pic>
      <p:sp>
        <p:nvSpPr>
          <p:cNvPr id="5" name="Rectangle 4">
            <a:extLst>
              <a:ext uri="{FF2B5EF4-FFF2-40B4-BE49-F238E27FC236}">
                <a16:creationId xmlns:a16="http://schemas.microsoft.com/office/drawing/2014/main" id="{904D6478-A10C-5497-F777-221F58411EA8}"/>
              </a:ext>
            </a:extLst>
          </p:cNvPr>
          <p:cNvSpPr/>
          <p:nvPr/>
        </p:nvSpPr>
        <p:spPr>
          <a:xfrm>
            <a:off x="22745" y="4321791"/>
            <a:ext cx="5709312" cy="100083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7FF7540-FB93-661F-19C4-20DC09EF49BC}"/>
              </a:ext>
            </a:extLst>
          </p:cNvPr>
          <p:cNvCxnSpPr>
            <a:cxnSpLocks/>
          </p:cNvCxnSpPr>
          <p:nvPr/>
        </p:nvCxnSpPr>
        <p:spPr>
          <a:xfrm>
            <a:off x="3330374" y="5354078"/>
            <a:ext cx="409255" cy="71650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6C359D1F-6CE4-9C32-376E-10EDB70829EE}"/>
              </a:ext>
            </a:extLst>
          </p:cNvPr>
          <p:cNvPicPr>
            <a:picLocks noChangeAspect="1"/>
          </p:cNvPicPr>
          <p:nvPr/>
        </p:nvPicPr>
        <p:blipFill>
          <a:blip r:embed="rId4"/>
          <a:stretch>
            <a:fillRect/>
          </a:stretch>
        </p:blipFill>
        <p:spPr>
          <a:xfrm>
            <a:off x="679047" y="6100834"/>
            <a:ext cx="10106025" cy="342900"/>
          </a:xfrm>
          <a:prstGeom prst="rect">
            <a:avLst/>
          </a:prstGeom>
        </p:spPr>
      </p:pic>
    </p:spTree>
    <p:extLst>
      <p:ext uri="{BB962C8B-B14F-4D97-AF65-F5344CB8AC3E}">
        <p14:creationId xmlns:p14="http://schemas.microsoft.com/office/powerpoint/2010/main" val="4774802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1FB09-64E0-38AC-F3BB-15BA20B6FE5D}"/>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7BE660F3-AD25-F623-69B1-E170BDD9EA50}"/>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B2D69C2-6394-E234-D097-2ED1CD3C85E3}"/>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D52FC44-54BE-24C3-8332-0A339707B282}"/>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537FEBF1-3DB4-5D74-AF60-3FF9F2CE7F3A}"/>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F1413F49-19AB-6117-4BE6-C1E8A80D6933}"/>
              </a:ext>
            </a:extLst>
          </p:cNvPr>
          <p:cNvPicPr>
            <a:picLocks noChangeAspect="1"/>
          </p:cNvPicPr>
          <p:nvPr/>
        </p:nvPicPr>
        <p:blipFill>
          <a:blip r:embed="rId3"/>
          <a:stretch>
            <a:fillRect/>
          </a:stretch>
        </p:blipFill>
        <p:spPr>
          <a:xfrm>
            <a:off x="0" y="885593"/>
            <a:ext cx="12192000" cy="4677383"/>
          </a:xfrm>
          <a:prstGeom prst="rect">
            <a:avLst/>
          </a:prstGeom>
        </p:spPr>
      </p:pic>
    </p:spTree>
    <p:extLst>
      <p:ext uri="{BB962C8B-B14F-4D97-AF65-F5344CB8AC3E}">
        <p14:creationId xmlns:p14="http://schemas.microsoft.com/office/powerpoint/2010/main" val="218903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E927D-3CD7-ADCD-7A8F-E651E0BEEA4A}"/>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D2498F35-4A38-F0E1-0951-60D3F713AFD0}"/>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06EF8A2-11FA-D200-8235-8601D5010E7C}"/>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20E86BC-C0D9-5097-02FE-47D0EAFCA4C2}"/>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645009B1-B06C-DF5A-0B10-9FFE525AEB93}"/>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FFAAF2E7-EE1A-F7CD-C97E-A2F8FAD53752}"/>
              </a:ext>
            </a:extLst>
          </p:cNvPr>
          <p:cNvPicPr>
            <a:picLocks noChangeAspect="1"/>
          </p:cNvPicPr>
          <p:nvPr/>
        </p:nvPicPr>
        <p:blipFill>
          <a:blip r:embed="rId3"/>
          <a:stretch>
            <a:fillRect/>
          </a:stretch>
        </p:blipFill>
        <p:spPr>
          <a:xfrm>
            <a:off x="0" y="885593"/>
            <a:ext cx="12192000" cy="4677383"/>
          </a:xfrm>
          <a:prstGeom prst="rect">
            <a:avLst/>
          </a:prstGeom>
        </p:spPr>
      </p:pic>
      <p:sp>
        <p:nvSpPr>
          <p:cNvPr id="5" name="Rectangle 4">
            <a:extLst>
              <a:ext uri="{FF2B5EF4-FFF2-40B4-BE49-F238E27FC236}">
                <a16:creationId xmlns:a16="http://schemas.microsoft.com/office/drawing/2014/main" id="{69E0FCD1-F206-73F6-0BAB-17ED2CCE7F73}"/>
              </a:ext>
            </a:extLst>
          </p:cNvPr>
          <p:cNvSpPr/>
          <p:nvPr/>
        </p:nvSpPr>
        <p:spPr>
          <a:xfrm>
            <a:off x="-1" y="887104"/>
            <a:ext cx="6232476" cy="62552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AEF6A32-4D3F-BE42-6FD1-0A8F36D05C6C}"/>
              </a:ext>
            </a:extLst>
          </p:cNvPr>
          <p:cNvSpPr txBox="1"/>
          <p:nvPr/>
        </p:nvSpPr>
        <p:spPr>
          <a:xfrm>
            <a:off x="261582" y="5908344"/>
            <a:ext cx="1149823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AutoNum type="arabicPeriod"/>
            </a:pPr>
            <a:r>
              <a:rPr lang="en-US" sz="2000"/>
              <a:t> </a:t>
            </a:r>
            <a:r>
              <a:rPr lang="en-US" sz="2000" b="1"/>
              <a:t>Stage 13</a:t>
            </a:r>
            <a:r>
              <a:rPr lang="en-US" sz="2000"/>
              <a:t>: </a:t>
            </a:r>
            <a:r>
              <a:rPr lang="en-US" sz="2000" err="1">
                <a:highlight>
                  <a:srgbClr val="C0C0C0"/>
                </a:highlight>
              </a:rPr>
              <a:t>obj_len</a:t>
            </a:r>
            <a:r>
              <a:rPr lang="en-US" sz="2000">
                <a:highlight>
                  <a:srgbClr val="C0C0C0"/>
                </a:highlight>
              </a:rPr>
              <a:t> = 2</a:t>
            </a:r>
            <a:r>
              <a:rPr lang="en-US" sz="2000"/>
              <a:t> → Create an object with length 2</a:t>
            </a:r>
          </a:p>
          <a:p>
            <a:pPr algn="ctr"/>
            <a:endParaRPr lang="en-US" sz="2000"/>
          </a:p>
        </p:txBody>
      </p:sp>
    </p:spTree>
    <p:extLst>
      <p:ext uri="{BB962C8B-B14F-4D97-AF65-F5344CB8AC3E}">
        <p14:creationId xmlns:p14="http://schemas.microsoft.com/office/powerpoint/2010/main" val="4259221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D6DDD-4A60-DE08-1670-7F5A941698A0}"/>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60AA79AB-C0E3-A38A-1DC1-CC8AFE017C36}"/>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4C02FC1-4099-DE5F-40B9-6165E5B4B508}"/>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ED6949-2B89-E3C4-B951-B3FB90769EC9}"/>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DDD2A7AB-5678-EA74-F1CD-DDD71B9E5D40}"/>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EE5ECAEC-3B03-3C6B-78C0-0DCCC27D56F4}"/>
              </a:ext>
            </a:extLst>
          </p:cNvPr>
          <p:cNvPicPr>
            <a:picLocks noChangeAspect="1"/>
          </p:cNvPicPr>
          <p:nvPr/>
        </p:nvPicPr>
        <p:blipFill>
          <a:blip r:embed="rId3"/>
          <a:stretch>
            <a:fillRect/>
          </a:stretch>
        </p:blipFill>
        <p:spPr>
          <a:xfrm>
            <a:off x="0" y="885593"/>
            <a:ext cx="12192000" cy="4677383"/>
          </a:xfrm>
          <a:prstGeom prst="rect">
            <a:avLst/>
          </a:prstGeom>
        </p:spPr>
      </p:pic>
      <p:sp>
        <p:nvSpPr>
          <p:cNvPr id="5" name="Rectangle 4">
            <a:extLst>
              <a:ext uri="{FF2B5EF4-FFF2-40B4-BE49-F238E27FC236}">
                <a16:creationId xmlns:a16="http://schemas.microsoft.com/office/drawing/2014/main" id="{4CFFD75B-1477-D98D-4EDD-AC2E3B92C23F}"/>
              </a:ext>
            </a:extLst>
          </p:cNvPr>
          <p:cNvSpPr/>
          <p:nvPr/>
        </p:nvSpPr>
        <p:spPr>
          <a:xfrm>
            <a:off x="-1" y="1535373"/>
            <a:ext cx="9519311" cy="625522"/>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38E9208-E873-F1D2-0343-34199E4AAB76}"/>
              </a:ext>
            </a:extLst>
          </p:cNvPr>
          <p:cNvSpPr txBox="1"/>
          <p:nvPr/>
        </p:nvSpPr>
        <p:spPr>
          <a:xfrm>
            <a:off x="261582" y="5908344"/>
            <a:ext cx="1183943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Arial"/>
              </a:rPr>
              <a:t>2. </a:t>
            </a:r>
            <a:r>
              <a:rPr lang="en-US" sz="2000" b="1">
                <a:cs typeface="Arial"/>
              </a:rPr>
              <a:t>Stage </a:t>
            </a:r>
            <a:r>
              <a:rPr lang="en-US" sz="2000" b="1">
                <a:solidFill>
                  <a:srgbClr val="000000"/>
                </a:solidFill>
                <a:ea typeface="+mn-lt"/>
                <a:cs typeface="+mn-lt"/>
              </a:rPr>
              <a:t>18</a:t>
            </a:r>
            <a:r>
              <a:rPr lang="en-US" sz="2000">
                <a:solidFill>
                  <a:srgbClr val="000000"/>
                </a:solidFill>
                <a:ea typeface="+mn-lt"/>
                <a:cs typeface="+mn-lt"/>
              </a:rPr>
              <a:t>: </a:t>
            </a:r>
            <a:r>
              <a:rPr lang="en-US" sz="2000">
                <a:solidFill>
                  <a:srgbClr val="000000"/>
                </a:solidFill>
                <a:highlight>
                  <a:srgbClr val="C0C0C0"/>
                </a:highlight>
                <a:latin typeface="Arial"/>
              </a:rPr>
              <a:t>value-&gt;</a:t>
            </a:r>
            <a:r>
              <a:rPr lang="en-US" sz="2000" err="1">
                <a:solidFill>
                  <a:srgbClr val="000000"/>
                </a:solidFill>
                <a:highlight>
                  <a:srgbClr val="C0C0C0"/>
                </a:highlight>
                <a:latin typeface="Arial"/>
              </a:rPr>
              <a:t>u.object.length</a:t>
            </a:r>
            <a:r>
              <a:rPr lang="en-US" sz="2000">
                <a:solidFill>
                  <a:srgbClr val="000000"/>
                </a:solidFill>
                <a:highlight>
                  <a:srgbClr val="C0C0C0"/>
                </a:highlight>
                <a:latin typeface="Arial"/>
              </a:rPr>
              <a:t> = 2</a:t>
            </a:r>
            <a:r>
              <a:rPr lang="en-US" sz="2000">
                <a:solidFill>
                  <a:srgbClr val="000000"/>
                </a:solidFill>
                <a:ea typeface="+mn-lt"/>
                <a:cs typeface="+mn-lt"/>
              </a:rPr>
              <a:t> means object have 2  key-value pairs, valid index are 0 and 1 </a:t>
            </a:r>
            <a:endParaRPr lang="en-US" sz="2000">
              <a:cs typeface="Arial"/>
            </a:endParaRPr>
          </a:p>
        </p:txBody>
      </p:sp>
    </p:spTree>
    <p:extLst>
      <p:ext uri="{BB962C8B-B14F-4D97-AF65-F5344CB8AC3E}">
        <p14:creationId xmlns:p14="http://schemas.microsoft.com/office/powerpoint/2010/main" val="40301584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574B2-DBE9-9CD8-5D08-B0AA75E9FEF8}"/>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4EC3F30-7DFF-23E1-9849-58C73D10000D}"/>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63DEE47-7AE9-544D-94DD-55591DD2FFBB}"/>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0AC7B16-3ED0-D5D8-BC56-88539A39CABA}"/>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947FA278-088E-18EF-9BBB-71CAC28773E3}"/>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6EC84C5C-318E-1258-2862-E44EA4979400}"/>
              </a:ext>
            </a:extLst>
          </p:cNvPr>
          <p:cNvPicPr>
            <a:picLocks noChangeAspect="1"/>
          </p:cNvPicPr>
          <p:nvPr/>
        </p:nvPicPr>
        <p:blipFill>
          <a:blip r:embed="rId3"/>
          <a:stretch>
            <a:fillRect/>
          </a:stretch>
        </p:blipFill>
        <p:spPr>
          <a:xfrm>
            <a:off x="0" y="885593"/>
            <a:ext cx="12192000" cy="4677383"/>
          </a:xfrm>
          <a:prstGeom prst="rect">
            <a:avLst/>
          </a:prstGeom>
        </p:spPr>
      </p:pic>
      <p:sp>
        <p:nvSpPr>
          <p:cNvPr id="5" name="Rectangle 4">
            <a:extLst>
              <a:ext uri="{FF2B5EF4-FFF2-40B4-BE49-F238E27FC236}">
                <a16:creationId xmlns:a16="http://schemas.microsoft.com/office/drawing/2014/main" id="{C76567D8-4FEF-D56A-25DD-855494405BED}"/>
              </a:ext>
            </a:extLst>
          </p:cNvPr>
          <p:cNvSpPr/>
          <p:nvPr/>
        </p:nvSpPr>
        <p:spPr>
          <a:xfrm>
            <a:off x="-1" y="2141509"/>
            <a:ext cx="11782564" cy="750626"/>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7E589FE-560D-00E7-F997-0A24E7451084}"/>
              </a:ext>
            </a:extLst>
          </p:cNvPr>
          <p:cNvSpPr txBox="1"/>
          <p:nvPr/>
        </p:nvSpPr>
        <p:spPr>
          <a:xfrm>
            <a:off x="261582" y="5908344"/>
            <a:ext cx="1183943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Arial"/>
              </a:rPr>
              <a:t>3. </a:t>
            </a:r>
            <a:r>
              <a:rPr lang="en-US" sz="2000" b="1">
                <a:cs typeface="Arial"/>
              </a:rPr>
              <a:t>Stage </a:t>
            </a:r>
            <a:r>
              <a:rPr lang="en-US" sz="2000" b="1">
                <a:solidFill>
                  <a:srgbClr val="000000"/>
                </a:solidFill>
                <a:ea typeface="+mn-lt"/>
                <a:cs typeface="+mn-lt"/>
              </a:rPr>
              <a:t>21</a:t>
            </a:r>
            <a:r>
              <a:rPr lang="en-US" sz="2000">
                <a:solidFill>
                  <a:srgbClr val="000000"/>
                </a:solidFill>
                <a:ea typeface="+mn-lt"/>
                <a:cs typeface="+mn-lt"/>
              </a:rPr>
              <a:t>:</a:t>
            </a:r>
            <a:r>
              <a:rPr lang="en-US" sz="2000">
                <a:solidFill>
                  <a:srgbClr val="000000"/>
                </a:solidFill>
                <a:highlight>
                  <a:srgbClr val="C0C0C0"/>
                </a:highlight>
                <a:ea typeface="+mn-lt"/>
                <a:cs typeface="+mn-lt"/>
              </a:rPr>
              <a:t> </a:t>
            </a:r>
            <a:r>
              <a:rPr lang="en-US" sz="2000">
                <a:solidFill>
                  <a:srgbClr val="000000"/>
                </a:solidFill>
                <a:highlight>
                  <a:srgbClr val="C0C0C0"/>
                </a:highlight>
                <a:latin typeface="Arial"/>
                <a:cs typeface="Arial"/>
              </a:rPr>
              <a:t>value-&gt;</a:t>
            </a:r>
            <a:r>
              <a:rPr lang="en-US" sz="2000" err="1">
                <a:solidFill>
                  <a:srgbClr val="000000"/>
                </a:solidFill>
                <a:highlight>
                  <a:srgbClr val="C0C0C0"/>
                </a:highlight>
                <a:latin typeface="Arial"/>
                <a:cs typeface="Arial"/>
              </a:rPr>
              <a:t>u.object.</a:t>
            </a:r>
            <a:r>
              <a:rPr lang="en-US" sz="2000" err="1">
                <a:solidFill>
                  <a:srgbClr val="000000"/>
                </a:solidFill>
                <a:highlight>
                  <a:srgbClr val="C0C0C0"/>
                </a:highlight>
                <a:latin typeface="Arial"/>
                <a:ea typeface="+mn-lt"/>
                <a:cs typeface="+mn-lt"/>
              </a:rPr>
              <a:t>values</a:t>
            </a:r>
            <a:r>
              <a:rPr lang="en-US" sz="2000">
                <a:solidFill>
                  <a:srgbClr val="000000"/>
                </a:solidFill>
                <a:highlight>
                  <a:srgbClr val="C0C0C0"/>
                </a:highlight>
                <a:latin typeface="Arial"/>
                <a:ea typeface="+mn-lt"/>
                <a:cs typeface="+mn-lt"/>
              </a:rPr>
              <a:t> = (&amp;dynamic_14_array[0])</a:t>
            </a:r>
            <a:r>
              <a:rPr lang="en-US" sz="2000">
                <a:solidFill>
                  <a:srgbClr val="000000"/>
                </a:solidFill>
                <a:highlight>
                  <a:srgbClr val="C0C0C0"/>
                </a:highlight>
                <a:ea typeface="+mn-lt"/>
                <a:cs typeface="+mn-lt"/>
              </a:rPr>
              <a:t> </a:t>
            </a:r>
            <a:r>
              <a:rPr lang="en-US" sz="2000" err="1">
                <a:solidFill>
                  <a:srgbClr val="000000"/>
                </a:solidFill>
                <a:ea typeface="+mn-lt"/>
                <a:cs typeface="+mn-lt"/>
              </a:rPr>
              <a:t>tức</a:t>
            </a:r>
            <a:r>
              <a:rPr lang="en-US" sz="2000">
                <a:solidFill>
                  <a:srgbClr val="000000"/>
                </a:solidFill>
                <a:ea typeface="+mn-lt"/>
                <a:cs typeface="+mn-lt"/>
              </a:rPr>
              <a:t> means the array is consist of two elements (symbolic by ESBMC), valid index 0..1.</a:t>
            </a:r>
            <a:endParaRPr lang="en-US" sz="2000">
              <a:solidFill>
                <a:srgbClr val="000000"/>
              </a:solidFill>
              <a:cs typeface="Arial"/>
            </a:endParaRPr>
          </a:p>
        </p:txBody>
      </p:sp>
    </p:spTree>
    <p:extLst>
      <p:ext uri="{BB962C8B-B14F-4D97-AF65-F5344CB8AC3E}">
        <p14:creationId xmlns:p14="http://schemas.microsoft.com/office/powerpoint/2010/main" val="26947246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DAA5C-0A95-55F4-7523-65E63EA32E47}"/>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AFBB70B8-3BE8-9EB0-68FC-DADFC4724CB0}"/>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2149B4-08C1-F88B-BBAF-AC65F23EF3A9}"/>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AE07869-C303-696A-7F45-43236DC69AFB}"/>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2F2A4EEF-A193-7A96-9710-08BAC6B436E7}"/>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93CB933A-BFE5-D990-4D83-9A8355962FB6}"/>
              </a:ext>
            </a:extLst>
          </p:cNvPr>
          <p:cNvPicPr>
            <a:picLocks noChangeAspect="1"/>
          </p:cNvPicPr>
          <p:nvPr/>
        </p:nvPicPr>
        <p:blipFill>
          <a:blip r:embed="rId3"/>
          <a:stretch>
            <a:fillRect/>
          </a:stretch>
        </p:blipFill>
        <p:spPr>
          <a:xfrm>
            <a:off x="0" y="885593"/>
            <a:ext cx="12192000" cy="4677383"/>
          </a:xfrm>
          <a:prstGeom prst="rect">
            <a:avLst/>
          </a:prstGeom>
        </p:spPr>
      </p:pic>
      <p:sp>
        <p:nvSpPr>
          <p:cNvPr id="5" name="Rectangle 4">
            <a:extLst>
              <a:ext uri="{FF2B5EF4-FFF2-40B4-BE49-F238E27FC236}">
                <a16:creationId xmlns:a16="http://schemas.microsoft.com/office/drawing/2014/main" id="{D3AFA449-3036-210C-6DDC-6868CECB4F7B}"/>
              </a:ext>
            </a:extLst>
          </p:cNvPr>
          <p:cNvSpPr/>
          <p:nvPr/>
        </p:nvSpPr>
        <p:spPr>
          <a:xfrm>
            <a:off x="-11374" y="2843284"/>
            <a:ext cx="12112385" cy="136477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644D8FF-567A-2564-CC5C-6729523D6045}"/>
              </a:ext>
            </a:extLst>
          </p:cNvPr>
          <p:cNvSpPr txBox="1"/>
          <p:nvPr/>
        </p:nvSpPr>
        <p:spPr>
          <a:xfrm>
            <a:off x="261582" y="5908344"/>
            <a:ext cx="1183943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000000"/>
                </a:solidFill>
                <a:ea typeface="+mn-lt"/>
                <a:cs typeface="+mn-lt"/>
              </a:rPr>
              <a:t>4. </a:t>
            </a:r>
            <a:r>
              <a:rPr lang="en-US" sz="2000" b="1">
                <a:solidFill>
                  <a:srgbClr val="000000"/>
                </a:solidFill>
                <a:ea typeface="+mn-lt"/>
                <a:cs typeface="+mn-lt"/>
              </a:rPr>
              <a:t>State 46</a:t>
            </a:r>
            <a:r>
              <a:rPr lang="en-US" sz="2000">
                <a:solidFill>
                  <a:srgbClr val="000000"/>
                </a:solidFill>
                <a:ea typeface="+mn-lt"/>
                <a:cs typeface="+mn-lt"/>
              </a:rPr>
              <a:t> : Start entering the function  </a:t>
            </a:r>
            <a:r>
              <a:rPr lang="en-US" sz="2000" err="1">
                <a:solidFill>
                  <a:srgbClr val="000000"/>
                </a:solidFill>
                <a:highlight>
                  <a:srgbClr val="C0C0C0"/>
                </a:highlight>
                <a:latin typeface="Arial"/>
                <a:ea typeface="+mn-lt"/>
                <a:cs typeface="+mn-lt"/>
              </a:rPr>
              <a:t>json_value_free_ex</a:t>
            </a:r>
            <a:endParaRPr lang="en-US" sz="2000" err="1">
              <a:solidFill>
                <a:srgbClr val="000000"/>
              </a:solidFill>
              <a:highlight>
                <a:srgbClr val="C0C0C0"/>
              </a:highlight>
              <a:latin typeface="Arial"/>
              <a:cs typeface="Arial"/>
            </a:endParaRPr>
          </a:p>
        </p:txBody>
      </p:sp>
    </p:spTree>
    <p:extLst>
      <p:ext uri="{BB962C8B-B14F-4D97-AF65-F5344CB8AC3E}">
        <p14:creationId xmlns:p14="http://schemas.microsoft.com/office/powerpoint/2010/main" val="2570376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12BBE-2B96-57F1-4FBD-42F0F84996E4}"/>
            </a:ext>
          </a:extLst>
        </p:cNvPr>
        <p:cNvGrpSpPr/>
        <p:nvPr/>
      </p:nvGrpSpPr>
      <p:grpSpPr>
        <a:xfrm>
          <a:off x="0" y="0"/>
          <a:ext cx="0" cy="0"/>
          <a:chOff x="0" y="0"/>
          <a:chExt cx="0" cy="0"/>
        </a:xfrm>
      </p:grpSpPr>
      <p:sp>
        <p:nvSpPr>
          <p:cNvPr id="18" name="Rectangle 17">
            <a:extLst>
              <a:ext uri="{FF2B5EF4-FFF2-40B4-BE49-F238E27FC236}">
                <a16:creationId xmlns:a16="http://schemas.microsoft.com/office/drawing/2014/main" id="{EDBFD51E-4FB7-5E10-BF09-414F9CC91519}"/>
              </a:ext>
            </a:extLst>
          </p:cNvPr>
          <p:cNvSpPr/>
          <p:nvPr/>
        </p:nvSpPr>
        <p:spPr>
          <a:xfrm>
            <a:off x="-5843" y="707824"/>
            <a:ext cx="12196492"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501C18A-F63F-6321-3D6D-0C8830357A68}"/>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DBF8924-8458-B2F5-3057-4EB3D4596860}"/>
              </a:ext>
            </a:extLst>
          </p:cNvPr>
          <p:cNvSpPr/>
          <p:nvPr/>
        </p:nvSpPr>
        <p:spPr>
          <a:xfrm>
            <a:off x="3094473" y="10120230"/>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TextBox 12">
            <a:extLst>
              <a:ext uri="{FF2B5EF4-FFF2-40B4-BE49-F238E27FC236}">
                <a16:creationId xmlns:a16="http://schemas.microsoft.com/office/drawing/2014/main" id="{0F7DCCF7-E537-0483-E0B8-44E8D258F3FF}"/>
              </a:ext>
            </a:extLst>
          </p:cNvPr>
          <p:cNvSpPr txBox="1"/>
          <p:nvPr/>
        </p:nvSpPr>
        <p:spPr>
          <a:xfrm>
            <a:off x="-2491" y="-3795"/>
            <a:ext cx="6572532" cy="89255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b="1">
                <a:solidFill>
                  <a:schemeClr val="bg1"/>
                </a:solidFill>
                <a:latin typeface="Arial"/>
                <a:ea typeface="Arial"/>
                <a:cs typeface="Arial"/>
              </a:rPr>
              <a:t>2.  </a:t>
            </a:r>
            <a:r>
              <a:rPr lang="en-US" sz="3200" b="1">
                <a:solidFill>
                  <a:schemeClr val="bg1"/>
                </a:solidFill>
                <a:ea typeface="+mn-lt"/>
                <a:cs typeface="+mn-lt"/>
              </a:rPr>
              <a:t>Static analysis: ESBMC</a:t>
            </a:r>
            <a:endParaRPr lang="en-US" sz="3200" b="1">
              <a:solidFill>
                <a:schemeClr val="bg1"/>
              </a:solidFill>
              <a:latin typeface="Arial"/>
              <a:ea typeface="Arial"/>
              <a:cs typeface="Arial"/>
            </a:endParaRPr>
          </a:p>
          <a:p>
            <a:pPr algn="ctr"/>
            <a:endParaRPr lang="en-US" sz="2000" b="1">
              <a:solidFill>
                <a:schemeClr val="bg1"/>
              </a:solidFill>
              <a:cs typeface="Arial"/>
            </a:endParaRPr>
          </a:p>
        </p:txBody>
      </p:sp>
      <p:pic>
        <p:nvPicPr>
          <p:cNvPr id="3" name="Picture 2" descr="A screenshot of a computer code&#10;&#10;AI-generated content may be incorrect.">
            <a:extLst>
              <a:ext uri="{FF2B5EF4-FFF2-40B4-BE49-F238E27FC236}">
                <a16:creationId xmlns:a16="http://schemas.microsoft.com/office/drawing/2014/main" id="{96B87C43-1B17-3912-B5A8-94B47242C4F2}"/>
              </a:ext>
            </a:extLst>
          </p:cNvPr>
          <p:cNvPicPr>
            <a:picLocks noChangeAspect="1"/>
          </p:cNvPicPr>
          <p:nvPr/>
        </p:nvPicPr>
        <p:blipFill>
          <a:blip r:embed="rId3"/>
          <a:stretch>
            <a:fillRect/>
          </a:stretch>
        </p:blipFill>
        <p:spPr>
          <a:xfrm>
            <a:off x="0" y="885593"/>
            <a:ext cx="12192000" cy="4677383"/>
          </a:xfrm>
          <a:prstGeom prst="rect">
            <a:avLst/>
          </a:prstGeom>
        </p:spPr>
      </p:pic>
      <p:sp>
        <p:nvSpPr>
          <p:cNvPr id="5" name="Rectangle 4">
            <a:extLst>
              <a:ext uri="{FF2B5EF4-FFF2-40B4-BE49-F238E27FC236}">
                <a16:creationId xmlns:a16="http://schemas.microsoft.com/office/drawing/2014/main" id="{DE6D7E06-00A5-9887-F8C4-0877FB49FEAD}"/>
              </a:ext>
            </a:extLst>
          </p:cNvPr>
          <p:cNvSpPr/>
          <p:nvPr/>
        </p:nvSpPr>
        <p:spPr>
          <a:xfrm>
            <a:off x="-518" y="4175233"/>
            <a:ext cx="12101012" cy="93259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D29C0C1-2ED6-C0BA-E80C-EAD704547CB4}"/>
              </a:ext>
            </a:extLst>
          </p:cNvPr>
          <p:cNvSpPr txBox="1"/>
          <p:nvPr/>
        </p:nvSpPr>
        <p:spPr>
          <a:xfrm>
            <a:off x="261582" y="5817359"/>
            <a:ext cx="1183943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000000"/>
                </a:solidFill>
                <a:ea typeface="+mn-lt"/>
                <a:cs typeface="+mn-lt"/>
              </a:rPr>
              <a:t>5. </a:t>
            </a:r>
            <a:r>
              <a:rPr lang="en-US" sz="2000" b="1">
                <a:solidFill>
                  <a:srgbClr val="000000"/>
                </a:solidFill>
                <a:ea typeface="+mn-lt"/>
                <a:cs typeface="+mn-lt"/>
              </a:rPr>
              <a:t>State 69</a:t>
            </a:r>
            <a:r>
              <a:rPr lang="en-US" sz="2000">
                <a:solidFill>
                  <a:srgbClr val="000000"/>
                </a:solidFill>
                <a:ea typeface="+mn-lt"/>
                <a:cs typeface="+mn-lt"/>
              </a:rPr>
              <a:t>:  With </a:t>
            </a:r>
            <a:r>
              <a:rPr lang="en-US" sz="2000">
                <a:solidFill>
                  <a:srgbClr val="000000"/>
                </a:solidFill>
                <a:highlight>
                  <a:srgbClr val="C0C0C0"/>
                </a:highlight>
                <a:latin typeface="Arial"/>
                <a:ea typeface="+mn-lt"/>
                <a:cs typeface="+mn-lt"/>
              </a:rPr>
              <a:t>length = 2</a:t>
            </a:r>
            <a:r>
              <a:rPr lang="en-US" sz="2000">
                <a:solidFill>
                  <a:srgbClr val="000000"/>
                </a:solidFill>
                <a:ea typeface="+mn-lt"/>
                <a:cs typeface="+mn-lt"/>
              </a:rPr>
              <a:t>, the expression </a:t>
            </a:r>
            <a:r>
              <a:rPr lang="en-US" sz="2000">
                <a:solidFill>
                  <a:srgbClr val="000000"/>
                </a:solidFill>
                <a:highlight>
                  <a:srgbClr val="C0C0C0"/>
                </a:highlight>
                <a:latin typeface="Arial"/>
                <a:ea typeface="+mn-lt"/>
                <a:cs typeface="+mn-lt"/>
              </a:rPr>
              <a:t>values[length--]</a:t>
            </a:r>
            <a:r>
              <a:rPr lang="en-US" sz="2000">
                <a:solidFill>
                  <a:srgbClr val="000000"/>
                </a:solidFill>
                <a:ea typeface="+mn-lt"/>
                <a:cs typeface="+mn-lt"/>
              </a:rPr>
              <a:t> accesses </a:t>
            </a:r>
            <a:r>
              <a:rPr lang="en-US" sz="2000">
                <a:solidFill>
                  <a:srgbClr val="000000"/>
                </a:solidFill>
                <a:highlight>
                  <a:srgbClr val="C0C0C0"/>
                </a:highlight>
                <a:latin typeface="Arial"/>
                <a:ea typeface="+mn-lt"/>
                <a:cs typeface="+mn-lt"/>
              </a:rPr>
              <a:t>values[2]</a:t>
            </a:r>
            <a:r>
              <a:rPr lang="en-US" sz="2000">
                <a:solidFill>
                  <a:srgbClr val="000000"/>
                </a:solidFill>
                <a:ea typeface="+mn-lt"/>
                <a:cs typeface="+mn-lt"/>
              </a:rPr>
              <a:t> first and only then decrements </a:t>
            </a:r>
            <a:r>
              <a:rPr lang="en-US" sz="2000">
                <a:solidFill>
                  <a:srgbClr val="000000"/>
                </a:solidFill>
                <a:latin typeface="Arial"/>
                <a:ea typeface="+mn-lt"/>
                <a:cs typeface="+mn-lt"/>
              </a:rPr>
              <a:t>length</a:t>
            </a:r>
            <a:r>
              <a:rPr lang="en-US" sz="2000">
                <a:solidFill>
                  <a:srgbClr val="000000"/>
                </a:solidFill>
                <a:ea typeface="+mn-lt"/>
                <a:cs typeface="+mn-lt"/>
              </a:rPr>
              <a:t> to 1. Index 2 is out of bounds.</a:t>
            </a:r>
            <a:endParaRPr lang="en-US" sz="2000">
              <a:solidFill>
                <a:srgbClr val="000000"/>
              </a:solidFill>
              <a:highlight>
                <a:srgbClr val="C0C0C0"/>
              </a:highlight>
              <a:latin typeface="Arial"/>
              <a:cs typeface="Arial"/>
            </a:endParaRPr>
          </a:p>
        </p:txBody>
      </p:sp>
    </p:spTree>
    <p:extLst>
      <p:ext uri="{BB962C8B-B14F-4D97-AF65-F5344CB8AC3E}">
        <p14:creationId xmlns:p14="http://schemas.microsoft.com/office/powerpoint/2010/main" val="3997530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9FF79-F26D-5B65-9FBE-34EE426081DB}"/>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ECBB014-5276-05E7-4586-C7219D6AC62D}"/>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Freeform 1">
            <a:extLst>
              <a:ext uri="{FF2B5EF4-FFF2-40B4-BE49-F238E27FC236}">
                <a16:creationId xmlns:a16="http://schemas.microsoft.com/office/drawing/2014/main" id="{EF2967EE-8B5E-5B0E-D817-17BAAB4C8B48}"/>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3424E943-1410-786D-56A7-2397CEC745CA}"/>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3. Dynamic analysis: AFL++</a:t>
            </a:r>
            <a:endParaRPr lang="en-US" sz="3200" b="1">
              <a:solidFill>
                <a:schemeClr val="bg1"/>
              </a:solidFill>
            </a:endParaRPr>
          </a:p>
        </p:txBody>
      </p:sp>
      <p:sp>
        <p:nvSpPr>
          <p:cNvPr id="2" name="TextBox 1">
            <a:extLst>
              <a:ext uri="{FF2B5EF4-FFF2-40B4-BE49-F238E27FC236}">
                <a16:creationId xmlns:a16="http://schemas.microsoft.com/office/drawing/2014/main" id="{D4464F05-EDF1-7D64-03B6-A130180E8A75}"/>
              </a:ext>
            </a:extLst>
          </p:cNvPr>
          <p:cNvSpPr txBox="1"/>
          <p:nvPr/>
        </p:nvSpPr>
        <p:spPr>
          <a:xfrm>
            <a:off x="421541" y="1026321"/>
            <a:ext cx="5238929"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a:br>
            <a:r>
              <a:rPr lang="en-US"/>
              <a:t>This program serves as a </a:t>
            </a:r>
            <a:r>
              <a:rPr lang="en-US" b="1"/>
              <a:t>fuzzing harness</a:t>
            </a:r>
            <a:r>
              <a:rPr lang="en-US"/>
              <a:t> </a:t>
            </a:r>
          </a:p>
          <a:p>
            <a:endParaRPr lang="en-US"/>
          </a:p>
          <a:p>
            <a:r>
              <a:rPr lang="en-US"/>
              <a:t>It reads an entire input file provided by the </a:t>
            </a:r>
            <a:r>
              <a:rPr lang="en-US" err="1"/>
              <a:t>fuzzer</a:t>
            </a:r>
            <a:r>
              <a:rPr lang="en-US"/>
              <a:t> into memory and passes the raw data directly to the JSON parsing function</a:t>
            </a:r>
          </a:p>
          <a:p>
            <a:br>
              <a:rPr lang="en-US"/>
            </a:br>
            <a:r>
              <a:rPr lang="en-US"/>
              <a:t>After parsing, the program recursively traverses the resulting JSON object tree, forcing execution through multiple code paths and memory access patterns.</a:t>
            </a:r>
          </a:p>
          <a:p>
            <a:br>
              <a:rPr lang="en-US"/>
            </a:br>
            <a:r>
              <a:rPr lang="en-US"/>
              <a:t>This design is intentional to </a:t>
            </a:r>
            <a:r>
              <a:rPr lang="en-US" b="1"/>
              <a:t>maximize code coverage under AFL++</a:t>
            </a:r>
            <a:r>
              <a:rPr lang="en-US"/>
              <a:t> and to allow </a:t>
            </a:r>
            <a:r>
              <a:rPr lang="en-US" b="1" err="1"/>
              <a:t>AddressSanitizer</a:t>
            </a:r>
            <a:r>
              <a:rPr lang="en-US" b="1"/>
              <a:t> (</a:t>
            </a:r>
            <a:r>
              <a:rPr lang="en-US" b="1" err="1"/>
              <a:t>ASan</a:t>
            </a:r>
            <a:r>
              <a:rPr lang="en-US" b="1"/>
              <a:t>) to detect memory safety violations</a:t>
            </a:r>
            <a:r>
              <a:rPr lang="en-US"/>
              <a:t> such as buffer overflows, invalid memory accesses, and NULL pointer dereferences.</a:t>
            </a:r>
          </a:p>
          <a:p>
            <a:pPr algn="ctr"/>
            <a:endParaRPr lang="en-US"/>
          </a:p>
        </p:txBody>
      </p:sp>
      <p:pic>
        <p:nvPicPr>
          <p:cNvPr id="6" name="Picture 5" descr="A screenshot of a computer program">
            <a:extLst>
              <a:ext uri="{FF2B5EF4-FFF2-40B4-BE49-F238E27FC236}">
                <a16:creationId xmlns:a16="http://schemas.microsoft.com/office/drawing/2014/main" id="{05B24B59-8363-8F64-7D35-311F4A2D1785}"/>
              </a:ext>
            </a:extLst>
          </p:cNvPr>
          <p:cNvPicPr>
            <a:picLocks noChangeAspect="1"/>
          </p:cNvPicPr>
          <p:nvPr/>
        </p:nvPicPr>
        <p:blipFill>
          <a:blip r:embed="rId3"/>
          <a:srcRect l="-1186" t="9754" r="1186" b="12483"/>
          <a:stretch>
            <a:fillRect/>
          </a:stretch>
        </p:blipFill>
        <p:spPr>
          <a:xfrm>
            <a:off x="6463292" y="969630"/>
            <a:ext cx="4908126" cy="53329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66A64DF8-B4E8-D02D-18BA-CF031E1BE85B}"/>
              </a:ext>
            </a:extLst>
          </p:cNvPr>
          <p:cNvSpPr txBox="1"/>
          <p:nvPr/>
        </p:nvSpPr>
        <p:spPr>
          <a:xfrm>
            <a:off x="8916538" y="6306403"/>
            <a:ext cx="818866"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err="1">
                <a:solidFill>
                  <a:srgbClr val="000000"/>
                </a:solidFill>
                <a:latin typeface="Arial"/>
                <a:ea typeface="Arial"/>
                <a:cs typeface="Arial"/>
              </a:rPr>
              <a:t>main</a:t>
            </a:r>
            <a:r>
              <a:rPr lang="en-US" sz="1600" i="1" u="none" strike="noStrike" baseline="0" err="1">
                <a:solidFill>
                  <a:srgbClr val="000000"/>
                </a:solidFill>
                <a:latin typeface="Arial"/>
                <a:ea typeface="Arial"/>
                <a:cs typeface="Arial"/>
              </a:rPr>
              <a:t>.c</a:t>
            </a:r>
            <a:endParaRPr lang="en-US" sz="1600" i="1" err="1"/>
          </a:p>
          <a:p>
            <a:pPr algn="ctr"/>
            <a:endParaRPr lang="en-US" sz="1400" i="1"/>
          </a:p>
        </p:txBody>
      </p:sp>
    </p:spTree>
    <p:extLst>
      <p:ext uri="{BB962C8B-B14F-4D97-AF65-F5344CB8AC3E}">
        <p14:creationId xmlns:p14="http://schemas.microsoft.com/office/powerpoint/2010/main" val="3292033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63A6C-4D8A-C8C7-BE67-36CF23CE2144}"/>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74E71903-D876-C8BE-273E-F0543378E11B}"/>
              </a:ext>
            </a:extLst>
          </p:cNvPr>
          <p:cNvSpPr/>
          <p:nvPr/>
        </p:nvSpPr>
        <p:spPr>
          <a:xfrm>
            <a:off x="4694534" y="2115585"/>
            <a:ext cx="360" cy="360"/>
          </a:xfrm>
          <a:custGeom>
            <a:avLst/>
            <a:gdLst/>
            <a:ahLst/>
            <a:cxnLst/>
            <a:rect l="0" t="0" r="r" b="b"/>
            <a:pathLst>
              <a:path w="1" h="1">
                <a:moveTo>
                  <a:pt x="0" y="0"/>
                </a:moveTo>
                <a:lnTo>
                  <a:pt x="0" y="0"/>
                </a:lnTo>
              </a:path>
            </a:pathLst>
          </a:custGeom>
          <a:ln/>
        </p:spPr>
        <p:txBody>
          <a:bodyPr/>
          <a:lstStyle/>
          <a:p>
            <a:endParaRPr lang="en-US"/>
          </a:p>
        </p:txBody>
      </p:sp>
      <p:sp>
        <p:nvSpPr>
          <p:cNvPr id="15" name="TextBox 14">
            <a:extLst>
              <a:ext uri="{FF2B5EF4-FFF2-40B4-BE49-F238E27FC236}">
                <a16:creationId xmlns:a16="http://schemas.microsoft.com/office/drawing/2014/main" id="{FBF2F0A5-5146-003F-A297-5336DF44486B}"/>
              </a:ext>
            </a:extLst>
          </p:cNvPr>
          <p:cNvSpPr txBox="1"/>
          <p:nvPr/>
        </p:nvSpPr>
        <p:spPr>
          <a:xfrm>
            <a:off x="1255632" y="2137770"/>
            <a:ext cx="8998789" cy="584775"/>
          </a:xfrm>
          <a:prstGeom prst="rect">
            <a:avLst/>
          </a:prstGeom>
          <a:noFill/>
        </p:spPr>
        <p:txBody>
          <a:bodyPr wrap="square" lIns="91440" tIns="45720" rIns="91440" bIns="45720" anchor="t">
            <a:spAutoFit/>
          </a:bodyPr>
          <a:lstStyle/>
          <a:p>
            <a:r>
              <a:rPr lang="en-US" sz="1600" i="1"/>
              <a:t>Allocates heap memory exactly matching the input file size, allowing malformed and non-null-terminated inputs to reach the parser and trigger memory-related vulnerabilities.</a:t>
            </a:r>
          </a:p>
        </p:txBody>
      </p:sp>
      <p:sp>
        <p:nvSpPr>
          <p:cNvPr id="17" name="TextBox 16">
            <a:extLst>
              <a:ext uri="{FF2B5EF4-FFF2-40B4-BE49-F238E27FC236}">
                <a16:creationId xmlns:a16="http://schemas.microsoft.com/office/drawing/2014/main" id="{662FFC73-FA97-3B03-2DD0-968493C73B08}"/>
              </a:ext>
            </a:extLst>
          </p:cNvPr>
          <p:cNvSpPr txBox="1"/>
          <p:nvPr/>
        </p:nvSpPr>
        <p:spPr>
          <a:xfrm>
            <a:off x="1319435" y="3981566"/>
            <a:ext cx="8976477" cy="584775"/>
          </a:xfrm>
          <a:prstGeom prst="rect">
            <a:avLst/>
          </a:prstGeom>
          <a:noFill/>
        </p:spPr>
        <p:txBody>
          <a:bodyPr wrap="square" lIns="91440" tIns="45720" rIns="91440" bIns="45720" anchor="t">
            <a:spAutoFit/>
          </a:bodyPr>
          <a:lstStyle/>
          <a:p>
            <a:r>
              <a:rPr lang="en-US" sz="1600" i="1"/>
              <a:t>Passes raw, unvalidated input data directly to the JSON parser, making the parsing logic the primary fuzzing target.</a:t>
            </a:r>
          </a:p>
        </p:txBody>
      </p:sp>
      <p:sp>
        <p:nvSpPr>
          <p:cNvPr id="19" name="TextBox 18">
            <a:extLst>
              <a:ext uri="{FF2B5EF4-FFF2-40B4-BE49-F238E27FC236}">
                <a16:creationId xmlns:a16="http://schemas.microsoft.com/office/drawing/2014/main" id="{4BDB7ED4-C223-0E1A-AD47-B70906D5FFE9}"/>
              </a:ext>
            </a:extLst>
          </p:cNvPr>
          <p:cNvSpPr txBox="1"/>
          <p:nvPr/>
        </p:nvSpPr>
        <p:spPr>
          <a:xfrm>
            <a:off x="1423764" y="5297441"/>
            <a:ext cx="8929513" cy="584775"/>
          </a:xfrm>
          <a:prstGeom prst="rect">
            <a:avLst/>
          </a:prstGeom>
          <a:noFill/>
        </p:spPr>
        <p:txBody>
          <a:bodyPr wrap="square" lIns="91440" tIns="45720" rIns="91440" bIns="45720" anchor="t">
            <a:spAutoFit/>
          </a:bodyPr>
          <a:lstStyle/>
          <a:p>
            <a:r>
              <a:rPr lang="en-US" sz="1600" i="1"/>
              <a:t>Recursively traverses the parsed JSON structure to maximize code coverage and expose hidden memory safety issues during runtime</a:t>
            </a:r>
          </a:p>
        </p:txBody>
      </p:sp>
      <p:sp>
        <p:nvSpPr>
          <p:cNvPr id="3" name="TextBox 2">
            <a:extLst>
              <a:ext uri="{FF2B5EF4-FFF2-40B4-BE49-F238E27FC236}">
                <a16:creationId xmlns:a16="http://schemas.microsoft.com/office/drawing/2014/main" id="{6A1DE006-A851-1B30-A7F5-2EBC8931CA50}"/>
              </a:ext>
            </a:extLst>
          </p:cNvPr>
          <p:cNvSpPr txBox="1"/>
          <p:nvPr/>
        </p:nvSpPr>
        <p:spPr>
          <a:xfrm>
            <a:off x="251614" y="967293"/>
            <a:ext cx="4038088" cy="369332"/>
          </a:xfrm>
          <a:prstGeom prst="rect">
            <a:avLst/>
          </a:prstGeom>
          <a:noFill/>
        </p:spPr>
        <p:txBody>
          <a:bodyPr wrap="square" rtlCol="0">
            <a:spAutoFit/>
          </a:bodyPr>
          <a:lstStyle/>
          <a:p>
            <a:r>
              <a:rPr lang="en-US"/>
              <a:t>Important functions to look at:</a:t>
            </a:r>
          </a:p>
        </p:txBody>
      </p:sp>
      <p:pic>
        <p:nvPicPr>
          <p:cNvPr id="7" name="Picture 6">
            <a:extLst>
              <a:ext uri="{FF2B5EF4-FFF2-40B4-BE49-F238E27FC236}">
                <a16:creationId xmlns:a16="http://schemas.microsoft.com/office/drawing/2014/main" id="{867D9A24-D75A-61E4-ACD7-3CBBED5C15A1}"/>
              </a:ext>
            </a:extLst>
          </p:cNvPr>
          <p:cNvPicPr>
            <a:picLocks noChangeAspect="1"/>
          </p:cNvPicPr>
          <p:nvPr/>
        </p:nvPicPr>
        <p:blipFill>
          <a:blip r:embed="rId3"/>
          <a:stretch>
            <a:fillRect/>
          </a:stretch>
        </p:blipFill>
        <p:spPr>
          <a:xfrm>
            <a:off x="1255632" y="1437296"/>
            <a:ext cx="9040281" cy="63835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2807D076-8CE9-E3DC-4D21-891F72359B8B}"/>
              </a:ext>
            </a:extLst>
          </p:cNvPr>
          <p:cNvPicPr>
            <a:picLocks noChangeAspect="1"/>
          </p:cNvPicPr>
          <p:nvPr/>
        </p:nvPicPr>
        <p:blipFill>
          <a:blip r:embed="rId4"/>
          <a:stretch>
            <a:fillRect/>
          </a:stretch>
        </p:blipFill>
        <p:spPr>
          <a:xfrm>
            <a:off x="1255632" y="2962210"/>
            <a:ext cx="9097645" cy="93358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5" name="TextBox 4">
            <a:extLst>
              <a:ext uri="{FF2B5EF4-FFF2-40B4-BE49-F238E27FC236}">
                <a16:creationId xmlns:a16="http://schemas.microsoft.com/office/drawing/2014/main" id="{0BBFDF80-8F81-9B66-1763-E240F5FAC53C}"/>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pic>
        <p:nvPicPr>
          <p:cNvPr id="9" name="Picture 8">
            <a:extLst>
              <a:ext uri="{FF2B5EF4-FFF2-40B4-BE49-F238E27FC236}">
                <a16:creationId xmlns:a16="http://schemas.microsoft.com/office/drawing/2014/main" id="{4554C0C3-5A32-A547-EC9C-C9BC0A35D3E2}"/>
              </a:ext>
            </a:extLst>
          </p:cNvPr>
          <p:cNvPicPr>
            <a:picLocks noChangeAspect="1"/>
          </p:cNvPicPr>
          <p:nvPr/>
        </p:nvPicPr>
        <p:blipFill>
          <a:blip r:embed="rId5"/>
          <a:srcRect t="1" r="12385" b="4369"/>
          <a:stretch>
            <a:fillRect/>
          </a:stretch>
        </p:blipFill>
        <p:spPr>
          <a:xfrm>
            <a:off x="1255632" y="4722143"/>
            <a:ext cx="9097645" cy="2733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3083360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66AC2-CE18-1E11-44F6-D26C7095947B}"/>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65B81799-D422-E0A9-614B-4AB51BE9C8A5}"/>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5" name="TextBox 4">
            <a:extLst>
              <a:ext uri="{FF2B5EF4-FFF2-40B4-BE49-F238E27FC236}">
                <a16:creationId xmlns:a16="http://schemas.microsoft.com/office/drawing/2014/main" id="{DD8A11B1-63DD-7A54-7A7A-5FE8DA4EA5AF}"/>
              </a:ext>
            </a:extLst>
          </p:cNvPr>
          <p:cNvSpPr txBox="1"/>
          <p:nvPr/>
        </p:nvSpPr>
        <p:spPr>
          <a:xfrm>
            <a:off x="164523" y="1015451"/>
            <a:ext cx="12030652" cy="4621201"/>
          </a:xfrm>
          <a:prstGeom prst="rect">
            <a:avLst/>
          </a:prstGeom>
          <a:noFill/>
        </p:spPr>
        <p:txBody>
          <a:bodyPr wrap="square" lIns="91440" tIns="45720" rIns="91440" bIns="45720" anchor="t">
            <a:spAutoFit/>
          </a:bodyPr>
          <a:lstStyle/>
          <a:p>
            <a:pPr>
              <a:buNone/>
            </a:pPr>
            <a:r>
              <a:rPr lang="en-US" sz="2000">
                <a:cs typeface="Arial"/>
              </a:rPr>
              <a:t>AFL++ Harness Optimization (</a:t>
            </a:r>
            <a:r>
              <a:rPr lang="en-US" sz="2000" err="1">
                <a:highlight>
                  <a:srgbClr val="C0C0C0"/>
                </a:highlight>
                <a:cs typeface="Arial"/>
              </a:rPr>
              <a:t>main_afl.c</a:t>
            </a:r>
            <a:r>
              <a:rPr lang="en-US" sz="2000">
                <a:cs typeface="Arial"/>
              </a:rPr>
              <a:t>)</a:t>
            </a:r>
          </a:p>
          <a:p>
            <a:pPr>
              <a:buNone/>
            </a:pPr>
            <a:endParaRPr lang="en-US" sz="2000">
              <a:cs typeface="Arial"/>
            </a:endParaRPr>
          </a:p>
          <a:p>
            <a:pPr>
              <a:buNone/>
            </a:pPr>
            <a:endParaRPr lang="en-US"/>
          </a:p>
          <a:p>
            <a:pPr marL="742950" lvl="1" indent="-285750">
              <a:lnSpc>
                <a:spcPct val="150000"/>
              </a:lnSpc>
              <a:buFont typeface="Arial"/>
              <a:buChar char="•"/>
            </a:pPr>
            <a:r>
              <a:rPr lang="en-US" sz="2000" b="1">
                <a:cs typeface="Arial"/>
              </a:rPr>
              <a:t>Persistent Mode</a:t>
            </a:r>
            <a:r>
              <a:rPr lang="en-US" sz="2000">
                <a:cs typeface="Arial"/>
              </a:rPr>
              <a:t> (</a:t>
            </a:r>
            <a:r>
              <a:rPr lang="en-US" sz="2000" b="1">
                <a:highlight>
                  <a:srgbClr val="C0C0C0"/>
                </a:highlight>
                <a:latin typeface="Arial"/>
                <a:cs typeface="Arial"/>
              </a:rPr>
              <a:t>__AFL_LOOP</a:t>
            </a:r>
            <a:r>
              <a:rPr lang="en-US" sz="2000">
                <a:cs typeface="Arial"/>
              </a:rPr>
              <a:t>)</a:t>
            </a:r>
            <a:br>
              <a:rPr lang="en-US" sz="2000">
                <a:cs typeface="Arial"/>
              </a:rPr>
            </a:br>
            <a:r>
              <a:rPr lang="en-US" sz="2000">
                <a:cs typeface="Arial"/>
              </a:rPr>
              <a:t>	Run 10,000 test cases in a single process → eliminates repeated </a:t>
            </a:r>
            <a:r>
              <a:rPr lang="en-US" sz="2000">
                <a:latin typeface="Arial"/>
                <a:cs typeface="Arial"/>
              </a:rPr>
              <a:t>fork()</a:t>
            </a:r>
            <a:r>
              <a:rPr lang="en-US" sz="2000">
                <a:cs typeface="Arial"/>
              </a:rPr>
              <a:t> overhead</a:t>
            </a:r>
          </a:p>
          <a:p>
            <a:pPr marL="742950" lvl="1" indent="-285750">
              <a:lnSpc>
                <a:spcPct val="150000"/>
              </a:lnSpc>
              <a:buFont typeface="Arial"/>
              <a:buChar char="•"/>
            </a:pPr>
            <a:r>
              <a:rPr lang="en-US" sz="2000" b="1">
                <a:cs typeface="Arial"/>
              </a:rPr>
              <a:t>Deferred </a:t>
            </a:r>
            <a:r>
              <a:rPr lang="en-US" sz="2000" b="1" err="1">
                <a:cs typeface="Arial"/>
              </a:rPr>
              <a:t>Forkserver</a:t>
            </a:r>
            <a:r>
              <a:rPr lang="en-US" sz="2000" b="1">
                <a:cs typeface="Arial"/>
              </a:rPr>
              <a:t> </a:t>
            </a:r>
            <a:r>
              <a:rPr lang="en-US" sz="2000">
                <a:cs typeface="Arial"/>
              </a:rPr>
              <a:t>(</a:t>
            </a:r>
            <a:r>
              <a:rPr lang="en-US" sz="2000" b="1">
                <a:highlight>
                  <a:srgbClr val="C0C0C0"/>
                </a:highlight>
                <a:latin typeface="Arial"/>
                <a:cs typeface="Arial"/>
              </a:rPr>
              <a:t>__AFL_INIT</a:t>
            </a:r>
            <a:r>
              <a:rPr lang="en-US" sz="2000">
                <a:cs typeface="Arial"/>
              </a:rPr>
              <a:t>)</a:t>
            </a:r>
            <a:br>
              <a:rPr lang="en-US" sz="2000">
                <a:cs typeface="Arial"/>
              </a:rPr>
            </a:br>
            <a:r>
              <a:rPr lang="en-US" sz="2000">
                <a:cs typeface="Arial"/>
              </a:rPr>
              <a:t>	Delay </a:t>
            </a:r>
            <a:r>
              <a:rPr lang="en-US" sz="2000" err="1">
                <a:cs typeface="Arial"/>
              </a:rPr>
              <a:t>forkserver</a:t>
            </a:r>
            <a:r>
              <a:rPr lang="en-US" sz="2000">
                <a:cs typeface="Arial"/>
              </a:rPr>
              <a:t> start → skip heavy one-time initialization code</a:t>
            </a:r>
          </a:p>
          <a:p>
            <a:pPr marL="742950" lvl="1" indent="-285750">
              <a:lnSpc>
                <a:spcPct val="150000"/>
              </a:lnSpc>
              <a:buFont typeface="Arial"/>
              <a:buChar char="•"/>
            </a:pPr>
            <a:r>
              <a:rPr lang="en-US" sz="2000" b="1">
                <a:cs typeface="Arial"/>
              </a:rPr>
              <a:t>Shared Memory</a:t>
            </a:r>
            <a:r>
              <a:rPr lang="en-US" sz="2000">
                <a:cs typeface="Arial"/>
              </a:rPr>
              <a:t> Fuzzing (</a:t>
            </a:r>
            <a:r>
              <a:rPr lang="en-US" sz="2000" b="1">
                <a:highlight>
                  <a:srgbClr val="C0C0C0"/>
                </a:highlight>
                <a:latin typeface="Arial"/>
                <a:cs typeface="Arial"/>
              </a:rPr>
              <a:t>__AFL_FUZZ_TESTCASE_BUF</a:t>
            </a:r>
            <a:r>
              <a:rPr lang="en-US" sz="2000">
                <a:cs typeface="Arial"/>
              </a:rPr>
              <a:t>)</a:t>
            </a:r>
            <a:br>
              <a:rPr lang="en-US" sz="2000">
                <a:cs typeface="Arial"/>
              </a:rPr>
            </a:br>
            <a:r>
              <a:rPr lang="en-US" sz="2000">
                <a:cs typeface="Arial"/>
              </a:rPr>
              <a:t>	Feed input via shared memory instead of file/stdin I/O → significantly faster execution</a:t>
            </a:r>
          </a:p>
          <a:p>
            <a:pPr marL="742950" lvl="1" indent="-285750">
              <a:lnSpc>
                <a:spcPct val="150000"/>
              </a:lnSpc>
              <a:buFont typeface="Arial"/>
              <a:buChar char="•"/>
            </a:pPr>
            <a:r>
              <a:rPr lang="en-US" sz="2000" b="1">
                <a:cs typeface="Arial"/>
              </a:rPr>
              <a:t>Static Input Buffer</a:t>
            </a:r>
            <a:br>
              <a:rPr lang="en-US" sz="2000" b="1">
                <a:cs typeface="Arial"/>
              </a:rPr>
            </a:br>
            <a:r>
              <a:rPr lang="en-US" sz="2000">
                <a:cs typeface="Arial"/>
              </a:rPr>
              <a:t>	Reuse a fixed-size buffer across iterations → avoid repeated </a:t>
            </a:r>
            <a:r>
              <a:rPr lang="en-US" sz="2000">
                <a:latin typeface="Arial"/>
                <a:cs typeface="Arial"/>
              </a:rPr>
              <a:t>malloc/free</a:t>
            </a:r>
          </a:p>
        </p:txBody>
      </p:sp>
      <p:sp>
        <p:nvSpPr>
          <p:cNvPr id="3" name="TextBox 2">
            <a:extLst>
              <a:ext uri="{FF2B5EF4-FFF2-40B4-BE49-F238E27FC236}">
                <a16:creationId xmlns:a16="http://schemas.microsoft.com/office/drawing/2014/main" id="{9FE54114-9E4A-F529-E181-0A642CA20CDE}"/>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Tree>
    <p:extLst>
      <p:ext uri="{BB962C8B-B14F-4D97-AF65-F5344CB8AC3E}">
        <p14:creationId xmlns:p14="http://schemas.microsoft.com/office/powerpoint/2010/main" val="1981423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7DC68-7471-766D-92CD-1ADEE27DD308}"/>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489EA1BB-E50B-65AA-3FFB-785F13F694D6}"/>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9EA06E32-3B5C-9A27-87C6-3054EAAD7B87}"/>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2" name="TextBox 1">
            <a:extLst>
              <a:ext uri="{FF2B5EF4-FFF2-40B4-BE49-F238E27FC236}">
                <a16:creationId xmlns:a16="http://schemas.microsoft.com/office/drawing/2014/main" id="{82EB98E5-A9FD-25D0-A3C4-262C3F8371B7}"/>
              </a:ext>
            </a:extLst>
          </p:cNvPr>
          <p:cNvSpPr txBox="1"/>
          <p:nvPr/>
        </p:nvSpPr>
        <p:spPr>
          <a:xfrm>
            <a:off x="242113" y="960899"/>
            <a:ext cx="10093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Compile command:</a:t>
            </a:r>
          </a:p>
        </p:txBody>
      </p:sp>
      <p:pic>
        <p:nvPicPr>
          <p:cNvPr id="3" name="Picture 2" descr="A black text on a white background&#10;&#10;AI-generated content may be incorrect.">
            <a:extLst>
              <a:ext uri="{FF2B5EF4-FFF2-40B4-BE49-F238E27FC236}">
                <a16:creationId xmlns:a16="http://schemas.microsoft.com/office/drawing/2014/main" id="{A0B5939E-2965-C5DE-F6C7-3D6CFBF90467}"/>
              </a:ext>
            </a:extLst>
          </p:cNvPr>
          <p:cNvPicPr>
            <a:picLocks noChangeAspect="1"/>
          </p:cNvPicPr>
          <p:nvPr/>
        </p:nvPicPr>
        <p:blipFill>
          <a:blip r:embed="rId3"/>
          <a:srcRect b="48528"/>
          <a:stretch>
            <a:fillRect/>
          </a:stretch>
        </p:blipFill>
        <p:spPr>
          <a:xfrm>
            <a:off x="377759" y="1640352"/>
            <a:ext cx="11068050" cy="774629"/>
          </a:xfrm>
          <a:prstGeom prst="rect">
            <a:avLst/>
          </a:prstGeom>
          <a:ln>
            <a:noFill/>
          </a:ln>
          <a:effectLst>
            <a:outerShdw blurRad="292100" dist="139700" dir="2700000" algn="tl" rotWithShape="0">
              <a:srgbClr val="333333">
                <a:alpha val="65000"/>
              </a:srgbClr>
            </a:outerShdw>
          </a:effectLst>
        </p:spPr>
      </p:pic>
      <p:pic>
        <p:nvPicPr>
          <p:cNvPr id="5" name="Picture 4" descr="A black text on a white background&#10;&#10;AI-generated content may be incorrect.">
            <a:extLst>
              <a:ext uri="{FF2B5EF4-FFF2-40B4-BE49-F238E27FC236}">
                <a16:creationId xmlns:a16="http://schemas.microsoft.com/office/drawing/2014/main" id="{BCD6DCA6-29AB-7573-02F7-02F475E8B373}"/>
              </a:ext>
            </a:extLst>
          </p:cNvPr>
          <p:cNvPicPr>
            <a:picLocks noChangeAspect="1"/>
          </p:cNvPicPr>
          <p:nvPr/>
        </p:nvPicPr>
        <p:blipFill>
          <a:blip r:embed="rId3"/>
          <a:srcRect t="54850"/>
          <a:stretch>
            <a:fillRect/>
          </a:stretch>
        </p:blipFill>
        <p:spPr>
          <a:xfrm>
            <a:off x="377759" y="4077091"/>
            <a:ext cx="11068050" cy="679483"/>
          </a:xfrm>
          <a:prstGeom prst="rect">
            <a:avLst/>
          </a:prstGeom>
          <a:ln>
            <a:noFill/>
          </a:ln>
          <a:effectLst>
            <a:outerShdw blurRad="292100" dist="139700" dir="2700000" algn="tl" rotWithShape="0">
              <a:srgbClr val="333333">
                <a:alpha val="65000"/>
              </a:srgbClr>
            </a:outerShdw>
          </a:effectLst>
        </p:spPr>
      </p:pic>
      <p:sp>
        <p:nvSpPr>
          <p:cNvPr id="15" name="Rectangle 7">
            <a:extLst>
              <a:ext uri="{FF2B5EF4-FFF2-40B4-BE49-F238E27FC236}">
                <a16:creationId xmlns:a16="http://schemas.microsoft.com/office/drawing/2014/main" id="{51D777DC-46C4-3AC3-F08E-364D3E8D0CC8}"/>
              </a:ext>
            </a:extLst>
          </p:cNvPr>
          <p:cNvSpPr>
            <a:spLocks noChangeArrowheads="1"/>
          </p:cNvSpPr>
          <p:nvPr/>
        </p:nvSpPr>
        <p:spPr bwMode="auto">
          <a:xfrm>
            <a:off x="380005" y="2615826"/>
            <a:ext cx="1148885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a:buChar char="•"/>
            </a:pPr>
            <a:r>
              <a:rPr kumimoji="0" lang="en-US" altLang="en-US" sz="2000" b="1" i="0" u="none" strike="noStrike" cap="none" normalizeH="0" baseline="0" err="1">
                <a:ln>
                  <a:noFill/>
                </a:ln>
                <a:effectLst/>
                <a:latin typeface="Arial"/>
              </a:rPr>
              <a:t>ASan</a:t>
            </a:r>
            <a:r>
              <a:rPr kumimoji="0" lang="en-US" altLang="en-US" sz="2000" b="1" i="0" u="none" strike="noStrike" cap="none" normalizeH="0" baseline="0">
                <a:ln>
                  <a:noFill/>
                </a:ln>
                <a:effectLst/>
                <a:latin typeface="Arial"/>
              </a:rPr>
              <a:t> / </a:t>
            </a:r>
            <a:r>
              <a:rPr kumimoji="0" lang="en-US" altLang="en-US" sz="2000" b="1" i="0" u="none" strike="noStrike" cap="none" normalizeH="0" baseline="0" err="1">
                <a:ln>
                  <a:noFill/>
                </a:ln>
                <a:effectLst/>
                <a:latin typeface="Arial"/>
              </a:rPr>
              <a:t>UBSan</a:t>
            </a:r>
            <a:r>
              <a:rPr kumimoji="0" lang="en-US" altLang="en-US" sz="2000" b="1" i="0" u="none" strike="noStrike" cap="none" normalizeH="0" baseline="0">
                <a:ln>
                  <a:noFill/>
                </a:ln>
                <a:effectLst/>
                <a:latin typeface="Arial"/>
              </a:rPr>
              <a:t> enabled</a:t>
            </a:r>
            <a:r>
              <a:rPr kumimoji="0" lang="en-US" altLang="en-US" sz="2000" b="0" i="0" u="none" strike="noStrike" cap="none" normalizeH="0" baseline="0">
                <a:ln>
                  <a:noFill/>
                </a:ln>
                <a:effectLst/>
                <a:latin typeface="Arial"/>
              </a:rPr>
              <a:t> → detect memory errors &amp; undefined behavior</a:t>
            </a:r>
            <a:endParaRPr lang="en-US" sz="2000">
              <a:latin typeface="Arial"/>
            </a:endParaRPr>
          </a:p>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2000" b="1" i="0" u="none" strike="noStrike" cap="none" normalizeH="0" baseline="0" err="1">
                <a:ln>
                  <a:noFill/>
                </a:ln>
                <a:effectLst/>
                <a:latin typeface="Arial"/>
              </a:rPr>
              <a:t>CmpLog</a:t>
            </a:r>
            <a:r>
              <a:rPr kumimoji="0" lang="en-US" altLang="en-US" sz="2000" b="1" i="0" u="none" strike="noStrike" cap="none" normalizeH="0" baseline="0">
                <a:ln>
                  <a:noFill/>
                </a:ln>
                <a:effectLst/>
                <a:latin typeface="Arial"/>
              </a:rPr>
              <a:t> disabled</a:t>
            </a:r>
            <a:r>
              <a:rPr kumimoji="0" lang="en-US" altLang="en-US" sz="2000" b="0" i="0" u="none" strike="noStrike" cap="none" normalizeH="0" baseline="0">
                <a:ln>
                  <a:noFill/>
                </a:ln>
                <a:effectLst/>
                <a:latin typeface="Arial"/>
              </a:rPr>
              <a:t> → reduce overhead during bug-finding phase</a:t>
            </a:r>
            <a:endParaRPr lang="en-US" altLang="en-US" sz="2000" b="0" i="0" u="none" strike="noStrike" cap="none" normalizeH="0" baseline="0">
              <a:ln>
                <a:noFill/>
              </a:ln>
              <a:effectLst/>
              <a:latin typeface="Arial"/>
            </a:endParaRPr>
          </a:p>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2000" b="1" i="0" u="none" strike="noStrike" cap="none" normalizeH="0" baseline="0">
                <a:ln>
                  <a:noFill/>
                </a:ln>
                <a:effectLst/>
                <a:latin typeface="Arial"/>
              </a:rPr>
              <a:t>Used for: </a:t>
            </a:r>
            <a:r>
              <a:rPr kumimoji="0" lang="en-US" altLang="en-US" sz="2000" b="0" i="0" u="none" strike="noStrike" cap="none" normalizeH="0" baseline="0">
                <a:ln>
                  <a:noFill/>
                </a:ln>
                <a:effectLst/>
                <a:latin typeface="Arial"/>
              </a:rPr>
              <a:t>Precise crash diagnosis and Root-cause analysis (heap overflow, UAF, invalid free, etc.)</a:t>
            </a:r>
            <a:endParaRPr lang="en-US" altLang="en-US" sz="2000" b="0" i="0" u="none" strike="noStrike" cap="none" normalizeH="0" baseline="0">
              <a:ln>
                <a:noFill/>
              </a:ln>
              <a:effectLst/>
              <a:latin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0" i="0" u="none" strike="noStrike" cap="none" normalizeH="0" baseline="0">
              <a:ln>
                <a:noFill/>
              </a:ln>
              <a:effectLst/>
              <a:latin typeface="Arial" panose="020B0604020202020204" pitchFamily="34" charset="0"/>
            </a:endParaRPr>
          </a:p>
        </p:txBody>
      </p:sp>
      <p:sp>
        <p:nvSpPr>
          <p:cNvPr id="16" name="Rectangle 8">
            <a:extLst>
              <a:ext uri="{FF2B5EF4-FFF2-40B4-BE49-F238E27FC236}">
                <a16:creationId xmlns:a16="http://schemas.microsoft.com/office/drawing/2014/main" id="{00142F2E-4D1D-48C1-2013-50349B202C29}"/>
              </a:ext>
            </a:extLst>
          </p:cNvPr>
          <p:cNvSpPr>
            <a:spLocks noChangeArrowheads="1"/>
          </p:cNvSpPr>
          <p:nvPr/>
        </p:nvSpPr>
        <p:spPr bwMode="auto">
          <a:xfrm>
            <a:off x="380005" y="4880413"/>
            <a:ext cx="110680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a:buChar char="•"/>
            </a:pPr>
            <a:r>
              <a:rPr kumimoji="0" lang="en-US" altLang="en-US" sz="2000" b="1" i="0" u="none" strike="noStrike" cap="none" normalizeH="0" baseline="0" err="1">
                <a:ln>
                  <a:noFill/>
                </a:ln>
                <a:effectLst/>
                <a:latin typeface="Arial"/>
              </a:rPr>
              <a:t>CmpLog</a:t>
            </a:r>
            <a:r>
              <a:rPr kumimoji="0" lang="en-US" altLang="en-US" sz="2000" b="1" i="0" u="none" strike="noStrike" cap="none" normalizeH="0" baseline="0">
                <a:ln>
                  <a:noFill/>
                </a:ln>
                <a:effectLst/>
                <a:latin typeface="Arial"/>
              </a:rPr>
              <a:t> enabled</a:t>
            </a:r>
            <a:r>
              <a:rPr kumimoji="0" lang="en-US" altLang="en-US" sz="2000" b="0" i="0" u="none" strike="noStrike" cap="none" normalizeH="0" baseline="0">
                <a:ln>
                  <a:noFill/>
                </a:ln>
                <a:effectLst/>
                <a:latin typeface="Arial"/>
              </a:rPr>
              <a:t> → improves exploration of complex comparisons</a:t>
            </a:r>
            <a:endParaRPr lang="en-US" sz="2000">
              <a:latin typeface="Arial"/>
            </a:endParaRPr>
          </a:p>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2000" b="1" i="0" u="none" strike="noStrike" cap="none" normalizeH="0" baseline="0">
                <a:ln>
                  <a:noFill/>
                </a:ln>
                <a:effectLst/>
                <a:latin typeface="Arial"/>
              </a:rPr>
              <a:t>Used for:</a:t>
            </a:r>
            <a:r>
              <a:rPr lang="en-US" altLang="en-US" sz="2000">
                <a:latin typeface="Arial"/>
              </a:rPr>
              <a:t> </a:t>
            </a:r>
            <a:r>
              <a:rPr kumimoji="0" lang="en-US" altLang="en-US" sz="2000" b="0" i="0" u="none" strike="noStrike" cap="none" normalizeH="0" baseline="0">
                <a:ln>
                  <a:noFill/>
                </a:ln>
                <a:effectLst/>
                <a:latin typeface="Arial"/>
              </a:rPr>
              <a:t>Deep path exploration and Structured inputs (JSON parsing, string comparisons)</a:t>
            </a:r>
            <a:endParaRPr lang="en-US" altLang="en-US" sz="2000" b="0" i="0" u="none" strike="noStrike" cap="none" normalizeH="0" baseline="0">
              <a:ln>
                <a:noFill/>
              </a:ln>
              <a:effectLst/>
              <a:latin typeface="Arial"/>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322126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6768F-4636-F871-8C85-D4FEB9347BC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1DC5F68-6714-04C8-1BAC-2EFD956D8491}"/>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Freeform 1">
            <a:extLst>
              <a:ext uri="{FF2B5EF4-FFF2-40B4-BE49-F238E27FC236}">
                <a16:creationId xmlns:a16="http://schemas.microsoft.com/office/drawing/2014/main" id="{B7A07CC0-963E-A34A-3DE1-C63E8B1B81F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0ACAC24A-362D-743E-8C28-7CF966DE865C}"/>
              </a:ext>
            </a:extLst>
          </p:cNvPr>
          <p:cNvSpPr txBox="1"/>
          <p:nvPr/>
        </p:nvSpPr>
        <p:spPr>
          <a:xfrm>
            <a:off x="96284" y="1037357"/>
            <a:ext cx="11471931" cy="5179652"/>
          </a:xfrm>
          <a:prstGeom prst="rect">
            <a:avLst/>
          </a:prstGeom>
          <a:noFill/>
          <a:ln>
            <a:noFill/>
          </a:ln>
        </p:spPr>
        <p:txBody>
          <a:bodyPr lIns="90000" tIns="45000" rIns="90000" bIns="45000" anchor="t">
            <a:noAutofit/>
          </a:bodyPr>
          <a:lstStyle/>
          <a:p>
            <a:r>
              <a:rPr lang="en-US" b="1"/>
              <a:t>Input Strategy</a:t>
            </a:r>
            <a:endParaRPr lang="en-US"/>
          </a:p>
          <a:p>
            <a:endParaRPr lang="en-US" b="1"/>
          </a:p>
          <a:p>
            <a:pPr marL="285750" indent="-285750">
              <a:buFont typeface="Arial" panose="020B0604020202020204" pitchFamily="34" charset="0"/>
              <a:buChar char="•"/>
            </a:pPr>
            <a:r>
              <a:rPr lang="en-US" b="1"/>
              <a:t>Target characteristics:</a:t>
            </a:r>
            <a:br>
              <a:rPr lang="en-US"/>
            </a:br>
            <a:r>
              <a:rPr lang="en-US"/>
              <a:t> The program parses </a:t>
            </a:r>
            <a:r>
              <a:rPr lang="en-US" b="1"/>
              <a:t>JSON input</a:t>
            </a:r>
            <a:r>
              <a:rPr lang="en-US"/>
              <a:t> with strict structure and many conditional branches, so fuzzing focuses on guiding AFL++ toward </a:t>
            </a:r>
            <a:r>
              <a:rPr lang="en-US" b="1"/>
              <a:t>valid input structures</a:t>
            </a:r>
            <a:r>
              <a:rPr lang="en-US"/>
              <a:t>.</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Step 1 – Non-structured inputs:</a:t>
            </a:r>
            <a:br>
              <a:rPr lang="en-US"/>
            </a:br>
            <a:r>
              <a:rPr lang="en-US"/>
              <a:t> Random inputs (empty files, whitespace, random bytes) are used to detect </a:t>
            </a:r>
            <a:r>
              <a:rPr lang="en-US" b="1"/>
              <a:t>shallow bugs</a:t>
            </a:r>
            <a:r>
              <a:rPr lang="en-US"/>
              <a:t> and ensure    robustness against malformed data.</a:t>
            </a:r>
            <a:br>
              <a:rPr lang="en-US"/>
            </a:br>
            <a:r>
              <a:rPr lang="en-US"/>
              <a:t>→ </a:t>
            </a:r>
            <a:r>
              <a:rPr lang="en-US" b="1"/>
              <a:t>Fast schedule</a:t>
            </a:r>
            <a:r>
              <a:rPr lang="en-US"/>
              <a:t> is applied since these inputs cannot pass deep parsing logic.</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Step 2 – Structured JSON edge cases:</a:t>
            </a:r>
            <a:br>
              <a:rPr lang="en-US"/>
            </a:br>
            <a:r>
              <a:rPr lang="en-US"/>
              <a:t> Fuzzing shifts to </a:t>
            </a:r>
            <a:r>
              <a:rPr lang="en-US" b="1"/>
              <a:t>valid but diverse JSON structures</a:t>
            </a:r>
            <a:r>
              <a:rPr lang="en-US"/>
              <a:t>, where </a:t>
            </a:r>
            <a:r>
              <a:rPr lang="en-US" b="1"/>
              <a:t>structural variety</a:t>
            </a:r>
            <a:r>
              <a:rPr lang="en-US"/>
              <a:t> matters more than input volume. Therefore, we focus on edge test cases.</a:t>
            </a:r>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b="1"/>
              <a:t>Step 3 – Prebuilt valid JSON seeds:</a:t>
            </a:r>
            <a:br>
              <a:rPr lang="en-US"/>
            </a:br>
            <a:r>
              <a:rPr lang="en-US"/>
              <a:t> </a:t>
            </a:r>
            <a:r>
              <a:rPr lang="en-US" b="1" err="1"/>
              <a:t>JSONTestSuite</a:t>
            </a:r>
            <a:r>
              <a:rPr lang="en-US"/>
              <a:t> and </a:t>
            </a:r>
            <a:r>
              <a:rPr lang="en-US" b="1"/>
              <a:t>JSON Schema Test Suite</a:t>
            </a:r>
            <a:r>
              <a:rPr lang="en-US"/>
              <a:t> provide high-quality valid inputs, allowing AFL++ to </a:t>
            </a:r>
            <a:r>
              <a:rPr lang="en-US" b="1"/>
              <a:t>bypass early parsing checks</a:t>
            </a:r>
            <a:r>
              <a:rPr lang="en-US"/>
              <a:t> and reach </a:t>
            </a:r>
            <a:r>
              <a:rPr lang="en-US" b="1"/>
              <a:t>deeper parsing and processing logic</a:t>
            </a:r>
            <a:r>
              <a:rPr lang="en-US"/>
              <a:t>, improving coverage and deep bug discovery.</a:t>
            </a:r>
          </a:p>
        </p:txBody>
      </p:sp>
      <p:sp>
        <p:nvSpPr>
          <p:cNvPr id="4" name="TextBox 3">
            <a:extLst>
              <a:ext uri="{FF2B5EF4-FFF2-40B4-BE49-F238E27FC236}">
                <a16:creationId xmlns:a16="http://schemas.microsoft.com/office/drawing/2014/main" id="{50EE0FCB-EBB5-7797-8CBD-8B1932307ADF}"/>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Tree>
    <p:extLst>
      <p:ext uri="{BB962C8B-B14F-4D97-AF65-F5344CB8AC3E}">
        <p14:creationId xmlns:p14="http://schemas.microsoft.com/office/powerpoint/2010/main" val="3984826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756C9-FA38-9900-FE08-B0828753718C}"/>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AA74B534-584E-E4BD-622F-0FF14413269A}"/>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735AC11A-E738-0917-A370-B8CAADDFA5FC}"/>
              </a:ext>
            </a:extLst>
          </p:cNvPr>
          <p:cNvSpPr txBox="1"/>
          <p:nvPr/>
        </p:nvSpPr>
        <p:spPr>
          <a:xfrm>
            <a:off x="344896" y="825557"/>
            <a:ext cx="8259841"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1: Non JSON input</a:t>
            </a:r>
          </a:p>
          <a:p>
            <a:endParaRPr lang="en-US" sz="2800" spc="-1">
              <a:solidFill>
                <a:srgbClr val="000000"/>
              </a:solidFill>
              <a:latin typeface="Calibri"/>
            </a:endParaRPr>
          </a:p>
          <a:p>
            <a:r>
              <a:rPr lang="en-US" sz="2400" spc="-1">
                <a:solidFill>
                  <a:srgbClr val="000000"/>
                </a:solidFill>
                <a:latin typeface="Calibri"/>
              </a:rPr>
              <a:t>Testcase: </a:t>
            </a:r>
            <a:r>
              <a:rPr lang="en-US" sz="2400">
                <a:highlight>
                  <a:srgbClr val="C0C0C0"/>
                </a:highlight>
              </a:rPr>
              <a:t>seeds/strategy1_non_structured/</a:t>
            </a:r>
          </a:p>
          <a:p>
            <a:pPr marL="914400" lvl="1" indent="-457200">
              <a:lnSpc>
                <a:spcPct val="150000"/>
              </a:lnSpc>
              <a:buFont typeface="Arial"/>
              <a:buChar char="•"/>
            </a:pPr>
            <a:r>
              <a:rPr lang="en-US" sz="2000">
                <a:solidFill>
                  <a:srgbClr val="000000"/>
                </a:solidFill>
                <a:latin typeface="Arial"/>
              </a:rPr>
              <a:t>Random byte (non printable)</a:t>
            </a:r>
          </a:p>
          <a:p>
            <a:pPr marL="914400" lvl="1" indent="-457200">
              <a:lnSpc>
                <a:spcPct val="150000"/>
              </a:lnSpc>
              <a:buFont typeface="Arial"/>
              <a:buChar char="•"/>
            </a:pPr>
            <a:r>
              <a:rPr lang="en-US" sz="2000">
                <a:solidFill>
                  <a:srgbClr val="000000"/>
                </a:solidFill>
                <a:latin typeface="Arial"/>
              </a:rPr>
              <a:t>{"</a:t>
            </a:r>
            <a:r>
              <a:rPr lang="en-US" sz="2000" err="1">
                <a:solidFill>
                  <a:srgbClr val="000000"/>
                </a:solidFill>
                <a:latin typeface="Arial"/>
              </a:rPr>
              <a:t>key":"unterminated</a:t>
            </a:r>
          </a:p>
          <a:p>
            <a:pPr marL="914400" lvl="1" indent="-457200">
              <a:lnSpc>
                <a:spcPct val="150000"/>
              </a:lnSpc>
              <a:buFont typeface="Arial"/>
              <a:buChar char="•"/>
            </a:pPr>
            <a:r>
              <a:rPr lang="en-US" sz="2000">
                <a:solidFill>
                  <a:srgbClr val="000000"/>
                </a:solidFill>
                <a:latin typeface="Arial"/>
              </a:rPr>
              <a:t>}}}}}}}}}}</a:t>
            </a:r>
          </a:p>
          <a:p>
            <a:pPr marL="914400" lvl="1" indent="-457200">
              <a:lnSpc>
                <a:spcPct val="150000"/>
              </a:lnSpc>
              <a:buFont typeface="Arial"/>
              <a:buChar char="•"/>
            </a:pPr>
            <a:r>
              <a:rPr lang="en-US" sz="2000">
                <a:solidFill>
                  <a:srgbClr val="000000"/>
                </a:solidFill>
                <a:latin typeface="Arial"/>
                <a:cs typeface="Arial"/>
              </a:rPr>
              <a:t>]]]]]]]]]]]</a:t>
            </a:r>
          </a:p>
          <a:p>
            <a:pPr marL="914400" lvl="1" indent="-457200">
              <a:lnSpc>
                <a:spcPct val="150000"/>
              </a:lnSpc>
              <a:buFont typeface="Arial"/>
              <a:buChar char="•"/>
            </a:pPr>
            <a:r>
              <a:rPr lang="en-US" sz="2000"/>
              <a:t>["</a:t>
            </a:r>
            <a:r>
              <a:rPr lang="en-US" sz="2000" err="1"/>
              <a:t>abc</a:t>
            </a:r>
            <a:r>
              <a:rPr lang="en-US" sz="2000"/>
              <a:t>", 123, </a:t>
            </a:r>
          </a:p>
          <a:p>
            <a:pPr marL="914400" lvl="1" indent="-457200">
              <a:lnSpc>
                <a:spcPct val="150000"/>
              </a:lnSpc>
              <a:buFont typeface="Arial"/>
              <a:buChar char="•"/>
            </a:pPr>
            <a:r>
              <a:rPr lang="en-US" sz="2000"/>
              <a:t>{"a": {"b": {"c": 1</a:t>
            </a:r>
          </a:p>
          <a:p>
            <a:pPr marL="914400" lvl="1" indent="-457200">
              <a:lnSpc>
                <a:spcPct val="150000"/>
              </a:lnSpc>
              <a:buFont typeface="Arial"/>
              <a:buChar char="•"/>
            </a:pPr>
            <a:r>
              <a:rPr lang="en-US" sz="2000"/>
              <a:t>["+1", "01", "1.", ".5", "1e", </a:t>
            </a:r>
          </a:p>
          <a:p>
            <a:pPr marL="914400" lvl="1" indent="-457200">
              <a:buFont typeface="Arial"/>
              <a:buChar char="•"/>
            </a:pPr>
            <a:endParaRPr lang="en-US" sz="2800"/>
          </a:p>
          <a:p>
            <a:pPr marL="914400" lvl="1" indent="-457200">
              <a:buFont typeface="Arial"/>
              <a:buChar char="•"/>
            </a:pPr>
            <a:endParaRPr lang="en-US" sz="2800">
              <a:solidFill>
                <a:srgbClr val="000000"/>
              </a:solidFill>
              <a:highlight>
                <a:srgbClr val="C0C0C0"/>
              </a:highlight>
              <a:latin typeface="Arial"/>
              <a:cs typeface="Arial"/>
            </a:endParaRPr>
          </a:p>
          <a:p>
            <a:pPr marL="914400" lvl="1" indent="-457200">
              <a:buFont typeface="Arial"/>
              <a:buChar char="•"/>
            </a:pPr>
            <a:endParaRPr lang="en-US" sz="2800">
              <a:solidFill>
                <a:srgbClr val="000000"/>
              </a:solidFill>
              <a:highlight>
                <a:srgbClr val="C0C0C0"/>
              </a:highlight>
              <a:latin typeface="Arial"/>
              <a:cs typeface="Arial"/>
            </a:endParaRPr>
          </a:p>
          <a:p>
            <a:pPr marL="914400" lvl="1" indent="-457200">
              <a:buFont typeface="Arial"/>
              <a:buChar char="•"/>
            </a:pPr>
            <a:endParaRPr lang="en-US"/>
          </a:p>
          <a:p>
            <a:pPr marL="914400" lvl="1" indent="-457200">
              <a:buFont typeface="Arial"/>
              <a:buChar char="•"/>
            </a:pPr>
            <a:endParaRPr lang="en-US" sz="2800">
              <a:solidFill>
                <a:srgbClr val="000000"/>
              </a:solidFill>
              <a:latin typeface="Arial"/>
            </a:endParaRPr>
          </a:p>
          <a:p>
            <a:pPr lvl="1"/>
            <a:endParaRPr lang="en-US" sz="2800">
              <a:solidFill>
                <a:srgbClr val="000000"/>
              </a:solidFill>
              <a:latin typeface="Arial"/>
            </a:endParaRPr>
          </a:p>
          <a:p>
            <a:pPr marL="914400" lvl="1" indent="-457200">
              <a:buFont typeface="Arial"/>
              <a:buChar char="•"/>
            </a:pPr>
            <a:endParaRPr lang="en-US" sz="2800">
              <a:solidFill>
                <a:srgbClr val="000000"/>
              </a:solidFill>
              <a:latin typeface="Arial"/>
            </a:endParaRPr>
          </a:p>
        </p:txBody>
      </p:sp>
      <p:sp>
        <p:nvSpPr>
          <p:cNvPr id="4" name="TextBox 3">
            <a:extLst>
              <a:ext uri="{FF2B5EF4-FFF2-40B4-BE49-F238E27FC236}">
                <a16:creationId xmlns:a16="http://schemas.microsoft.com/office/drawing/2014/main" id="{9EBBA48A-FFDE-B3C8-EE3B-F8BADB8D2C68}"/>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Tree>
    <p:extLst>
      <p:ext uri="{BB962C8B-B14F-4D97-AF65-F5344CB8AC3E}">
        <p14:creationId xmlns:p14="http://schemas.microsoft.com/office/powerpoint/2010/main" val="4021774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E78F5-2654-1272-381B-BDBB8D45A1C5}"/>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BD165F70-909C-5CAB-017C-4CE0E08102D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1575BCFD-179F-09B4-7CB4-7B126A2046A8}"/>
              </a:ext>
            </a:extLst>
          </p:cNvPr>
          <p:cNvSpPr txBox="1"/>
          <p:nvPr/>
        </p:nvSpPr>
        <p:spPr>
          <a:xfrm>
            <a:off x="344897" y="825557"/>
            <a:ext cx="7522264"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input</a:t>
            </a:r>
          </a:p>
          <a:p>
            <a:endParaRPr lang="en-US" sz="2800" spc="-1">
              <a:solidFill>
                <a:srgbClr val="000000"/>
              </a:solidFill>
              <a:latin typeface="Calibri"/>
            </a:endParaRPr>
          </a:p>
          <a:p>
            <a:r>
              <a:rPr lang="en-US" sz="2400" spc="-1">
                <a:solidFill>
                  <a:srgbClr val="000000"/>
                </a:solidFill>
                <a:latin typeface="Calibri"/>
              </a:rPr>
              <a:t>Testcase: </a:t>
            </a:r>
            <a:r>
              <a:rPr lang="en-US" sz="2400">
                <a:highlight>
                  <a:srgbClr val="C0C0C0"/>
                </a:highlight>
              </a:rPr>
              <a:t>seeds/strategy2_structured/</a:t>
            </a:r>
          </a:p>
          <a:p>
            <a:pPr marL="171450" indent="-171450">
              <a:buFont typeface="Arial"/>
              <a:buChar char="•"/>
            </a:pPr>
            <a:r>
              <a:rPr lang="en-US" sz="1400" b="1"/>
              <a:t>Valid case: </a:t>
            </a:r>
            <a:r>
              <a:rPr lang="en-US" sz="1400"/>
              <a:t>Create a well-formed JSON file so that the program runs normally.</a:t>
            </a:r>
          </a:p>
          <a:p>
            <a:pPr marL="171450" indent="-171450">
              <a:buFont typeface="Arial"/>
              <a:buChar char="•"/>
            </a:pPr>
            <a:r>
              <a:rPr lang="en-US" sz="1400" b="1"/>
              <a:t>Edge cases:</a:t>
            </a:r>
            <a:endParaRPr lang="en-US" sz="1400"/>
          </a:p>
          <a:p>
            <a:pPr marL="628650" lvl="1" indent="-171450">
              <a:buFont typeface="Arial"/>
              <a:buChar char="•"/>
            </a:pPr>
            <a:r>
              <a:rPr lang="en-US" sz="1400"/>
              <a:t>An empty JSON: </a:t>
            </a:r>
            <a:r>
              <a:rPr lang="en-US" sz="2400"/>
              <a:t>{}</a:t>
            </a:r>
          </a:p>
          <a:p>
            <a:pPr marL="628650" lvl="1" indent="-171450">
              <a:buFont typeface="Arial"/>
              <a:buChar char="•"/>
            </a:pPr>
            <a:r>
              <a:rPr lang="en-US" sz="1400"/>
              <a:t>Empty JSON for each object type. According to </a:t>
            </a:r>
            <a:r>
              <a:rPr lang="en-US" sz="2000" err="1">
                <a:highlight>
                  <a:srgbClr val="C0C0C0"/>
                </a:highlight>
              </a:rPr>
              <a:t>fuzzgoat.h</a:t>
            </a:r>
            <a:r>
              <a:rPr lang="en-US" sz="1400"/>
              <a:t>, the possible object types are:</a:t>
            </a:r>
          </a:p>
          <a:p>
            <a:pPr marL="628650" lvl="1" indent="-171450">
              <a:buFont typeface="Arial"/>
              <a:buChar char="•"/>
            </a:pPr>
            <a:endParaRPr lang="en-US" sz="1400"/>
          </a:p>
          <a:p>
            <a:pPr marL="628650" lvl="1" indent="-171450">
              <a:buFont typeface="Arial"/>
              <a:buChar char="•"/>
            </a:pPr>
            <a:endParaRPr lang="en-US" sz="1400"/>
          </a:p>
          <a:p>
            <a:pPr marL="628650" lvl="1" indent="-171450">
              <a:buFont typeface="Arial"/>
              <a:buChar char="•"/>
            </a:pPr>
            <a:endParaRPr lang="en-US" sz="1100"/>
          </a:p>
          <a:p>
            <a:pPr marL="914400" lvl="1" indent="-457200">
              <a:buFont typeface="Arial"/>
              <a:buChar char="•"/>
            </a:pPr>
            <a:endParaRPr lang="en-US" sz="2800"/>
          </a:p>
          <a:p>
            <a:pPr marL="914400" lvl="1" indent="-457200">
              <a:buFont typeface="Arial"/>
              <a:buChar char="•"/>
            </a:pPr>
            <a:endParaRPr lang="en-US" sz="2800">
              <a:solidFill>
                <a:srgbClr val="000000"/>
              </a:solidFill>
              <a:latin typeface="Arial"/>
            </a:endParaRPr>
          </a:p>
        </p:txBody>
      </p:sp>
      <p:sp>
        <p:nvSpPr>
          <p:cNvPr id="4" name="TextBox 3">
            <a:extLst>
              <a:ext uri="{FF2B5EF4-FFF2-40B4-BE49-F238E27FC236}">
                <a16:creationId xmlns:a16="http://schemas.microsoft.com/office/drawing/2014/main" id="{8250F8FB-A14C-A5FA-7381-B06DA2A3CBFB}"/>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pic>
        <p:nvPicPr>
          <p:cNvPr id="2" name="Picture 1" descr="A screenshot of a computer code&#10;&#10;AI-generated content may be incorrect.">
            <a:extLst>
              <a:ext uri="{FF2B5EF4-FFF2-40B4-BE49-F238E27FC236}">
                <a16:creationId xmlns:a16="http://schemas.microsoft.com/office/drawing/2014/main" id="{8932E2BF-0A50-228B-32CE-253E91947A0B}"/>
              </a:ext>
            </a:extLst>
          </p:cNvPr>
          <p:cNvPicPr>
            <a:picLocks noChangeAspect="1"/>
          </p:cNvPicPr>
          <p:nvPr/>
        </p:nvPicPr>
        <p:blipFill>
          <a:blip r:embed="rId3"/>
          <a:stretch>
            <a:fillRect/>
          </a:stretch>
        </p:blipFill>
        <p:spPr>
          <a:xfrm>
            <a:off x="1091094" y="3571502"/>
            <a:ext cx="2225849" cy="1712674"/>
          </a:xfrm>
          <a:prstGeom prst="rect">
            <a:avLst/>
          </a:prstGeom>
        </p:spPr>
      </p:pic>
      <p:sp>
        <p:nvSpPr>
          <p:cNvPr id="5" name="TextBox 4">
            <a:extLst>
              <a:ext uri="{FF2B5EF4-FFF2-40B4-BE49-F238E27FC236}">
                <a16:creationId xmlns:a16="http://schemas.microsoft.com/office/drawing/2014/main" id="{4D456308-1821-757D-1547-23D4F67E60AF}"/>
              </a:ext>
            </a:extLst>
          </p:cNvPr>
          <p:cNvSpPr txBox="1"/>
          <p:nvPr/>
        </p:nvSpPr>
        <p:spPr>
          <a:xfrm>
            <a:off x="1091259" y="5385741"/>
            <a:ext cx="10489258"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a:solidFill>
                  <a:srgbClr val="000000"/>
                </a:solidFill>
                <a:latin typeface="Arial"/>
                <a:ea typeface="Arial"/>
                <a:cs typeface="Arial"/>
              </a:rPr>
              <a:t>Therefore, we will create the corresponding seeds as:​</a:t>
            </a:r>
            <a:r>
              <a:rPr sz="1600">
                <a:latin typeface="Arial"/>
                <a:ea typeface="Arial"/>
                <a:cs typeface="Arial"/>
              </a:rPr>
              <a:t>​</a:t>
            </a:r>
            <a:r>
              <a:rPr lang="en-US" sz="1600">
                <a:solidFill>
                  <a:srgbClr val="000000"/>
                </a:solidFill>
                <a:latin typeface="Arial"/>
                <a:ea typeface="Arial"/>
                <a:cs typeface="Arial"/>
              </a:rPr>
              <a:t> </a:t>
            </a:r>
            <a:r>
              <a:rPr lang="en-US" sz="1600" b="0" i="0" u="none" strike="noStrike">
                <a:solidFill>
                  <a:srgbClr val="000000"/>
                </a:solidFill>
                <a:latin typeface="Arial"/>
                <a:ea typeface="Arial"/>
                <a:cs typeface="Arial"/>
              </a:rPr>
              <a:t>&lt;empty file&gt;, </a:t>
            </a:r>
            <a:r>
              <a:rPr lang="en-US" sz="1600" b="0" i="0" u="none" strike="noStrike">
                <a:solidFill>
                  <a:srgbClr val="000000"/>
                </a:solidFill>
                <a:highlight>
                  <a:srgbClr val="C0C0C0"/>
                </a:highlight>
                <a:latin typeface="Arial"/>
                <a:ea typeface="Arial"/>
                <a:cs typeface="Arial"/>
              </a:rPr>
              <a:t>{}</a:t>
            </a:r>
            <a:r>
              <a:rPr lang="en-US" sz="1600" b="0" i="0" u="none" strike="noStrike">
                <a:solidFill>
                  <a:srgbClr val="000000"/>
                </a:solidFill>
                <a:latin typeface="Arial"/>
                <a:ea typeface="Arial"/>
                <a:cs typeface="Arial"/>
              </a:rPr>
              <a:t>, </a:t>
            </a:r>
            <a:r>
              <a:rPr lang="en-US" sz="1600" b="0" i="0" u="none" strike="noStrike">
                <a:solidFill>
                  <a:srgbClr val="000000"/>
                </a:solidFill>
                <a:highlight>
                  <a:srgbClr val="C0C0C0"/>
                </a:highlight>
                <a:latin typeface="Arial"/>
                <a:ea typeface="Arial"/>
                <a:cs typeface="Arial"/>
              </a:rPr>
              <a:t>[]</a:t>
            </a:r>
            <a:r>
              <a:rPr lang="en-US" sz="1600" b="0" i="0" u="none" strike="noStrike">
                <a:solidFill>
                  <a:srgbClr val="000000"/>
                </a:solidFill>
                <a:latin typeface="Arial"/>
                <a:ea typeface="Arial"/>
                <a:cs typeface="Arial"/>
              </a:rPr>
              <a:t>, </a:t>
            </a:r>
            <a:r>
              <a:rPr lang="en-US" sz="1600" b="0" i="0" u="none" strike="noStrike">
                <a:solidFill>
                  <a:srgbClr val="000000"/>
                </a:solidFill>
                <a:highlight>
                  <a:srgbClr val="C0C0C0"/>
                </a:highlight>
                <a:latin typeface="Arial"/>
                <a:ea typeface="Arial"/>
                <a:cs typeface="Arial"/>
              </a:rPr>
              <a:t>0</a:t>
            </a:r>
            <a:r>
              <a:rPr lang="en-US" sz="1600" b="0" i="0" u="none" strike="noStrike">
                <a:solidFill>
                  <a:srgbClr val="000000"/>
                </a:solidFill>
                <a:latin typeface="Arial"/>
                <a:ea typeface="Arial"/>
                <a:cs typeface="Arial"/>
              </a:rPr>
              <a:t>, </a:t>
            </a:r>
            <a:r>
              <a:rPr lang="en-US" sz="1600" b="0" i="0" u="none" strike="noStrike">
                <a:solidFill>
                  <a:srgbClr val="000000"/>
                </a:solidFill>
                <a:highlight>
                  <a:srgbClr val="C0C0C0"/>
                </a:highlight>
                <a:latin typeface="Arial"/>
                <a:ea typeface="Arial"/>
                <a:cs typeface="Arial"/>
              </a:rPr>
              <a:t>0.0</a:t>
            </a:r>
            <a:r>
              <a:rPr lang="en-US" sz="1600" b="0" i="0" u="none" strike="noStrike">
                <a:solidFill>
                  <a:srgbClr val="000000"/>
                </a:solidFill>
                <a:latin typeface="Arial"/>
                <a:ea typeface="Arial"/>
                <a:cs typeface="Arial"/>
              </a:rPr>
              <a:t>, </a:t>
            </a:r>
            <a:r>
              <a:rPr lang="en-US" sz="1600" b="0" i="0" u="none" strike="noStrike">
                <a:solidFill>
                  <a:srgbClr val="000000"/>
                </a:solidFill>
                <a:highlight>
                  <a:srgbClr val="C0C0C0"/>
                </a:highlight>
                <a:latin typeface="Arial"/>
                <a:ea typeface="Arial"/>
                <a:cs typeface="Arial"/>
              </a:rPr>
              <a:t>""</a:t>
            </a:r>
            <a:r>
              <a:rPr lang="en-US" sz="1600" b="0" i="0" u="none" strike="noStrike">
                <a:solidFill>
                  <a:srgbClr val="000000"/>
                </a:solidFill>
                <a:latin typeface="Arial"/>
                <a:ea typeface="Arial"/>
                <a:cs typeface="Arial"/>
              </a:rPr>
              <a:t>, </a:t>
            </a:r>
            <a:r>
              <a:rPr lang="en-US" sz="1600" b="0" i="0" u="none" strike="noStrike">
                <a:solidFill>
                  <a:srgbClr val="000000"/>
                </a:solidFill>
                <a:highlight>
                  <a:srgbClr val="C0C0C0"/>
                </a:highlight>
                <a:latin typeface="Arial"/>
                <a:ea typeface="Arial"/>
                <a:cs typeface="Arial"/>
              </a:rPr>
              <a:t>true</a:t>
            </a:r>
            <a:r>
              <a:rPr lang="en-US" sz="1600" b="0" i="0" u="none" strike="noStrike">
                <a:solidFill>
                  <a:srgbClr val="000000"/>
                </a:solidFill>
                <a:latin typeface="Arial"/>
                <a:ea typeface="Arial"/>
                <a:cs typeface="Arial"/>
              </a:rPr>
              <a:t>, </a:t>
            </a:r>
            <a:r>
              <a:rPr lang="en-US" sz="1600" b="0" i="0" u="none" strike="noStrike">
                <a:solidFill>
                  <a:srgbClr val="000000"/>
                </a:solidFill>
                <a:highlight>
                  <a:srgbClr val="C0C0C0"/>
                </a:highlight>
                <a:latin typeface="Arial"/>
                <a:ea typeface="Arial"/>
                <a:cs typeface="Arial"/>
              </a:rPr>
              <a:t>false</a:t>
            </a:r>
            <a:r>
              <a:rPr lang="en-US" sz="1600" b="0" i="0" u="none" strike="noStrike">
                <a:solidFill>
                  <a:srgbClr val="000000"/>
                </a:solidFill>
                <a:latin typeface="Arial"/>
                <a:ea typeface="Arial"/>
                <a:cs typeface="Arial"/>
              </a:rPr>
              <a:t>, </a:t>
            </a:r>
            <a:r>
              <a:rPr lang="en-US" sz="1600" b="0" i="0" u="none" strike="noStrike">
                <a:solidFill>
                  <a:srgbClr val="000000"/>
                </a:solidFill>
                <a:highlight>
                  <a:srgbClr val="C0C0C0"/>
                </a:highlight>
                <a:latin typeface="Arial"/>
                <a:ea typeface="Arial"/>
                <a:cs typeface="Arial"/>
              </a:rPr>
              <a:t>null</a:t>
            </a:r>
            <a:r>
              <a:rPr lang="en-US" sz="1600" b="0" i="0" u="none" strike="noStrike">
                <a:solidFill>
                  <a:srgbClr val="000000"/>
                </a:solidFill>
                <a:latin typeface="Arial"/>
                <a:ea typeface="Arial"/>
                <a:cs typeface="Arial"/>
              </a:rPr>
              <a:t>.​</a:t>
            </a:r>
            <a:endParaRPr lang="en-US" sz="1600"/>
          </a:p>
          <a:p>
            <a:pPr algn="ctr"/>
            <a:endParaRPr lang="en-US" sz="2800"/>
          </a:p>
        </p:txBody>
      </p:sp>
    </p:spTree>
    <p:extLst>
      <p:ext uri="{BB962C8B-B14F-4D97-AF65-F5344CB8AC3E}">
        <p14:creationId xmlns:p14="http://schemas.microsoft.com/office/powerpoint/2010/main" val="110254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8FC34-08F7-057E-A7E8-12FEC612A216}"/>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D3B651A8-2446-B081-3964-6F7589A0CC3A}"/>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9AA75507-2C82-5696-FCFD-5357B9A9EBB0}"/>
              </a:ext>
            </a:extLst>
          </p:cNvPr>
          <p:cNvSpPr txBox="1"/>
          <p:nvPr/>
        </p:nvSpPr>
        <p:spPr>
          <a:xfrm>
            <a:off x="344897" y="825557"/>
            <a:ext cx="7522264"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input</a:t>
            </a:r>
          </a:p>
          <a:p>
            <a:endParaRPr lang="en-US" sz="2800" spc="-1">
              <a:solidFill>
                <a:srgbClr val="000000"/>
              </a:solidFill>
              <a:latin typeface="Calibri"/>
            </a:endParaRPr>
          </a:p>
          <a:p>
            <a:r>
              <a:rPr lang="en-US" sz="2400" spc="-1">
                <a:solidFill>
                  <a:srgbClr val="000000"/>
                </a:solidFill>
                <a:latin typeface="Calibri"/>
              </a:rPr>
              <a:t>Testcase: </a:t>
            </a:r>
            <a:r>
              <a:rPr lang="en-US" sz="2400">
                <a:highlight>
                  <a:srgbClr val="C0C0C0"/>
                </a:highlight>
              </a:rPr>
              <a:t>seeds/strategy2_structured/</a:t>
            </a:r>
            <a:endParaRPr lang="en-US" sz="1400"/>
          </a:p>
          <a:p>
            <a:pPr marL="628650" lvl="1" indent="-171450">
              <a:buFont typeface="Arial"/>
              <a:buChar char="•"/>
            </a:pPr>
            <a:endParaRPr lang="en-US" sz="1400"/>
          </a:p>
          <a:p>
            <a:pPr marL="628650" lvl="1" indent="-171450">
              <a:buFont typeface="Arial"/>
              <a:buChar char="•"/>
            </a:pPr>
            <a:endParaRPr lang="en-US" sz="1100"/>
          </a:p>
          <a:p>
            <a:pPr marL="914400" lvl="1" indent="-457200">
              <a:buFont typeface="Arial"/>
              <a:buChar char="•"/>
            </a:pPr>
            <a:endParaRPr lang="en-US" sz="2800"/>
          </a:p>
          <a:p>
            <a:pPr marL="914400" lvl="1" indent="-457200">
              <a:buFont typeface="Arial"/>
              <a:buChar char="•"/>
            </a:pPr>
            <a:endParaRPr lang="en-US" sz="2800">
              <a:solidFill>
                <a:srgbClr val="000000"/>
              </a:solidFill>
              <a:latin typeface="Arial"/>
            </a:endParaRPr>
          </a:p>
        </p:txBody>
      </p:sp>
      <p:sp>
        <p:nvSpPr>
          <p:cNvPr id="4" name="TextBox 3">
            <a:extLst>
              <a:ext uri="{FF2B5EF4-FFF2-40B4-BE49-F238E27FC236}">
                <a16:creationId xmlns:a16="http://schemas.microsoft.com/office/drawing/2014/main" id="{47E86B42-D830-F1EA-4E83-D68D714850DD}"/>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3" name="TextBox 2">
            <a:extLst>
              <a:ext uri="{FF2B5EF4-FFF2-40B4-BE49-F238E27FC236}">
                <a16:creationId xmlns:a16="http://schemas.microsoft.com/office/drawing/2014/main" id="{6B1E88B0-F98F-853C-71ED-F6B47A8D3C26}"/>
              </a:ext>
            </a:extLst>
          </p:cNvPr>
          <p:cNvSpPr txBox="1"/>
          <p:nvPr/>
        </p:nvSpPr>
        <p:spPr>
          <a:xfrm>
            <a:off x="590351" y="1994695"/>
            <a:ext cx="10432814"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rtl="0">
              <a:lnSpc>
                <a:spcPts val="1205"/>
              </a:lnSpc>
            </a:pPr>
            <a:endParaRPr lang="en-US" sz="1100" b="0" i="0">
              <a:latin typeface="Arial"/>
            </a:endParaRPr>
          </a:p>
          <a:p>
            <a:pPr marL="285750" indent="-285750">
              <a:buFont typeface="Arial"/>
              <a:buChar char="•"/>
            </a:pPr>
            <a:r>
              <a:rPr lang="en-US" sz="1600" b="0" i="0" u="none" strike="noStrike" baseline="0">
                <a:solidFill>
                  <a:srgbClr val="000000"/>
                </a:solidFill>
                <a:latin typeface="Arial"/>
              </a:rPr>
              <a:t>Large JSON inputs that may trigger overflows for each object type:</a:t>
            </a:r>
            <a:r>
              <a:rPr lang="en-US" sz="1600" b="0" i="0">
                <a:latin typeface="Arial"/>
              </a:rPr>
              <a:t>​</a:t>
            </a:r>
            <a:br>
              <a:rPr lang="en-US" sz="1600" b="0" i="0">
                <a:latin typeface="Arial"/>
              </a:rPr>
            </a:br>
            <a:r>
              <a:rPr lang="en-US" sz="1600" b="0" i="0" u="none" strike="noStrike" baseline="0">
                <a:solidFill>
                  <a:srgbClr val="000000"/>
                </a:solidFill>
                <a:latin typeface="Arial"/>
              </a:rPr>
              <a:t>&lt;very large file containing only non-printable data&gt;,</a:t>
            </a:r>
            <a:r>
              <a:rPr lang="en-US" sz="1600" b="0" i="0">
                <a:latin typeface="Arial"/>
              </a:rPr>
              <a:t>​</a:t>
            </a:r>
            <a:br>
              <a:rPr lang="en-US" sz="1600" b="0" i="0">
                <a:latin typeface="Arial"/>
              </a:rPr>
            </a:br>
            <a:r>
              <a:rPr lang="en-US" sz="1600" b="0" i="0" u="none" strike="noStrike" baseline="0">
                <a:solidFill>
                  <a:srgbClr val="000000"/>
                </a:solidFill>
                <a:highlight>
                  <a:srgbClr val="C0C0C0"/>
                </a:highlight>
                <a:latin typeface="Arial"/>
              </a:rPr>
              <a:t>{"a": "AAAA...AAA", "b": "BBBB...BBB", ...}</a:t>
            </a:r>
            <a:r>
              <a:rPr lang="en-US" sz="1600" b="0" i="0" u="none" strike="noStrike" baseline="0">
                <a:solidFill>
                  <a:srgbClr val="000000"/>
                </a:solidFill>
                <a:latin typeface="Arial"/>
              </a:rPr>
              <a:t>,</a:t>
            </a:r>
            <a:r>
              <a:rPr lang="en-US" sz="1600" b="0" i="0">
                <a:latin typeface="Arial"/>
              </a:rPr>
              <a:t>​</a:t>
            </a:r>
            <a:r>
              <a:rPr lang="en-US" sz="1600">
                <a:latin typeface="Arial"/>
              </a:rPr>
              <a:t> </a:t>
            </a:r>
            <a:r>
              <a:rPr lang="en-US" sz="1600" b="0" i="0" u="none" strike="noStrike" baseline="0">
                <a:solidFill>
                  <a:srgbClr val="000000"/>
                </a:solidFill>
                <a:highlight>
                  <a:srgbClr val="C0C0C0"/>
                </a:highlight>
                <a:latin typeface="Arial"/>
              </a:rPr>
              <a:t>[1111...111]</a:t>
            </a:r>
            <a:r>
              <a:rPr lang="en-US" sz="1600" b="0" i="0" u="none" strike="noStrike" baseline="0">
                <a:solidFill>
                  <a:srgbClr val="000000"/>
                </a:solidFill>
                <a:latin typeface="Arial"/>
              </a:rPr>
              <a:t>,</a:t>
            </a:r>
            <a:r>
              <a:rPr lang="en-US" sz="1600" b="0" i="0">
                <a:latin typeface="Arial"/>
              </a:rPr>
              <a:t>​</a:t>
            </a:r>
            <a:r>
              <a:rPr lang="en-US" sz="1600">
                <a:solidFill>
                  <a:srgbClr val="000000"/>
                </a:solidFill>
                <a:latin typeface="Arial"/>
              </a:rPr>
              <a:t> </a:t>
            </a:r>
            <a:r>
              <a:rPr lang="en-US" sz="1600" b="0" i="0" u="none" strike="noStrike" baseline="0">
                <a:solidFill>
                  <a:srgbClr val="000000"/>
                </a:solidFill>
                <a:highlight>
                  <a:srgbClr val="C0C0C0"/>
                </a:highlight>
                <a:latin typeface="Arial"/>
              </a:rPr>
              <a:t>12345678901234567890</a:t>
            </a:r>
            <a:r>
              <a:rPr lang="en-US" sz="1600" b="0" i="0" u="none" strike="noStrike" baseline="0">
                <a:solidFill>
                  <a:srgbClr val="000000"/>
                </a:solidFill>
                <a:latin typeface="Arial"/>
              </a:rPr>
              <a:t>,</a:t>
            </a:r>
            <a:r>
              <a:rPr lang="en-US" sz="1600">
                <a:latin typeface="Arial"/>
              </a:rPr>
              <a:t> </a:t>
            </a:r>
            <a:r>
              <a:rPr lang="en-US" sz="1600" b="0" i="0" u="none" strike="noStrike" baseline="0">
                <a:solidFill>
                  <a:srgbClr val="000000"/>
                </a:solidFill>
                <a:highlight>
                  <a:srgbClr val="C0C0C0"/>
                </a:highlight>
                <a:latin typeface="Arial"/>
              </a:rPr>
              <a:t>3.4028235e+38 (maximum</a:t>
            </a:r>
            <a:r>
              <a:rPr lang="en-US" sz="1600" b="0" i="0" u="none" strike="noStrike" baseline="0">
                <a:solidFill>
                  <a:srgbClr val="000000"/>
                </a:solidFill>
                <a:latin typeface="Arial"/>
              </a:rPr>
              <a:t> float value),</a:t>
            </a:r>
            <a:r>
              <a:rPr lang="en-US" sz="1600" b="0" i="0">
                <a:latin typeface="Arial"/>
              </a:rPr>
              <a:t>​</a:t>
            </a:r>
            <a:r>
              <a:rPr lang="en-US" sz="1600">
                <a:latin typeface="Arial"/>
              </a:rPr>
              <a:t> </a:t>
            </a:r>
            <a:r>
              <a:rPr lang="en-US" sz="1600" b="0" i="0" u="none" strike="noStrike" baseline="0">
                <a:solidFill>
                  <a:srgbClr val="000000"/>
                </a:solidFill>
                <a:latin typeface="Arial"/>
              </a:rPr>
              <a:t>very large negative numbers -9999......,</a:t>
            </a:r>
            <a:r>
              <a:rPr lang="en-US" sz="1600" b="0" i="0">
                <a:latin typeface="Arial"/>
              </a:rPr>
              <a:t>​</a:t>
            </a:r>
            <a:r>
              <a:rPr lang="en-US" sz="1600">
                <a:latin typeface="Arial"/>
              </a:rPr>
              <a:t> </a:t>
            </a:r>
            <a:r>
              <a:rPr lang="en-US" sz="1600" b="0" i="0" u="none" strike="noStrike" baseline="0">
                <a:solidFill>
                  <a:srgbClr val="000000"/>
                </a:solidFill>
                <a:highlight>
                  <a:srgbClr val="C0C0C0"/>
                </a:highlight>
                <a:latin typeface="Arial"/>
              </a:rPr>
              <a:t>"AAAA....AAAAAA"</a:t>
            </a:r>
            <a:r>
              <a:rPr lang="en-US" sz="1600" b="0" i="0" u="none" strike="noStrike" baseline="0">
                <a:solidFill>
                  <a:srgbClr val="000000"/>
                </a:solidFill>
                <a:latin typeface="Arial"/>
              </a:rPr>
              <a:t> (very long string).</a:t>
            </a:r>
            <a:r>
              <a:rPr lang="en-US" sz="1600" b="0" i="0">
                <a:latin typeface="Arial"/>
              </a:rPr>
              <a:t>​</a:t>
            </a:r>
          </a:p>
          <a:p>
            <a:pPr marL="285750" indent="-285750">
              <a:buFont typeface="Arial"/>
              <a:buChar char="•"/>
            </a:pPr>
            <a:endParaRPr lang="en-US" sz="1600">
              <a:latin typeface="Arial"/>
            </a:endParaRPr>
          </a:p>
          <a:p>
            <a:pPr marL="285750" indent="-285750">
              <a:buFont typeface="Arial"/>
              <a:buChar char="•"/>
            </a:pPr>
            <a:r>
              <a:rPr lang="en-US" sz="1600" b="0" i="0" u="none" strike="noStrike" baseline="0">
                <a:solidFill>
                  <a:srgbClr val="000000"/>
                </a:solidFill>
                <a:latin typeface="Arial"/>
              </a:rPr>
              <a:t>Deeply nested JSON:</a:t>
            </a:r>
            <a:r>
              <a:rPr lang="en-US" sz="1600" b="0" i="0">
                <a:latin typeface="Arial"/>
              </a:rPr>
              <a:t>​</a:t>
            </a:r>
            <a:r>
              <a:rPr lang="en-US" sz="1600">
                <a:solidFill>
                  <a:srgbClr val="000000"/>
                </a:solidFill>
                <a:latin typeface="Arial"/>
              </a:rPr>
              <a:t> </a:t>
            </a:r>
            <a:r>
              <a:rPr lang="en-US" sz="1600" b="0" i="0" u="none" strike="noStrike" baseline="0">
                <a:solidFill>
                  <a:srgbClr val="000000"/>
                </a:solidFill>
                <a:highlight>
                  <a:srgbClr val="C0C0C0"/>
                </a:highlight>
                <a:latin typeface="Arial"/>
              </a:rPr>
              <a:t>{"a": {"b": {"c": ...}}}</a:t>
            </a:r>
            <a:r>
              <a:rPr lang="en-US" sz="1600" b="0" i="0">
                <a:highlight>
                  <a:srgbClr val="C0C0C0"/>
                </a:highlight>
                <a:latin typeface="Arial"/>
              </a:rPr>
              <a:t>​</a:t>
            </a:r>
          </a:p>
          <a:p>
            <a:pPr marL="285750" indent="-285750">
              <a:buFont typeface="Arial"/>
              <a:buChar char="•"/>
            </a:pPr>
            <a:endParaRPr lang="en-US" sz="1600">
              <a:solidFill>
                <a:srgbClr val="000000"/>
              </a:solidFill>
              <a:highlight>
                <a:srgbClr val="C0C0C0"/>
              </a:highlight>
              <a:latin typeface="Arial"/>
            </a:endParaRPr>
          </a:p>
          <a:p>
            <a:pPr marL="285750" indent="-285750" algn="l" rtl="0">
              <a:buFont typeface="Arial"/>
              <a:buChar char="•"/>
            </a:pPr>
            <a:r>
              <a:rPr lang="en-US" sz="1600" b="0" i="0" u="none" strike="noStrike" baseline="0">
                <a:solidFill>
                  <a:srgbClr val="000000"/>
                </a:solidFill>
                <a:latin typeface="Arial"/>
              </a:rPr>
              <a:t>A JSON containing mixed data types: negative numbers, floating-point numbers, null, </a:t>
            </a:r>
            <a:r>
              <a:rPr lang="en-US" sz="1600" b="0" i="0" u="none" strike="noStrike" baseline="0" err="1">
                <a:solidFill>
                  <a:srgbClr val="000000"/>
                </a:solidFill>
                <a:latin typeface="Arial"/>
              </a:rPr>
              <a:t>booleans</a:t>
            </a:r>
            <a:r>
              <a:rPr lang="en-US" sz="1600" b="0" i="0" u="none" strike="noStrike" baseline="0">
                <a:solidFill>
                  <a:srgbClr val="000000"/>
                </a:solidFill>
                <a:latin typeface="Arial"/>
              </a:rPr>
              <a:t> (true/false).</a:t>
            </a:r>
            <a:r>
              <a:rPr lang="en-US" sz="1600" b="0" i="0">
                <a:latin typeface="Arial"/>
              </a:rPr>
              <a:t>​</a:t>
            </a:r>
          </a:p>
          <a:p>
            <a:endParaRPr lang="en-US" sz="1600">
              <a:solidFill>
                <a:srgbClr val="000000"/>
              </a:solidFill>
              <a:latin typeface="Arial"/>
            </a:endParaRPr>
          </a:p>
          <a:p>
            <a:pPr algn="l"/>
            <a:r>
              <a:rPr lang="en-US" sz="1600" b="0" i="0" u="none" strike="noStrike" baseline="0">
                <a:solidFill>
                  <a:srgbClr val="000000"/>
                </a:solidFill>
                <a:latin typeface="Arial"/>
              </a:rPr>
              <a:t>At the same time, we define a dictionary so that AFL++ is aware of important JSON tokens, enabling it to generate more appropriate and effective test cases.</a:t>
            </a:r>
            <a:r>
              <a:rPr lang="en-US" sz="1600" b="0" i="0">
                <a:latin typeface="Arial"/>
              </a:rPr>
              <a:t>​</a:t>
            </a:r>
            <a:endParaRPr lang="en-US"/>
          </a:p>
          <a:p>
            <a:pPr algn="ctr"/>
            <a:endParaRPr lang="en-US"/>
          </a:p>
        </p:txBody>
      </p:sp>
    </p:spTree>
    <p:extLst>
      <p:ext uri="{BB962C8B-B14F-4D97-AF65-F5344CB8AC3E}">
        <p14:creationId xmlns:p14="http://schemas.microsoft.com/office/powerpoint/2010/main" val="25011132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8599E-5AD6-066D-96D5-356B5280F2D8}"/>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329F9F31-E904-7DF4-9908-05E9805E060D}"/>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396F3F42-D590-AD26-0DA3-AA288BD1D1E9}"/>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pic>
        <p:nvPicPr>
          <p:cNvPr id="8" name="Picture 7" descr="A screenshot of a computer&#10;&#10;AI-generated content may be incorrect.">
            <a:extLst>
              <a:ext uri="{FF2B5EF4-FFF2-40B4-BE49-F238E27FC236}">
                <a16:creationId xmlns:a16="http://schemas.microsoft.com/office/drawing/2014/main" id="{CD3D37ED-BF61-AADD-596B-A9F79393C3D9}"/>
              </a:ext>
            </a:extLst>
          </p:cNvPr>
          <p:cNvPicPr>
            <a:picLocks noChangeAspect="1"/>
          </p:cNvPicPr>
          <p:nvPr/>
        </p:nvPicPr>
        <p:blipFill>
          <a:blip r:embed="rId3"/>
          <a:srcRect b="24017"/>
          <a:stretch>
            <a:fillRect/>
          </a:stretch>
        </p:blipFill>
        <p:spPr>
          <a:xfrm>
            <a:off x="167831" y="1819185"/>
            <a:ext cx="5337658" cy="3469092"/>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20F1728F-374A-D4F3-E659-B4E55E8D6D59}"/>
              </a:ext>
            </a:extLst>
          </p:cNvPr>
          <p:cNvPicPr>
            <a:picLocks noChangeAspect="1"/>
          </p:cNvPicPr>
          <p:nvPr/>
        </p:nvPicPr>
        <p:blipFill>
          <a:blip r:embed="rId4"/>
          <a:srcRect t="1904" b="33529"/>
          <a:stretch>
            <a:fillRect/>
          </a:stretch>
        </p:blipFill>
        <p:spPr>
          <a:xfrm>
            <a:off x="5775317" y="1819184"/>
            <a:ext cx="5868219" cy="3469093"/>
          </a:xfrm>
          <a:prstGeom prst="rect">
            <a:avLst/>
          </a:prstGeom>
        </p:spPr>
      </p:pic>
      <p:sp>
        <p:nvSpPr>
          <p:cNvPr id="13" name="TextBox 12">
            <a:extLst>
              <a:ext uri="{FF2B5EF4-FFF2-40B4-BE49-F238E27FC236}">
                <a16:creationId xmlns:a16="http://schemas.microsoft.com/office/drawing/2014/main" id="{4EF8B6AD-903F-24B6-F8CB-4D5A1AE337BE}"/>
              </a:ext>
            </a:extLst>
          </p:cNvPr>
          <p:cNvSpPr txBox="1"/>
          <p:nvPr/>
        </p:nvSpPr>
        <p:spPr>
          <a:xfrm>
            <a:off x="2477227" y="5523969"/>
            <a:ext cx="6698284" cy="369332"/>
          </a:xfrm>
          <a:prstGeom prst="rect">
            <a:avLst/>
          </a:prstGeom>
          <a:noFill/>
        </p:spPr>
        <p:txBody>
          <a:bodyPr wrap="square" rtlCol="0">
            <a:spAutoFit/>
          </a:bodyPr>
          <a:lstStyle/>
          <a:p>
            <a:r>
              <a:rPr lang="en-US" i="1"/>
              <a:t>2 prebuilt library </a:t>
            </a:r>
            <a:r>
              <a:rPr lang="en-US" i="1" err="1"/>
              <a:t>JSONTestSuite</a:t>
            </a:r>
            <a:r>
              <a:rPr lang="en-US" i="1"/>
              <a:t> and JSON-Schema-Test-Suite</a:t>
            </a:r>
          </a:p>
        </p:txBody>
      </p:sp>
      <p:sp>
        <p:nvSpPr>
          <p:cNvPr id="3" name="TextShape 2">
            <a:extLst>
              <a:ext uri="{FF2B5EF4-FFF2-40B4-BE49-F238E27FC236}">
                <a16:creationId xmlns:a16="http://schemas.microsoft.com/office/drawing/2014/main" id="{71873588-4BF3-E55D-51D8-B340A31AB80D}"/>
              </a:ext>
            </a:extLst>
          </p:cNvPr>
          <p:cNvSpPr txBox="1"/>
          <p:nvPr/>
        </p:nvSpPr>
        <p:spPr>
          <a:xfrm>
            <a:off x="166156" y="919631"/>
            <a:ext cx="7522264"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a:t>
            </a:r>
            <a:r>
              <a:rPr lang="en-US" sz="2800" spc="-1">
                <a:solidFill>
                  <a:srgbClr val="000000"/>
                </a:solidFill>
                <a:latin typeface="Calibri"/>
                <a:cs typeface="Arial"/>
              </a:rPr>
              <a:t>3: Prebuilt valid JSON testcases</a:t>
            </a:r>
            <a:endParaRPr lang="en-US">
              <a:latin typeface="Arial"/>
            </a:endParaRPr>
          </a:p>
          <a:p>
            <a:pPr marL="171450" indent="-171450">
              <a:buFont typeface="Arial"/>
              <a:buChar char="•"/>
            </a:pPr>
            <a:endParaRPr lang="en-US" sz="1400">
              <a:solidFill>
                <a:srgbClr val="000000"/>
              </a:solidFill>
              <a:latin typeface="Arial"/>
            </a:endParaRPr>
          </a:p>
          <a:p>
            <a:pPr marL="628650" lvl="1" indent="-171450">
              <a:buFont typeface="Arial"/>
              <a:buChar char="•"/>
            </a:pPr>
            <a:endParaRPr lang="en-US" sz="1400"/>
          </a:p>
          <a:p>
            <a:pPr marL="628650" lvl="1" indent="-171450">
              <a:buFont typeface="Arial"/>
              <a:buChar char="•"/>
            </a:pPr>
            <a:endParaRPr lang="en-US" sz="1400"/>
          </a:p>
          <a:p>
            <a:pPr marL="628650" lvl="1" indent="-171450">
              <a:buFont typeface="Arial"/>
              <a:buChar char="•"/>
            </a:pPr>
            <a:endParaRPr lang="en-US" sz="1100"/>
          </a:p>
          <a:p>
            <a:pPr marL="914400" lvl="1" indent="-457200">
              <a:buFont typeface="Arial"/>
              <a:buChar char="•"/>
            </a:pPr>
            <a:endParaRPr lang="en-US" sz="2800"/>
          </a:p>
          <a:p>
            <a:pPr marL="914400" lvl="1" indent="-457200">
              <a:buFont typeface="Arial"/>
              <a:buChar char="•"/>
            </a:pPr>
            <a:endParaRPr lang="en-US" sz="2800"/>
          </a:p>
        </p:txBody>
      </p:sp>
    </p:spTree>
    <p:extLst>
      <p:ext uri="{BB962C8B-B14F-4D97-AF65-F5344CB8AC3E}">
        <p14:creationId xmlns:p14="http://schemas.microsoft.com/office/powerpoint/2010/main" val="41133423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953EB-7DEA-DF93-1C6C-B53A2074B28D}"/>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A54210A5-6020-969B-98B1-C6F6CC60417E}"/>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509E972F-82BE-2C82-FBA7-0E6E168F3C62}"/>
              </a:ext>
            </a:extLst>
          </p:cNvPr>
          <p:cNvSpPr txBox="1"/>
          <p:nvPr/>
        </p:nvSpPr>
        <p:spPr>
          <a:xfrm>
            <a:off x="344897" y="825557"/>
            <a:ext cx="7522264"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1: Non JSON input</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a:t>seeds/strategy1_non_structured/</a:t>
            </a:r>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88148A47-4673-E292-AE75-73BD5158998D}"/>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pic>
        <p:nvPicPr>
          <p:cNvPr id="6" name="Picture 5" descr="A black and white text&#10;&#10;AI-generated content may be incorrect.">
            <a:extLst>
              <a:ext uri="{FF2B5EF4-FFF2-40B4-BE49-F238E27FC236}">
                <a16:creationId xmlns:a16="http://schemas.microsoft.com/office/drawing/2014/main" id="{5BD12853-B0E7-F7AE-3D49-CB6C8E689F0B}"/>
              </a:ext>
            </a:extLst>
          </p:cNvPr>
          <p:cNvPicPr>
            <a:picLocks noChangeAspect="1"/>
          </p:cNvPicPr>
          <p:nvPr/>
        </p:nvPicPr>
        <p:blipFill>
          <a:blip r:embed="rId3"/>
          <a:stretch>
            <a:fillRect/>
          </a:stretch>
        </p:blipFill>
        <p:spPr>
          <a:xfrm>
            <a:off x="950082" y="3430361"/>
            <a:ext cx="9220200" cy="47625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887872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3DA66-2BE8-295E-3B87-0E2C69CC0579}"/>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23091BFB-5745-C331-7D47-E46F343BB3A1}"/>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F97A439B-E290-4921-4BA3-9F81B749BD2B}"/>
              </a:ext>
            </a:extLst>
          </p:cNvPr>
          <p:cNvSpPr txBox="1"/>
          <p:nvPr/>
        </p:nvSpPr>
        <p:spPr>
          <a:xfrm>
            <a:off x="344897" y="825557"/>
            <a:ext cx="7522264"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1: Non JSON input</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a:t>seeds/strategy1_non_structured/</a:t>
            </a:r>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561A6F86-AD32-B6D1-7869-066789E10C14}"/>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pic>
        <p:nvPicPr>
          <p:cNvPr id="6" name="Picture 5" descr="A black and white text&#10;&#10;AI-generated content may be incorrect.">
            <a:extLst>
              <a:ext uri="{FF2B5EF4-FFF2-40B4-BE49-F238E27FC236}">
                <a16:creationId xmlns:a16="http://schemas.microsoft.com/office/drawing/2014/main" id="{A0AC7FA2-0BA9-C20E-6E13-54255206B044}"/>
              </a:ext>
            </a:extLst>
          </p:cNvPr>
          <p:cNvPicPr>
            <a:picLocks noChangeAspect="1"/>
          </p:cNvPicPr>
          <p:nvPr/>
        </p:nvPicPr>
        <p:blipFill>
          <a:blip r:embed="rId3"/>
          <a:stretch>
            <a:fillRect/>
          </a:stretch>
        </p:blipFill>
        <p:spPr>
          <a:xfrm>
            <a:off x="950082" y="3430361"/>
            <a:ext cx="9220200" cy="476250"/>
          </a:xfrm>
          <a:prstGeom prst="rect">
            <a:avLst/>
          </a:prstGeom>
          <a:ln>
            <a:noFill/>
          </a:ln>
          <a:effectLst>
            <a:outerShdw blurRad="292100" dist="139700" dir="2700000" algn="tl" rotWithShape="0">
              <a:srgbClr val="333333">
                <a:alpha val="65000"/>
              </a:srgbClr>
            </a:outerShdw>
          </a:effectLst>
        </p:spPr>
      </p:pic>
      <p:sp>
        <p:nvSpPr>
          <p:cNvPr id="8" name="TextBox 7">
            <a:extLst>
              <a:ext uri="{FF2B5EF4-FFF2-40B4-BE49-F238E27FC236}">
                <a16:creationId xmlns:a16="http://schemas.microsoft.com/office/drawing/2014/main" id="{BA2BBBD9-C75A-1452-47C3-43817D8F70F4}"/>
              </a:ext>
            </a:extLst>
          </p:cNvPr>
          <p:cNvSpPr txBox="1"/>
          <p:nvPr/>
        </p:nvSpPr>
        <p:spPr>
          <a:xfrm>
            <a:off x="2732312" y="4593771"/>
            <a:ext cx="3079343" cy="923330"/>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 Enables deterministic mutation stages (bit flips, arithmetic, etc.)</a:t>
            </a:r>
          </a:p>
        </p:txBody>
      </p:sp>
      <p:sp>
        <p:nvSpPr>
          <p:cNvPr id="12" name="TextBox 11">
            <a:extLst>
              <a:ext uri="{FF2B5EF4-FFF2-40B4-BE49-F238E27FC236}">
                <a16:creationId xmlns:a16="http://schemas.microsoft.com/office/drawing/2014/main" id="{801DEE56-61E0-992E-7DB2-555BE038BFDE}"/>
              </a:ext>
            </a:extLst>
          </p:cNvPr>
          <p:cNvSpPr txBox="1"/>
          <p:nvPr/>
        </p:nvSpPr>
        <p:spPr>
          <a:xfrm>
            <a:off x="6683826" y="4593771"/>
            <a:ext cx="2775861" cy="923330"/>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 fast: Prioritizes execution speed over deep path exploration.</a:t>
            </a:r>
          </a:p>
        </p:txBody>
      </p:sp>
      <p:cxnSp>
        <p:nvCxnSpPr>
          <p:cNvPr id="13" name="Straight Arrow Connector 12">
            <a:extLst>
              <a:ext uri="{FF2B5EF4-FFF2-40B4-BE49-F238E27FC236}">
                <a16:creationId xmlns:a16="http://schemas.microsoft.com/office/drawing/2014/main" id="{C6DB91AA-4FC5-6891-D7CE-D63D2D91CEF7}"/>
              </a:ext>
            </a:extLst>
          </p:cNvPr>
          <p:cNvCxnSpPr/>
          <p:nvPr/>
        </p:nvCxnSpPr>
        <p:spPr>
          <a:xfrm flipH="1">
            <a:off x="4637315" y="3799114"/>
            <a:ext cx="892627" cy="75111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CB89351-4017-B5C5-B72C-E38C8C16C6A6}"/>
              </a:ext>
            </a:extLst>
          </p:cNvPr>
          <p:cNvCxnSpPr>
            <a:cxnSpLocks/>
          </p:cNvCxnSpPr>
          <p:nvPr/>
        </p:nvCxnSpPr>
        <p:spPr>
          <a:xfrm>
            <a:off x="6257806" y="3797636"/>
            <a:ext cx="611080" cy="76347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803C1CE-E98C-E2D8-D706-9D858A346113}"/>
              </a:ext>
            </a:extLst>
          </p:cNvPr>
          <p:cNvSpPr/>
          <p:nvPr/>
        </p:nvSpPr>
        <p:spPr>
          <a:xfrm>
            <a:off x="5563137" y="3501572"/>
            <a:ext cx="254001"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7935AC2-5E79-DECA-A709-B83BE27C9634}"/>
              </a:ext>
            </a:extLst>
          </p:cNvPr>
          <p:cNvSpPr/>
          <p:nvPr/>
        </p:nvSpPr>
        <p:spPr>
          <a:xfrm>
            <a:off x="5882989" y="3501572"/>
            <a:ext cx="799630"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58681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5D4C0-4263-1290-6545-B68C64CE8C8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63379FD-8A37-6970-6D3C-DA0E90FE7561}"/>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10;&#10;AI-generated content may be incorrect.">
            <a:extLst>
              <a:ext uri="{FF2B5EF4-FFF2-40B4-BE49-F238E27FC236}">
                <a16:creationId xmlns:a16="http://schemas.microsoft.com/office/drawing/2014/main" id="{ABC3891D-CBAD-C856-7ABA-F24D004DD4CC}"/>
              </a:ext>
            </a:extLst>
          </p:cNvPr>
          <p:cNvPicPr>
            <a:picLocks noChangeAspect="1"/>
          </p:cNvPicPr>
          <p:nvPr/>
        </p:nvPicPr>
        <p:blipFill>
          <a:blip r:embed="rId3"/>
          <a:stretch>
            <a:fillRect/>
          </a:stretch>
        </p:blipFill>
        <p:spPr>
          <a:xfrm>
            <a:off x="2156943" y="1412522"/>
            <a:ext cx="7530041" cy="5331178"/>
          </a:xfrm>
          <a:prstGeom prst="rect">
            <a:avLst/>
          </a:prstGeom>
        </p:spPr>
      </p:pic>
      <p:sp>
        <p:nvSpPr>
          <p:cNvPr id="310" name="Freeform 1">
            <a:extLst>
              <a:ext uri="{FF2B5EF4-FFF2-40B4-BE49-F238E27FC236}">
                <a16:creationId xmlns:a16="http://schemas.microsoft.com/office/drawing/2014/main" id="{4F45098B-2FBE-33A1-214C-0129D5EF0DB2}"/>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4193BE8B-F80A-4DF6-C9A7-BF425C224691}"/>
              </a:ext>
            </a:extLst>
          </p:cNvPr>
          <p:cNvSpPr txBox="1"/>
          <p:nvPr/>
        </p:nvSpPr>
        <p:spPr>
          <a:xfrm>
            <a:off x="344897" y="825557"/>
            <a:ext cx="4374609"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1: Non JSON input</a:t>
            </a:r>
          </a:p>
          <a:p>
            <a:endParaRPr lang="en-US" sz="2800" spc="-1">
              <a:solidFill>
                <a:srgbClr val="000000"/>
              </a:solidFill>
              <a:latin typeface="Calibri"/>
            </a:endParaRPr>
          </a:p>
          <a:p>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11666E1B-EC40-F8EB-3398-BC7361D89A4E}"/>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Tree>
    <p:extLst>
      <p:ext uri="{BB962C8B-B14F-4D97-AF65-F5344CB8AC3E}">
        <p14:creationId xmlns:p14="http://schemas.microsoft.com/office/powerpoint/2010/main" val="32654636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A9395-1066-9275-212D-A98737181C42}"/>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C8372C1-8A61-DCE0-10D0-45DB704BF432}"/>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10;&#10;AI-generated content may be incorrect.">
            <a:extLst>
              <a:ext uri="{FF2B5EF4-FFF2-40B4-BE49-F238E27FC236}">
                <a16:creationId xmlns:a16="http://schemas.microsoft.com/office/drawing/2014/main" id="{5FB0DA22-4CF9-76C3-6693-941057930971}"/>
              </a:ext>
            </a:extLst>
          </p:cNvPr>
          <p:cNvPicPr>
            <a:picLocks noChangeAspect="1"/>
          </p:cNvPicPr>
          <p:nvPr/>
        </p:nvPicPr>
        <p:blipFill>
          <a:blip r:embed="rId3"/>
          <a:stretch>
            <a:fillRect/>
          </a:stretch>
        </p:blipFill>
        <p:spPr>
          <a:xfrm>
            <a:off x="2156943" y="1412522"/>
            <a:ext cx="7530041" cy="5331178"/>
          </a:xfrm>
          <a:prstGeom prst="rect">
            <a:avLst/>
          </a:prstGeom>
        </p:spPr>
      </p:pic>
      <p:sp>
        <p:nvSpPr>
          <p:cNvPr id="310" name="Freeform 1">
            <a:extLst>
              <a:ext uri="{FF2B5EF4-FFF2-40B4-BE49-F238E27FC236}">
                <a16:creationId xmlns:a16="http://schemas.microsoft.com/office/drawing/2014/main" id="{08E704EB-24AE-0BF4-1B45-88260985D7E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8791CC92-DB93-4A7D-270E-7DA2F69FB9FC}"/>
              </a:ext>
            </a:extLst>
          </p:cNvPr>
          <p:cNvSpPr txBox="1"/>
          <p:nvPr/>
        </p:nvSpPr>
        <p:spPr>
          <a:xfrm>
            <a:off x="344897" y="825557"/>
            <a:ext cx="4374609"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1: Non JSON input</a:t>
            </a:r>
          </a:p>
          <a:p>
            <a:endParaRPr lang="en-US" sz="2800" spc="-1">
              <a:solidFill>
                <a:srgbClr val="000000"/>
              </a:solidFill>
              <a:latin typeface="Calibri"/>
            </a:endParaRPr>
          </a:p>
          <a:p>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E8182A99-3D87-2F8F-0CB9-2CEC9AE1AFF7}"/>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3" name="Rectangle 2">
            <a:extLst>
              <a:ext uri="{FF2B5EF4-FFF2-40B4-BE49-F238E27FC236}">
                <a16:creationId xmlns:a16="http://schemas.microsoft.com/office/drawing/2014/main" id="{D94995EB-9A1B-11B8-AD54-3E075F64D723}"/>
              </a:ext>
            </a:extLst>
          </p:cNvPr>
          <p:cNvSpPr/>
          <p:nvPr/>
        </p:nvSpPr>
        <p:spPr>
          <a:xfrm>
            <a:off x="7443679" y="1978781"/>
            <a:ext cx="1636888" cy="1983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AC09A5-F5B2-74A9-FA83-563275985FC2}"/>
              </a:ext>
            </a:extLst>
          </p:cNvPr>
          <p:cNvSpPr/>
          <p:nvPr/>
        </p:nvSpPr>
        <p:spPr>
          <a:xfrm>
            <a:off x="6188804" y="3035558"/>
            <a:ext cx="2888073" cy="21717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2133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6C99-E809-FDC9-905F-651B79D780AC}"/>
            </a:ext>
          </a:extLst>
        </p:cNvPr>
        <p:cNvGrpSpPr/>
        <p:nvPr/>
      </p:nvGrpSpPr>
      <p:grpSpPr>
        <a:xfrm>
          <a:off x="0" y="0"/>
          <a:ext cx="0" cy="0"/>
          <a:chOff x="0" y="0"/>
          <a:chExt cx="0" cy="0"/>
        </a:xfrm>
      </p:grpSpPr>
      <p:pic>
        <p:nvPicPr>
          <p:cNvPr id="3" name="Picture 2" descr="A screenshot of a computer code&#10;&#10;AI-generated content may be incorrect.">
            <a:extLst>
              <a:ext uri="{FF2B5EF4-FFF2-40B4-BE49-F238E27FC236}">
                <a16:creationId xmlns:a16="http://schemas.microsoft.com/office/drawing/2014/main" id="{9D9EDF19-20E1-F7A8-957C-5FDA32CF901A}"/>
              </a:ext>
            </a:extLst>
          </p:cNvPr>
          <p:cNvPicPr>
            <a:picLocks noChangeAspect="1"/>
          </p:cNvPicPr>
          <p:nvPr/>
        </p:nvPicPr>
        <p:blipFill>
          <a:blip r:embed="rId3"/>
          <a:stretch>
            <a:fillRect/>
          </a:stretch>
        </p:blipFill>
        <p:spPr>
          <a:xfrm>
            <a:off x="141111" y="2281296"/>
            <a:ext cx="11909778" cy="2408297"/>
          </a:xfrm>
          <a:prstGeom prst="rect">
            <a:avLst/>
          </a:prstGeom>
        </p:spPr>
      </p:pic>
      <p:sp>
        <p:nvSpPr>
          <p:cNvPr id="310" name="Freeform 1">
            <a:extLst>
              <a:ext uri="{FF2B5EF4-FFF2-40B4-BE49-F238E27FC236}">
                <a16:creationId xmlns:a16="http://schemas.microsoft.com/office/drawing/2014/main" id="{ACE8C316-6CFE-4427-FEAA-5D306CAE66B4}"/>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2F6BD2D1-0F98-4EBE-DE42-0A1C8388FA69}"/>
              </a:ext>
            </a:extLst>
          </p:cNvPr>
          <p:cNvSpPr txBox="1"/>
          <p:nvPr/>
        </p:nvSpPr>
        <p:spPr>
          <a:xfrm>
            <a:off x="344897" y="825557"/>
            <a:ext cx="6638837"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Edge cases</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a:latin typeface="Calibri" panose="020F0502020204030204" pitchFamily="34" charset="0"/>
                <a:ea typeface="Calibri" panose="020F0502020204030204" pitchFamily="34" charset="0"/>
                <a:cs typeface="Calibri" panose="020F0502020204030204" pitchFamily="34" charset="0"/>
              </a:rPr>
              <a:t>seeds/strategy2_structured/</a:t>
            </a:r>
            <a:endParaRPr lang="en-US" sz="2800" spc="-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0525C04A-0C0E-D719-1D64-22244658CC84}"/>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Tree>
    <p:extLst>
      <p:ext uri="{BB962C8B-B14F-4D97-AF65-F5344CB8AC3E}">
        <p14:creationId xmlns:p14="http://schemas.microsoft.com/office/powerpoint/2010/main" val="30179826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6F59C-50EE-CAF6-BE45-5D859779C0C7}"/>
            </a:ext>
          </a:extLst>
        </p:cNvPr>
        <p:cNvGrpSpPr/>
        <p:nvPr/>
      </p:nvGrpSpPr>
      <p:grpSpPr>
        <a:xfrm>
          <a:off x="0" y="0"/>
          <a:ext cx="0" cy="0"/>
          <a:chOff x="0" y="0"/>
          <a:chExt cx="0" cy="0"/>
        </a:xfrm>
      </p:grpSpPr>
      <p:pic>
        <p:nvPicPr>
          <p:cNvPr id="3" name="Picture 2" descr="A screenshot of a computer code&#10;&#10;AI-generated content may be incorrect.">
            <a:extLst>
              <a:ext uri="{FF2B5EF4-FFF2-40B4-BE49-F238E27FC236}">
                <a16:creationId xmlns:a16="http://schemas.microsoft.com/office/drawing/2014/main" id="{481A7E4F-F289-3D85-98DE-241201F3B1F7}"/>
              </a:ext>
            </a:extLst>
          </p:cNvPr>
          <p:cNvPicPr>
            <a:picLocks noChangeAspect="1"/>
          </p:cNvPicPr>
          <p:nvPr/>
        </p:nvPicPr>
        <p:blipFill>
          <a:blip r:embed="rId3"/>
          <a:stretch>
            <a:fillRect/>
          </a:stretch>
        </p:blipFill>
        <p:spPr>
          <a:xfrm>
            <a:off x="141111" y="2281296"/>
            <a:ext cx="11909778" cy="2408297"/>
          </a:xfrm>
          <a:prstGeom prst="rect">
            <a:avLst/>
          </a:prstGeom>
        </p:spPr>
      </p:pic>
      <p:sp>
        <p:nvSpPr>
          <p:cNvPr id="310" name="Freeform 1">
            <a:extLst>
              <a:ext uri="{FF2B5EF4-FFF2-40B4-BE49-F238E27FC236}">
                <a16:creationId xmlns:a16="http://schemas.microsoft.com/office/drawing/2014/main" id="{E2C20B67-CAE5-536B-60CA-57B3817C50AA}"/>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511DE4EB-A7E8-A79A-475D-EF7D3849D851}"/>
              </a:ext>
            </a:extLst>
          </p:cNvPr>
          <p:cNvSpPr txBox="1"/>
          <p:nvPr/>
        </p:nvSpPr>
        <p:spPr>
          <a:xfrm>
            <a:off x="344897" y="825557"/>
            <a:ext cx="6638837"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Edge cases</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a:latin typeface="Calibri" panose="020F0502020204030204" pitchFamily="34" charset="0"/>
                <a:ea typeface="Calibri" panose="020F0502020204030204" pitchFamily="34" charset="0"/>
                <a:cs typeface="Calibri" panose="020F0502020204030204" pitchFamily="34" charset="0"/>
              </a:rPr>
              <a:t>seeds/strategy2_structured/</a:t>
            </a:r>
            <a:endParaRPr lang="en-US" sz="2800" spc="-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827816E-5349-D530-1849-B3B6DA97828A}"/>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8" name="TextBox 7">
            <a:extLst>
              <a:ext uri="{FF2B5EF4-FFF2-40B4-BE49-F238E27FC236}">
                <a16:creationId xmlns:a16="http://schemas.microsoft.com/office/drawing/2014/main" id="{28451551-E841-1AD3-C82D-AEBDABD7E7A3}"/>
              </a:ext>
            </a:extLst>
          </p:cNvPr>
          <p:cNvSpPr txBox="1"/>
          <p:nvPr/>
        </p:nvSpPr>
        <p:spPr>
          <a:xfrm>
            <a:off x="3045019" y="4948924"/>
            <a:ext cx="2743200" cy="646331"/>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-M Master running main instance </a:t>
            </a:r>
          </a:p>
        </p:txBody>
      </p:sp>
      <p:cxnSp>
        <p:nvCxnSpPr>
          <p:cNvPr id="13" name="Straight Arrow Connector 12">
            <a:extLst>
              <a:ext uri="{FF2B5EF4-FFF2-40B4-BE49-F238E27FC236}">
                <a16:creationId xmlns:a16="http://schemas.microsoft.com/office/drawing/2014/main" id="{3837E5E7-73A1-A0BF-2D99-1BDD9D6EAE9C}"/>
              </a:ext>
            </a:extLst>
          </p:cNvPr>
          <p:cNvCxnSpPr>
            <a:cxnSpLocks/>
          </p:cNvCxnSpPr>
          <p:nvPr/>
        </p:nvCxnSpPr>
        <p:spPr>
          <a:xfrm flipH="1">
            <a:off x="4817375" y="2977714"/>
            <a:ext cx="769291" cy="196180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E6BD435-D1E5-F891-3558-C8B359DD00A6}"/>
              </a:ext>
            </a:extLst>
          </p:cNvPr>
          <p:cNvSpPr/>
          <p:nvPr/>
        </p:nvSpPr>
        <p:spPr>
          <a:xfrm>
            <a:off x="5346767" y="2626683"/>
            <a:ext cx="1091259"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0DC55D0-24D9-F741-5D91-56DB54578743}"/>
              </a:ext>
            </a:extLst>
          </p:cNvPr>
          <p:cNvSpPr/>
          <p:nvPr/>
        </p:nvSpPr>
        <p:spPr>
          <a:xfrm>
            <a:off x="6503878" y="2626683"/>
            <a:ext cx="2238962"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C1D96C-6BC1-8E84-8EF0-24143CE1F686}"/>
              </a:ext>
            </a:extLst>
          </p:cNvPr>
          <p:cNvSpPr txBox="1"/>
          <p:nvPr/>
        </p:nvSpPr>
        <p:spPr>
          <a:xfrm>
            <a:off x="6093020" y="4948924"/>
            <a:ext cx="2743200" cy="646331"/>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 Enable advance compare (</a:t>
            </a:r>
            <a:r>
              <a:rPr lang="en-US">
                <a:solidFill>
                  <a:srgbClr val="000000"/>
                </a:solidFill>
                <a:ea typeface="+mn-lt"/>
                <a:cs typeface="+mn-lt"/>
              </a:rPr>
              <a:t>CMPLOG)</a:t>
            </a:r>
            <a:endParaRPr lang="en-US"/>
          </a:p>
        </p:txBody>
      </p:sp>
      <p:cxnSp>
        <p:nvCxnSpPr>
          <p:cNvPr id="9" name="Straight Arrow Connector 8">
            <a:extLst>
              <a:ext uri="{FF2B5EF4-FFF2-40B4-BE49-F238E27FC236}">
                <a16:creationId xmlns:a16="http://schemas.microsoft.com/office/drawing/2014/main" id="{15D2DE12-F972-BDBC-E4E7-DCD37300CDEC}"/>
              </a:ext>
            </a:extLst>
          </p:cNvPr>
          <p:cNvCxnSpPr>
            <a:cxnSpLocks/>
          </p:cNvCxnSpPr>
          <p:nvPr/>
        </p:nvCxnSpPr>
        <p:spPr>
          <a:xfrm>
            <a:off x="7176518" y="2958900"/>
            <a:ext cx="2116" cy="19994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6">
            <a:extLst>
              <a:ext uri="{FF2B5EF4-FFF2-40B4-BE49-F238E27FC236}">
                <a16:creationId xmlns:a16="http://schemas.microsoft.com/office/drawing/2014/main" id="{1AC1D96C-6BC1-8E84-8EF0-24143CE1F686}"/>
              </a:ext>
            </a:extLst>
          </p:cNvPr>
          <p:cNvSpPr txBox="1"/>
          <p:nvPr/>
        </p:nvSpPr>
        <p:spPr>
          <a:xfrm>
            <a:off x="9065761" y="4948924"/>
            <a:ext cx="2743200" cy="923330"/>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r>
              <a:rPr lang="en-US"/>
              <a:t>-p schedule priority new path instead of dive deeper into path</a:t>
            </a:r>
          </a:p>
        </p:txBody>
      </p:sp>
      <p:cxnSp>
        <p:nvCxnSpPr>
          <p:cNvPr id="11" name="Straight Arrow Connector 10">
            <a:extLst>
              <a:ext uri="{FF2B5EF4-FFF2-40B4-BE49-F238E27FC236}">
                <a16:creationId xmlns:a16="http://schemas.microsoft.com/office/drawing/2014/main" id="{15D2DE12-F972-BDBC-E4E7-DCD37300CDEC}"/>
              </a:ext>
            </a:extLst>
          </p:cNvPr>
          <p:cNvCxnSpPr>
            <a:cxnSpLocks/>
          </p:cNvCxnSpPr>
          <p:nvPr/>
        </p:nvCxnSpPr>
        <p:spPr>
          <a:xfrm>
            <a:off x="7176518" y="2958900"/>
            <a:ext cx="2116" cy="19994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09D46B5-6FC6-F096-B491-120D40234544}"/>
              </a:ext>
            </a:extLst>
          </p:cNvPr>
          <p:cNvSpPr/>
          <p:nvPr/>
        </p:nvSpPr>
        <p:spPr>
          <a:xfrm>
            <a:off x="8818100" y="2607868"/>
            <a:ext cx="1157111"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8E223E9E-0848-F2A8-ACBA-6CC3276E8B80}"/>
              </a:ext>
            </a:extLst>
          </p:cNvPr>
          <p:cNvCxnSpPr>
            <a:cxnSpLocks/>
          </p:cNvCxnSpPr>
          <p:nvPr/>
        </p:nvCxnSpPr>
        <p:spPr>
          <a:xfrm>
            <a:off x="9490740" y="2940085"/>
            <a:ext cx="2116" cy="19994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8DDB33D-874E-90BB-76EF-53332BC58053}"/>
              </a:ext>
            </a:extLst>
          </p:cNvPr>
          <p:cNvCxnSpPr>
            <a:cxnSpLocks/>
          </p:cNvCxnSpPr>
          <p:nvPr/>
        </p:nvCxnSpPr>
        <p:spPr>
          <a:xfrm>
            <a:off x="9490740" y="2940085"/>
            <a:ext cx="2116" cy="19994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62404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197EC-84B2-6240-3716-09BFEF950C79}"/>
            </a:ext>
          </a:extLst>
        </p:cNvPr>
        <p:cNvGrpSpPr/>
        <p:nvPr/>
      </p:nvGrpSpPr>
      <p:grpSpPr>
        <a:xfrm>
          <a:off x="0" y="0"/>
          <a:ext cx="0" cy="0"/>
          <a:chOff x="0" y="0"/>
          <a:chExt cx="0" cy="0"/>
        </a:xfrm>
      </p:grpSpPr>
      <p:pic>
        <p:nvPicPr>
          <p:cNvPr id="3" name="Picture 2" descr="A screenshot of a computer code&#10;&#10;AI-generated content may be incorrect.">
            <a:extLst>
              <a:ext uri="{FF2B5EF4-FFF2-40B4-BE49-F238E27FC236}">
                <a16:creationId xmlns:a16="http://schemas.microsoft.com/office/drawing/2014/main" id="{A223FB63-2A35-EEC3-057C-FBD8E926E6A9}"/>
              </a:ext>
            </a:extLst>
          </p:cNvPr>
          <p:cNvPicPr>
            <a:picLocks noChangeAspect="1"/>
          </p:cNvPicPr>
          <p:nvPr/>
        </p:nvPicPr>
        <p:blipFill>
          <a:blip r:embed="rId3"/>
          <a:stretch>
            <a:fillRect/>
          </a:stretch>
        </p:blipFill>
        <p:spPr>
          <a:xfrm>
            <a:off x="141111" y="2281296"/>
            <a:ext cx="11909778" cy="2408297"/>
          </a:xfrm>
          <a:prstGeom prst="rect">
            <a:avLst/>
          </a:prstGeom>
        </p:spPr>
      </p:pic>
      <p:sp>
        <p:nvSpPr>
          <p:cNvPr id="310" name="Freeform 1">
            <a:extLst>
              <a:ext uri="{FF2B5EF4-FFF2-40B4-BE49-F238E27FC236}">
                <a16:creationId xmlns:a16="http://schemas.microsoft.com/office/drawing/2014/main" id="{CE79C973-2D26-805D-A979-2C43C60F15CF}"/>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B08ACD9C-4A08-F3CC-E1EF-01FEEA6334A4}"/>
              </a:ext>
            </a:extLst>
          </p:cNvPr>
          <p:cNvSpPr txBox="1"/>
          <p:nvPr/>
        </p:nvSpPr>
        <p:spPr>
          <a:xfrm>
            <a:off x="344897" y="825557"/>
            <a:ext cx="6638837"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Edge cases</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a:latin typeface="Calibri" panose="020F0502020204030204" pitchFamily="34" charset="0"/>
                <a:ea typeface="Calibri" panose="020F0502020204030204" pitchFamily="34" charset="0"/>
                <a:cs typeface="Calibri" panose="020F0502020204030204" pitchFamily="34" charset="0"/>
              </a:rPr>
              <a:t>seeds/strategy2_structured/</a:t>
            </a:r>
            <a:endParaRPr lang="en-US" sz="2800" spc="-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F7C6B2B-7496-AAA5-8BB0-643138A6CE3C}"/>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Tree>
    <p:extLst>
      <p:ext uri="{BB962C8B-B14F-4D97-AF65-F5344CB8AC3E}">
        <p14:creationId xmlns:p14="http://schemas.microsoft.com/office/powerpoint/2010/main" val="693736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5E0EE-29CE-6522-4A7E-7B7FF4566397}"/>
            </a:ext>
          </a:extLst>
        </p:cNvPr>
        <p:cNvGrpSpPr/>
        <p:nvPr/>
      </p:nvGrpSpPr>
      <p:grpSpPr>
        <a:xfrm>
          <a:off x="0" y="0"/>
          <a:ext cx="0" cy="0"/>
          <a:chOff x="0" y="0"/>
          <a:chExt cx="0" cy="0"/>
        </a:xfrm>
      </p:grpSpPr>
      <p:pic>
        <p:nvPicPr>
          <p:cNvPr id="3" name="Picture 2" descr="A screenshot of a computer code&#10;&#10;AI-generated content may be incorrect.">
            <a:extLst>
              <a:ext uri="{FF2B5EF4-FFF2-40B4-BE49-F238E27FC236}">
                <a16:creationId xmlns:a16="http://schemas.microsoft.com/office/drawing/2014/main" id="{29C6DD6A-01DC-8E35-3981-EE89F4C708AF}"/>
              </a:ext>
            </a:extLst>
          </p:cNvPr>
          <p:cNvPicPr>
            <a:picLocks noChangeAspect="1"/>
          </p:cNvPicPr>
          <p:nvPr/>
        </p:nvPicPr>
        <p:blipFill>
          <a:blip r:embed="rId3"/>
          <a:stretch>
            <a:fillRect/>
          </a:stretch>
        </p:blipFill>
        <p:spPr>
          <a:xfrm>
            <a:off x="141111" y="2281296"/>
            <a:ext cx="11909778" cy="2408297"/>
          </a:xfrm>
          <a:prstGeom prst="rect">
            <a:avLst/>
          </a:prstGeom>
        </p:spPr>
      </p:pic>
      <p:sp>
        <p:nvSpPr>
          <p:cNvPr id="310" name="Freeform 1">
            <a:extLst>
              <a:ext uri="{FF2B5EF4-FFF2-40B4-BE49-F238E27FC236}">
                <a16:creationId xmlns:a16="http://schemas.microsoft.com/office/drawing/2014/main" id="{518D7F70-269A-5A06-C5E3-8B261790D292}"/>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9BE5BCFB-AFFB-5DA0-653D-8A5E91EDFDD7}"/>
              </a:ext>
            </a:extLst>
          </p:cNvPr>
          <p:cNvSpPr txBox="1"/>
          <p:nvPr/>
        </p:nvSpPr>
        <p:spPr>
          <a:xfrm>
            <a:off x="344897" y="825557"/>
            <a:ext cx="6638837"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Edge cases</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a:latin typeface="Calibri" panose="020F0502020204030204" pitchFamily="34" charset="0"/>
                <a:ea typeface="Calibri" panose="020F0502020204030204" pitchFamily="34" charset="0"/>
                <a:cs typeface="Calibri" panose="020F0502020204030204" pitchFamily="34" charset="0"/>
              </a:rPr>
              <a:t>seeds/strategy2_structured/</a:t>
            </a:r>
            <a:endParaRPr lang="en-US" sz="2800" spc="-1">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83C3CB2-70CF-8395-0E1C-03945D455C82}"/>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8" name="TextBox 7">
            <a:extLst>
              <a:ext uri="{FF2B5EF4-FFF2-40B4-BE49-F238E27FC236}">
                <a16:creationId xmlns:a16="http://schemas.microsoft.com/office/drawing/2014/main" id="{C6062A95-D600-7F28-0D03-2226CEEFCEEC}"/>
              </a:ext>
            </a:extLst>
          </p:cNvPr>
          <p:cNvSpPr txBox="1"/>
          <p:nvPr/>
        </p:nvSpPr>
        <p:spPr>
          <a:xfrm>
            <a:off x="3139093" y="5231146"/>
            <a:ext cx="2150534" cy="923330"/>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 Slave1 running a parallel  instance </a:t>
            </a:r>
          </a:p>
        </p:txBody>
      </p:sp>
      <p:sp>
        <p:nvSpPr>
          <p:cNvPr id="12" name="TextBox 11">
            <a:extLst>
              <a:ext uri="{FF2B5EF4-FFF2-40B4-BE49-F238E27FC236}">
                <a16:creationId xmlns:a16="http://schemas.microsoft.com/office/drawing/2014/main" id="{80036890-BB31-970B-80C7-89DB04F1CC97}"/>
              </a:ext>
            </a:extLst>
          </p:cNvPr>
          <p:cNvSpPr txBox="1"/>
          <p:nvPr/>
        </p:nvSpPr>
        <p:spPr>
          <a:xfrm>
            <a:off x="5508040" y="5326367"/>
            <a:ext cx="2462630" cy="646331"/>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 enable deterministic mutation</a:t>
            </a:r>
          </a:p>
        </p:txBody>
      </p:sp>
      <p:cxnSp>
        <p:nvCxnSpPr>
          <p:cNvPr id="13" name="Straight Arrow Connector 12">
            <a:extLst>
              <a:ext uri="{FF2B5EF4-FFF2-40B4-BE49-F238E27FC236}">
                <a16:creationId xmlns:a16="http://schemas.microsoft.com/office/drawing/2014/main" id="{AB269479-BF63-9AFB-1A31-20B37074F434}"/>
              </a:ext>
            </a:extLst>
          </p:cNvPr>
          <p:cNvCxnSpPr>
            <a:cxnSpLocks/>
          </p:cNvCxnSpPr>
          <p:nvPr/>
        </p:nvCxnSpPr>
        <p:spPr>
          <a:xfrm flipH="1">
            <a:off x="4450487" y="3683269"/>
            <a:ext cx="1220846" cy="144439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86BDAA7-5AFB-9E28-64EF-31DBCD67D399}"/>
              </a:ext>
            </a:extLst>
          </p:cNvPr>
          <p:cNvCxnSpPr>
            <a:cxnSpLocks/>
          </p:cNvCxnSpPr>
          <p:nvPr/>
        </p:nvCxnSpPr>
        <p:spPr>
          <a:xfrm flipH="1">
            <a:off x="6599691" y="3652875"/>
            <a:ext cx="13224" cy="149546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B77656F-2829-0D75-7D25-66C4D2BFEF17}"/>
              </a:ext>
            </a:extLst>
          </p:cNvPr>
          <p:cNvSpPr/>
          <p:nvPr/>
        </p:nvSpPr>
        <p:spPr>
          <a:xfrm>
            <a:off x="5356174" y="3322831"/>
            <a:ext cx="1091259"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F03A617-03BA-E092-897D-15DDC594EEBC}"/>
              </a:ext>
            </a:extLst>
          </p:cNvPr>
          <p:cNvSpPr/>
          <p:nvPr/>
        </p:nvSpPr>
        <p:spPr>
          <a:xfrm>
            <a:off x="6513285" y="3322831"/>
            <a:ext cx="225778"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BCAE44A-6D46-D60D-B9D5-A59004BC14F7}"/>
              </a:ext>
            </a:extLst>
          </p:cNvPr>
          <p:cNvCxnSpPr>
            <a:cxnSpLocks/>
          </p:cNvCxnSpPr>
          <p:nvPr/>
        </p:nvCxnSpPr>
        <p:spPr>
          <a:xfrm>
            <a:off x="8325063" y="3671689"/>
            <a:ext cx="748775" cy="145783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CF9411E-8F7C-AF1E-90D8-435164286D78}"/>
              </a:ext>
            </a:extLst>
          </p:cNvPr>
          <p:cNvSpPr/>
          <p:nvPr/>
        </p:nvSpPr>
        <p:spPr>
          <a:xfrm>
            <a:off x="6804915" y="3322831"/>
            <a:ext cx="2003777"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B2018E3-4CD8-322E-16A0-0DA654B0F830}"/>
              </a:ext>
            </a:extLst>
          </p:cNvPr>
          <p:cNvSpPr txBox="1"/>
          <p:nvPr/>
        </p:nvSpPr>
        <p:spPr>
          <a:xfrm>
            <a:off x="8396114" y="5326367"/>
            <a:ext cx="2462630" cy="369332"/>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-x using dictionary</a:t>
            </a:r>
          </a:p>
        </p:txBody>
      </p:sp>
      <p:sp>
        <p:nvSpPr>
          <p:cNvPr id="10" name="Rectangle 9">
            <a:extLst>
              <a:ext uri="{FF2B5EF4-FFF2-40B4-BE49-F238E27FC236}">
                <a16:creationId xmlns:a16="http://schemas.microsoft.com/office/drawing/2014/main" id="{DA0690D8-84A4-5489-DD2F-89B0F6ACB65B}"/>
              </a:ext>
            </a:extLst>
          </p:cNvPr>
          <p:cNvSpPr/>
          <p:nvPr/>
        </p:nvSpPr>
        <p:spPr>
          <a:xfrm>
            <a:off x="144471" y="3586238"/>
            <a:ext cx="959555" cy="33006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4539BCE-DEAB-58B8-4998-B12A22F40867}"/>
              </a:ext>
            </a:extLst>
          </p:cNvPr>
          <p:cNvCxnSpPr>
            <a:cxnSpLocks/>
          </p:cNvCxnSpPr>
          <p:nvPr/>
        </p:nvCxnSpPr>
        <p:spPr>
          <a:xfrm>
            <a:off x="770074" y="3918454"/>
            <a:ext cx="11524" cy="13221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C4795CD-7752-051D-C3DD-031F039E2C66}"/>
              </a:ext>
            </a:extLst>
          </p:cNvPr>
          <p:cNvSpPr txBox="1"/>
          <p:nvPr/>
        </p:nvSpPr>
        <p:spPr>
          <a:xfrm>
            <a:off x="72278" y="5325220"/>
            <a:ext cx="2216386" cy="369332"/>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-exploit schedule</a:t>
            </a:r>
          </a:p>
        </p:txBody>
      </p:sp>
    </p:spTree>
    <p:extLst>
      <p:ext uri="{BB962C8B-B14F-4D97-AF65-F5344CB8AC3E}">
        <p14:creationId xmlns:p14="http://schemas.microsoft.com/office/powerpoint/2010/main" val="10296476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342C5-B56C-CCA1-B8F6-E713B522BB43}"/>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AB51F97-CE95-F77E-A53E-38CCE6FC2DB3}"/>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0579C12C-FE11-C75E-5A91-8297780F9D64}"/>
              </a:ext>
            </a:extLst>
          </p:cNvPr>
          <p:cNvPicPr>
            <a:picLocks noChangeAspect="1"/>
          </p:cNvPicPr>
          <p:nvPr/>
        </p:nvPicPr>
        <p:blipFill>
          <a:blip r:embed="rId3"/>
          <a:stretch>
            <a:fillRect/>
          </a:stretch>
        </p:blipFill>
        <p:spPr>
          <a:xfrm>
            <a:off x="1804122" y="1254702"/>
            <a:ext cx="7683212" cy="5335732"/>
          </a:xfrm>
          <a:prstGeom prst="rect">
            <a:avLst/>
          </a:prstGeom>
        </p:spPr>
      </p:pic>
      <p:sp>
        <p:nvSpPr>
          <p:cNvPr id="310" name="Freeform 1">
            <a:extLst>
              <a:ext uri="{FF2B5EF4-FFF2-40B4-BE49-F238E27FC236}">
                <a16:creationId xmlns:a16="http://schemas.microsoft.com/office/drawing/2014/main" id="{4A547E7F-0779-E31A-005B-2F6360EC4697}"/>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79EBA1FE-EFA3-48CD-57DF-0106B335274D}"/>
              </a:ext>
            </a:extLst>
          </p:cNvPr>
          <p:cNvSpPr txBox="1"/>
          <p:nvPr/>
        </p:nvSpPr>
        <p:spPr>
          <a:xfrm>
            <a:off x="344897" y="825557"/>
            <a:ext cx="4374609"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edge cases</a:t>
            </a:r>
          </a:p>
          <a:p>
            <a:endParaRPr lang="en-US" sz="2800" spc="-1">
              <a:solidFill>
                <a:srgbClr val="000000"/>
              </a:solidFill>
              <a:latin typeface="Calibri"/>
            </a:endParaRPr>
          </a:p>
          <a:p>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90D9A52B-4665-B5F7-7259-596B8A7BAF9B}"/>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3" name="Rectangle 2">
            <a:extLst>
              <a:ext uri="{FF2B5EF4-FFF2-40B4-BE49-F238E27FC236}">
                <a16:creationId xmlns:a16="http://schemas.microsoft.com/office/drawing/2014/main" id="{D24A7158-6BC7-FCCA-FE1E-3504FF69BE56}"/>
              </a:ext>
            </a:extLst>
          </p:cNvPr>
          <p:cNvSpPr/>
          <p:nvPr/>
        </p:nvSpPr>
        <p:spPr>
          <a:xfrm>
            <a:off x="7274345" y="1765404"/>
            <a:ext cx="1655703" cy="2830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6E35477-2BEA-38DF-2C53-B5568D1D1050}"/>
              </a:ext>
            </a:extLst>
          </p:cNvPr>
          <p:cNvSpPr/>
          <p:nvPr/>
        </p:nvSpPr>
        <p:spPr>
          <a:xfrm>
            <a:off x="7381013" y="2833645"/>
            <a:ext cx="1524000" cy="2830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B94E3DF-A6E6-73FA-CE27-1FB21123D47D}"/>
              </a:ext>
            </a:extLst>
          </p:cNvPr>
          <p:cNvSpPr/>
          <p:nvPr/>
        </p:nvSpPr>
        <p:spPr>
          <a:xfrm>
            <a:off x="7572154" y="1363844"/>
            <a:ext cx="884297" cy="2830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52751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6596C-CBBE-D98C-30F8-3EC6D62C440F}"/>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E527D11-760E-731D-DEA3-946AA5D33EF8}"/>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10;&#10;AI-generated content may be incorrect.">
            <a:extLst>
              <a:ext uri="{FF2B5EF4-FFF2-40B4-BE49-F238E27FC236}">
                <a16:creationId xmlns:a16="http://schemas.microsoft.com/office/drawing/2014/main" id="{AEAB99F9-B427-5331-8D5E-638BD62EBDF4}"/>
              </a:ext>
            </a:extLst>
          </p:cNvPr>
          <p:cNvPicPr>
            <a:picLocks noChangeAspect="1"/>
          </p:cNvPicPr>
          <p:nvPr/>
        </p:nvPicPr>
        <p:blipFill>
          <a:blip r:embed="rId3"/>
          <a:stretch>
            <a:fillRect/>
          </a:stretch>
        </p:blipFill>
        <p:spPr>
          <a:xfrm>
            <a:off x="2060430" y="1410999"/>
            <a:ext cx="7465003" cy="5308890"/>
          </a:xfrm>
          <a:prstGeom prst="rect">
            <a:avLst/>
          </a:prstGeom>
        </p:spPr>
      </p:pic>
      <p:sp>
        <p:nvSpPr>
          <p:cNvPr id="310" name="Freeform 1">
            <a:extLst>
              <a:ext uri="{FF2B5EF4-FFF2-40B4-BE49-F238E27FC236}">
                <a16:creationId xmlns:a16="http://schemas.microsoft.com/office/drawing/2014/main" id="{C59D50A9-D85E-2489-9784-EBD8BA3996E6}"/>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7AB76183-1DCB-2372-1EF4-94B4505F97CE}"/>
              </a:ext>
            </a:extLst>
          </p:cNvPr>
          <p:cNvSpPr txBox="1"/>
          <p:nvPr/>
        </p:nvSpPr>
        <p:spPr>
          <a:xfrm>
            <a:off x="344897" y="825557"/>
            <a:ext cx="4374609"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2: JSON edge cases</a:t>
            </a:r>
          </a:p>
          <a:p>
            <a:endParaRPr lang="en-US" sz="2800" spc="-1">
              <a:solidFill>
                <a:srgbClr val="000000"/>
              </a:solidFill>
              <a:latin typeface="Calibri"/>
            </a:endParaRPr>
          </a:p>
          <a:p>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CA9C41C0-9403-8624-A5B4-D6AC7E4B6954}"/>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3" name="Rectangle 2">
            <a:extLst>
              <a:ext uri="{FF2B5EF4-FFF2-40B4-BE49-F238E27FC236}">
                <a16:creationId xmlns:a16="http://schemas.microsoft.com/office/drawing/2014/main" id="{205CA8BC-60A4-7709-9CD2-9852D381EF04}"/>
              </a:ext>
            </a:extLst>
          </p:cNvPr>
          <p:cNvSpPr/>
          <p:nvPr/>
        </p:nvSpPr>
        <p:spPr>
          <a:xfrm>
            <a:off x="7378254" y="1938585"/>
            <a:ext cx="1730962" cy="27362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0BD62EEE-0C3E-C14F-A5EC-13FAD8B51821}"/>
              </a:ext>
            </a:extLst>
          </p:cNvPr>
          <p:cNvSpPr/>
          <p:nvPr/>
        </p:nvSpPr>
        <p:spPr>
          <a:xfrm>
            <a:off x="7482249" y="2971014"/>
            <a:ext cx="1524000" cy="2830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B9D90F3-7F5D-0239-834E-B19D9BA09A51}"/>
              </a:ext>
            </a:extLst>
          </p:cNvPr>
          <p:cNvSpPr/>
          <p:nvPr/>
        </p:nvSpPr>
        <p:spPr>
          <a:xfrm>
            <a:off x="7637063" y="1503345"/>
            <a:ext cx="884297" cy="28302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2661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CC05E-D9F4-EAC8-98E5-0CA07A49D6A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2023C3C-38DD-1DDF-610A-5C04A1CA5677}"/>
              </a:ext>
            </a:extLst>
          </p:cNvPr>
          <p:cNvPicPr>
            <a:picLocks noChangeAspect="1"/>
          </p:cNvPicPr>
          <p:nvPr/>
        </p:nvPicPr>
        <p:blipFill>
          <a:blip r:embed="rId3"/>
          <a:srcRect l="1341" t="8235" r="3391" b="18824"/>
          <a:stretch>
            <a:fillRect/>
          </a:stretch>
        </p:blipFill>
        <p:spPr>
          <a:xfrm>
            <a:off x="1450861" y="3908970"/>
            <a:ext cx="8721647" cy="586427"/>
          </a:xfrm>
          <a:prstGeom prst="rect">
            <a:avLst/>
          </a:prstGeom>
          <a:ln>
            <a:noFill/>
          </a:ln>
          <a:effectLst>
            <a:outerShdw blurRad="292100" dist="139700" dir="2700000" algn="tl" rotWithShape="0">
              <a:srgbClr val="333333">
                <a:alpha val="65000"/>
              </a:srgbClr>
            </a:outerShdw>
          </a:effectLst>
        </p:spPr>
      </p:pic>
      <p:sp>
        <p:nvSpPr>
          <p:cNvPr id="310" name="Freeform 1">
            <a:extLst>
              <a:ext uri="{FF2B5EF4-FFF2-40B4-BE49-F238E27FC236}">
                <a16:creationId xmlns:a16="http://schemas.microsoft.com/office/drawing/2014/main" id="{10579618-AA20-BF2E-6AFF-AC8F58989E35}"/>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1D19657D-711F-DD1A-8F38-58ADB56B3447}"/>
              </a:ext>
            </a:extLst>
          </p:cNvPr>
          <p:cNvSpPr txBox="1"/>
          <p:nvPr/>
        </p:nvSpPr>
        <p:spPr>
          <a:xfrm>
            <a:off x="344897" y="825557"/>
            <a:ext cx="11069761"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3:  Prebuild valid JSON testcases</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spc="-1" err="1">
                <a:solidFill>
                  <a:srgbClr val="000000"/>
                </a:solidFill>
                <a:latin typeface="Calibri"/>
              </a:rPr>
              <a:t>seeds_clean</a:t>
            </a:r>
            <a:r>
              <a:rPr lang="en-US" sz="2800" spc="-1">
                <a:solidFill>
                  <a:srgbClr val="000000"/>
                </a:solidFill>
                <a:latin typeface="Calibri"/>
              </a:rPr>
              <a:t> from </a:t>
            </a:r>
            <a:r>
              <a:rPr lang="en-US" sz="2800" spc="-1" err="1">
                <a:solidFill>
                  <a:srgbClr val="000000"/>
                </a:solidFill>
                <a:latin typeface="Calibri"/>
              </a:rPr>
              <a:t>JSONTestSuite</a:t>
            </a:r>
            <a:r>
              <a:rPr lang="en-US" sz="2800" spc="-1">
                <a:solidFill>
                  <a:srgbClr val="000000"/>
                </a:solidFill>
                <a:latin typeface="Calibri"/>
              </a:rPr>
              <a:t> and JSON-Schema-Test-Suite</a:t>
            </a:r>
          </a:p>
        </p:txBody>
      </p:sp>
      <p:sp>
        <p:nvSpPr>
          <p:cNvPr id="4" name="TextBox 3">
            <a:extLst>
              <a:ext uri="{FF2B5EF4-FFF2-40B4-BE49-F238E27FC236}">
                <a16:creationId xmlns:a16="http://schemas.microsoft.com/office/drawing/2014/main" id="{5D50A906-D6C4-4190-42E0-FCA3CC0F4996}"/>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10" name="TextBox 9">
            <a:extLst>
              <a:ext uri="{FF2B5EF4-FFF2-40B4-BE49-F238E27FC236}">
                <a16:creationId xmlns:a16="http://schemas.microsoft.com/office/drawing/2014/main" id="{4B14770F-E94C-01E4-B2B3-3AB563F59370}"/>
              </a:ext>
            </a:extLst>
          </p:cNvPr>
          <p:cNvSpPr txBox="1"/>
          <p:nvPr/>
        </p:nvSpPr>
        <p:spPr>
          <a:xfrm>
            <a:off x="3178399" y="4630861"/>
            <a:ext cx="3853981" cy="338554"/>
          </a:xfrm>
          <a:prstGeom prst="rect">
            <a:avLst/>
          </a:prstGeom>
          <a:noFill/>
        </p:spPr>
        <p:txBody>
          <a:bodyPr wrap="square" rtlCol="0">
            <a:spAutoFit/>
          </a:bodyPr>
          <a:lstStyle/>
          <a:p>
            <a:r>
              <a:rPr lang="en-US" sz="1600" i="1"/>
              <a:t>Command to reduce no. of seeds</a:t>
            </a:r>
          </a:p>
        </p:txBody>
      </p:sp>
    </p:spTree>
    <p:extLst>
      <p:ext uri="{BB962C8B-B14F-4D97-AF65-F5344CB8AC3E}">
        <p14:creationId xmlns:p14="http://schemas.microsoft.com/office/powerpoint/2010/main" val="28101020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93E5D-03E1-3FF3-7559-C1F8AD1E613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35D9B49-7BEF-ED1E-8AE8-4B8A64CD15C0}"/>
              </a:ext>
            </a:extLst>
          </p:cNvPr>
          <p:cNvPicPr>
            <a:picLocks noChangeAspect="1"/>
          </p:cNvPicPr>
          <p:nvPr/>
        </p:nvPicPr>
        <p:blipFill>
          <a:blip r:embed="rId3"/>
          <a:srcRect l="1341" t="8235" r="3391" b="18824"/>
          <a:stretch>
            <a:fillRect/>
          </a:stretch>
        </p:blipFill>
        <p:spPr>
          <a:xfrm>
            <a:off x="1450861" y="3908970"/>
            <a:ext cx="8721647" cy="586427"/>
          </a:xfrm>
          <a:prstGeom prst="rect">
            <a:avLst/>
          </a:prstGeom>
          <a:ln>
            <a:noFill/>
          </a:ln>
          <a:effectLst>
            <a:outerShdw blurRad="292100" dist="139700" dir="2700000" algn="tl" rotWithShape="0">
              <a:srgbClr val="333333">
                <a:alpha val="65000"/>
              </a:srgbClr>
            </a:outerShdw>
          </a:effectLst>
        </p:spPr>
      </p:pic>
      <p:sp>
        <p:nvSpPr>
          <p:cNvPr id="310" name="Freeform 1">
            <a:extLst>
              <a:ext uri="{FF2B5EF4-FFF2-40B4-BE49-F238E27FC236}">
                <a16:creationId xmlns:a16="http://schemas.microsoft.com/office/drawing/2014/main" id="{25061D72-C799-3935-44FA-B9CF4337961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A6E673C2-C7EA-D629-9531-E99B49D4ADF5}"/>
              </a:ext>
            </a:extLst>
          </p:cNvPr>
          <p:cNvSpPr txBox="1"/>
          <p:nvPr/>
        </p:nvSpPr>
        <p:spPr>
          <a:xfrm>
            <a:off x="344897" y="825557"/>
            <a:ext cx="11069761"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3:  Prebuild valid JSON testcases</a:t>
            </a:r>
          </a:p>
          <a:p>
            <a:endParaRPr lang="en-US" sz="2800" spc="-1">
              <a:solidFill>
                <a:srgbClr val="000000"/>
              </a:solidFill>
              <a:latin typeface="Calibri"/>
            </a:endParaRPr>
          </a:p>
          <a:p>
            <a:pPr marL="457200" indent="-457200">
              <a:buFont typeface="Calibri"/>
              <a:buChar char="-"/>
            </a:pPr>
            <a:r>
              <a:rPr lang="en-US" sz="2800" spc="-1">
                <a:solidFill>
                  <a:srgbClr val="000000"/>
                </a:solidFill>
                <a:latin typeface="Calibri"/>
              </a:rPr>
              <a:t>Testcase: </a:t>
            </a:r>
            <a:r>
              <a:rPr lang="en-US" sz="2800" spc="-1" err="1">
                <a:solidFill>
                  <a:srgbClr val="000000"/>
                </a:solidFill>
                <a:latin typeface="Calibri"/>
              </a:rPr>
              <a:t>seeds_clean</a:t>
            </a:r>
            <a:r>
              <a:rPr lang="en-US" sz="2800" spc="-1">
                <a:solidFill>
                  <a:srgbClr val="000000"/>
                </a:solidFill>
                <a:latin typeface="Calibri"/>
              </a:rPr>
              <a:t> from </a:t>
            </a:r>
            <a:r>
              <a:rPr lang="en-US" sz="2800" spc="-1" err="1">
                <a:solidFill>
                  <a:srgbClr val="000000"/>
                </a:solidFill>
                <a:latin typeface="Calibri"/>
              </a:rPr>
              <a:t>JSONTestSuite</a:t>
            </a:r>
            <a:r>
              <a:rPr lang="en-US" sz="2800" spc="-1">
                <a:solidFill>
                  <a:srgbClr val="000000"/>
                </a:solidFill>
                <a:latin typeface="Calibri"/>
              </a:rPr>
              <a:t> and JSON-Schema-Test-Suite</a:t>
            </a:r>
          </a:p>
        </p:txBody>
      </p:sp>
      <p:sp>
        <p:nvSpPr>
          <p:cNvPr id="4" name="TextBox 3">
            <a:extLst>
              <a:ext uri="{FF2B5EF4-FFF2-40B4-BE49-F238E27FC236}">
                <a16:creationId xmlns:a16="http://schemas.microsoft.com/office/drawing/2014/main" id="{96AE9D2F-7955-EA4A-292F-78074AF192A4}"/>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8" name="TextBox 7">
            <a:extLst>
              <a:ext uri="{FF2B5EF4-FFF2-40B4-BE49-F238E27FC236}">
                <a16:creationId xmlns:a16="http://schemas.microsoft.com/office/drawing/2014/main" id="{CE213F9A-A57D-DE78-F7C4-62D54E9FCB4A}"/>
              </a:ext>
            </a:extLst>
          </p:cNvPr>
          <p:cNvSpPr txBox="1"/>
          <p:nvPr/>
        </p:nvSpPr>
        <p:spPr>
          <a:xfrm>
            <a:off x="1394417" y="2789910"/>
            <a:ext cx="3381694" cy="369332"/>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Dataset raw from 2 </a:t>
            </a:r>
            <a:r>
              <a:rPr lang="en-US" err="1"/>
              <a:t>github</a:t>
            </a:r>
            <a:r>
              <a:rPr lang="en-US"/>
              <a:t> repo</a:t>
            </a:r>
          </a:p>
        </p:txBody>
      </p:sp>
      <p:sp>
        <p:nvSpPr>
          <p:cNvPr id="12" name="TextBox 11">
            <a:extLst>
              <a:ext uri="{FF2B5EF4-FFF2-40B4-BE49-F238E27FC236}">
                <a16:creationId xmlns:a16="http://schemas.microsoft.com/office/drawing/2014/main" id="{19D5685E-B73D-B828-5090-F49B02252091}"/>
              </a:ext>
            </a:extLst>
          </p:cNvPr>
          <p:cNvSpPr txBox="1"/>
          <p:nvPr/>
        </p:nvSpPr>
        <p:spPr>
          <a:xfrm>
            <a:off x="6019626" y="2658123"/>
            <a:ext cx="2610893" cy="646331"/>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Dataset after reducing number of seeds</a:t>
            </a:r>
          </a:p>
        </p:txBody>
      </p:sp>
      <p:cxnSp>
        <p:nvCxnSpPr>
          <p:cNvPr id="13" name="Straight Arrow Connector 12">
            <a:extLst>
              <a:ext uri="{FF2B5EF4-FFF2-40B4-BE49-F238E27FC236}">
                <a16:creationId xmlns:a16="http://schemas.microsoft.com/office/drawing/2014/main" id="{7A8E4EA2-6B3C-8811-FE9D-67587630B918}"/>
              </a:ext>
            </a:extLst>
          </p:cNvPr>
          <p:cNvCxnSpPr>
            <a:cxnSpLocks/>
          </p:cNvCxnSpPr>
          <p:nvPr/>
        </p:nvCxnSpPr>
        <p:spPr>
          <a:xfrm flipH="1" flipV="1">
            <a:off x="2780035" y="3185023"/>
            <a:ext cx="234914" cy="83697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1DB2FBC-5AF7-A1EE-F78C-0A92271075F5}"/>
              </a:ext>
            </a:extLst>
          </p:cNvPr>
          <p:cNvCxnSpPr>
            <a:cxnSpLocks/>
          </p:cNvCxnSpPr>
          <p:nvPr/>
        </p:nvCxnSpPr>
        <p:spPr>
          <a:xfrm flipV="1">
            <a:off x="4507266" y="3339997"/>
            <a:ext cx="2015179" cy="73530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B286AC7-FF90-42BB-61BC-BB113913FBAE}"/>
              </a:ext>
            </a:extLst>
          </p:cNvPr>
          <p:cNvSpPr txBox="1"/>
          <p:nvPr/>
        </p:nvSpPr>
        <p:spPr>
          <a:xfrm>
            <a:off x="3178399" y="4630861"/>
            <a:ext cx="3853981" cy="338554"/>
          </a:xfrm>
          <a:prstGeom prst="rect">
            <a:avLst/>
          </a:prstGeom>
          <a:noFill/>
        </p:spPr>
        <p:txBody>
          <a:bodyPr wrap="square" rtlCol="0">
            <a:spAutoFit/>
          </a:bodyPr>
          <a:lstStyle/>
          <a:p>
            <a:r>
              <a:rPr lang="en-US" sz="1600" i="1"/>
              <a:t>Command to reduce no. of seeds</a:t>
            </a:r>
          </a:p>
        </p:txBody>
      </p:sp>
      <p:sp>
        <p:nvSpPr>
          <p:cNvPr id="6" name="Rectangle 5">
            <a:extLst>
              <a:ext uri="{FF2B5EF4-FFF2-40B4-BE49-F238E27FC236}">
                <a16:creationId xmlns:a16="http://schemas.microsoft.com/office/drawing/2014/main" id="{BCEA0BE1-8C2B-4838-B718-0DE1E08CD0AE}"/>
              </a:ext>
            </a:extLst>
          </p:cNvPr>
          <p:cNvSpPr/>
          <p:nvPr/>
        </p:nvSpPr>
        <p:spPr>
          <a:xfrm>
            <a:off x="2411657" y="4056607"/>
            <a:ext cx="1345260" cy="31125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38C5819-F6A1-015B-ED91-693A1349251B}"/>
              </a:ext>
            </a:extLst>
          </p:cNvPr>
          <p:cNvSpPr/>
          <p:nvPr/>
        </p:nvSpPr>
        <p:spPr>
          <a:xfrm>
            <a:off x="3794546" y="4056607"/>
            <a:ext cx="1401704" cy="31125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13113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0DDA3-2A24-4CAE-A92E-35D11FBD7C6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96053A3C-B519-EAD3-F341-B4DA7F7DC7CB}"/>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program&#10;&#10;AI-generated content may be incorrect.">
            <a:extLst>
              <a:ext uri="{FF2B5EF4-FFF2-40B4-BE49-F238E27FC236}">
                <a16:creationId xmlns:a16="http://schemas.microsoft.com/office/drawing/2014/main" id="{DF1CABD1-993C-3354-3FB8-2DAAF9912FD0}"/>
              </a:ext>
            </a:extLst>
          </p:cNvPr>
          <p:cNvPicPr>
            <a:picLocks noChangeAspect="1"/>
          </p:cNvPicPr>
          <p:nvPr/>
        </p:nvPicPr>
        <p:blipFill>
          <a:blip r:embed="rId3"/>
          <a:stretch>
            <a:fillRect/>
          </a:stretch>
        </p:blipFill>
        <p:spPr>
          <a:xfrm>
            <a:off x="2317173" y="1336531"/>
            <a:ext cx="7393132" cy="5267325"/>
          </a:xfrm>
          <a:prstGeom prst="rect">
            <a:avLst/>
          </a:prstGeom>
        </p:spPr>
      </p:pic>
      <p:sp>
        <p:nvSpPr>
          <p:cNvPr id="310" name="Freeform 1">
            <a:extLst>
              <a:ext uri="{FF2B5EF4-FFF2-40B4-BE49-F238E27FC236}">
                <a16:creationId xmlns:a16="http://schemas.microsoft.com/office/drawing/2014/main" id="{8B64272F-ADD7-C4B4-CEC7-6EC97A11BBEA}"/>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145A2A12-2943-3E3F-225E-F522A1E1A670}"/>
              </a:ext>
            </a:extLst>
          </p:cNvPr>
          <p:cNvSpPr txBox="1"/>
          <p:nvPr/>
        </p:nvSpPr>
        <p:spPr>
          <a:xfrm>
            <a:off x="344896" y="825557"/>
            <a:ext cx="6042933"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3: Prebuild valid JSON testcases</a:t>
            </a:r>
          </a:p>
          <a:p>
            <a:endParaRPr lang="en-US" sz="2800" spc="-1">
              <a:solidFill>
                <a:srgbClr val="000000"/>
              </a:solidFill>
              <a:latin typeface="Calibri"/>
            </a:endParaRPr>
          </a:p>
          <a:p>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D5C7A229-A1EF-7775-C03D-B08A3E487E4C}"/>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Tree>
    <p:extLst>
      <p:ext uri="{BB962C8B-B14F-4D97-AF65-F5344CB8AC3E}">
        <p14:creationId xmlns:p14="http://schemas.microsoft.com/office/powerpoint/2010/main" val="39660945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F6A84-F4CC-6DEF-8659-02108838DDF8}"/>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3312AEF-7F69-8E71-2F0E-D107ADD677EC}"/>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 program&#10;&#10;AI-generated content may be incorrect.">
            <a:extLst>
              <a:ext uri="{FF2B5EF4-FFF2-40B4-BE49-F238E27FC236}">
                <a16:creationId xmlns:a16="http://schemas.microsoft.com/office/drawing/2014/main" id="{CE3150CE-7D8B-1D1E-7802-E353E4B44C6C}"/>
              </a:ext>
            </a:extLst>
          </p:cNvPr>
          <p:cNvPicPr>
            <a:picLocks noChangeAspect="1"/>
          </p:cNvPicPr>
          <p:nvPr/>
        </p:nvPicPr>
        <p:blipFill>
          <a:blip r:embed="rId3"/>
          <a:stretch>
            <a:fillRect/>
          </a:stretch>
        </p:blipFill>
        <p:spPr>
          <a:xfrm>
            <a:off x="2317173" y="1336531"/>
            <a:ext cx="7393132" cy="5267325"/>
          </a:xfrm>
          <a:prstGeom prst="rect">
            <a:avLst/>
          </a:prstGeom>
        </p:spPr>
      </p:pic>
      <p:sp>
        <p:nvSpPr>
          <p:cNvPr id="310" name="Freeform 1">
            <a:extLst>
              <a:ext uri="{FF2B5EF4-FFF2-40B4-BE49-F238E27FC236}">
                <a16:creationId xmlns:a16="http://schemas.microsoft.com/office/drawing/2014/main" id="{C573DB15-63BB-D2FB-B551-69FD5414A078}"/>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311" name="TextShape 2">
            <a:extLst>
              <a:ext uri="{FF2B5EF4-FFF2-40B4-BE49-F238E27FC236}">
                <a16:creationId xmlns:a16="http://schemas.microsoft.com/office/drawing/2014/main" id="{571F5FD7-9CBD-719C-9DE8-58DD60AE24AE}"/>
              </a:ext>
            </a:extLst>
          </p:cNvPr>
          <p:cNvSpPr txBox="1"/>
          <p:nvPr/>
        </p:nvSpPr>
        <p:spPr>
          <a:xfrm>
            <a:off x="344896" y="825557"/>
            <a:ext cx="6042933" cy="586972"/>
          </a:xfrm>
          <a:prstGeom prst="rect">
            <a:avLst/>
          </a:prstGeom>
          <a:noFill/>
          <a:ln>
            <a:noFill/>
          </a:ln>
        </p:spPr>
        <p:txBody>
          <a:bodyPr lIns="90000" tIns="45000" rIns="90000" bIns="45000" anchor="t">
            <a:noAutofit/>
          </a:bodyPr>
          <a:lstStyle/>
          <a:p>
            <a:r>
              <a:rPr lang="en-US" sz="2800" spc="-1">
                <a:solidFill>
                  <a:srgbClr val="000000"/>
                </a:solidFill>
                <a:latin typeface="Calibri"/>
              </a:rPr>
              <a:t>Strategy 3: Prebuild valid JSON testcases</a:t>
            </a:r>
          </a:p>
          <a:p>
            <a:endParaRPr lang="en-US" sz="2800" spc="-1">
              <a:solidFill>
                <a:srgbClr val="000000"/>
              </a:solidFill>
              <a:latin typeface="Calibri"/>
            </a:endParaRPr>
          </a:p>
          <a:p>
            <a:endParaRPr lang="en-US" sz="2800" spc="-1">
              <a:solidFill>
                <a:srgbClr val="000000"/>
              </a:solidFill>
              <a:latin typeface="Calibri"/>
            </a:endParaRPr>
          </a:p>
        </p:txBody>
      </p:sp>
      <p:sp>
        <p:nvSpPr>
          <p:cNvPr id="4" name="TextBox 3">
            <a:extLst>
              <a:ext uri="{FF2B5EF4-FFF2-40B4-BE49-F238E27FC236}">
                <a16:creationId xmlns:a16="http://schemas.microsoft.com/office/drawing/2014/main" id="{57A4E695-B6D2-23AA-0FC3-798E936F15D8}"/>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sp>
        <p:nvSpPr>
          <p:cNvPr id="2" name="Rectangle 1">
            <a:extLst>
              <a:ext uri="{FF2B5EF4-FFF2-40B4-BE49-F238E27FC236}">
                <a16:creationId xmlns:a16="http://schemas.microsoft.com/office/drawing/2014/main" id="{EFB24F4D-950B-1C0A-B399-58A4628026CD}"/>
              </a:ext>
            </a:extLst>
          </p:cNvPr>
          <p:cNvSpPr/>
          <p:nvPr/>
        </p:nvSpPr>
        <p:spPr>
          <a:xfrm>
            <a:off x="7473975" y="1859452"/>
            <a:ext cx="1792397" cy="466138"/>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BFECA4F0-4ADF-EC1A-A539-E9A64F534A88}"/>
              </a:ext>
            </a:extLst>
          </p:cNvPr>
          <p:cNvSpPr/>
          <p:nvPr/>
        </p:nvSpPr>
        <p:spPr>
          <a:xfrm>
            <a:off x="7541429" y="2851087"/>
            <a:ext cx="1792397" cy="322734"/>
          </a:xfrm>
          <a:prstGeom prst="rect">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95234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6A3F-0EC6-EAD0-A7B1-3113C3DF31A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A403318-2664-3F1F-E014-0FAB785FA28C}"/>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Freeform 1">
            <a:extLst>
              <a:ext uri="{FF2B5EF4-FFF2-40B4-BE49-F238E27FC236}">
                <a16:creationId xmlns:a16="http://schemas.microsoft.com/office/drawing/2014/main" id="{430DAFC7-39E4-E039-7183-139302E70FE0}"/>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BB21A486-6166-05A5-24F2-4A5F302A856D}"/>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AFL++</a:t>
            </a:r>
            <a:endParaRPr lang="en-US" sz="3200" b="1">
              <a:solidFill>
                <a:schemeClr val="bg1"/>
              </a:solidFill>
            </a:endParaRPr>
          </a:p>
        </p:txBody>
      </p:sp>
      <p:graphicFrame>
        <p:nvGraphicFramePr>
          <p:cNvPr id="2" name="Table 1">
            <a:extLst>
              <a:ext uri="{FF2B5EF4-FFF2-40B4-BE49-F238E27FC236}">
                <a16:creationId xmlns:a16="http://schemas.microsoft.com/office/drawing/2014/main" id="{63A6E055-6F54-4CF3-0CC5-1BF35A6C81FC}"/>
              </a:ext>
            </a:extLst>
          </p:cNvPr>
          <p:cNvGraphicFramePr>
            <a:graphicFrameLocks noGrp="1"/>
          </p:cNvGraphicFramePr>
          <p:nvPr>
            <p:extLst>
              <p:ext uri="{D42A27DB-BD31-4B8C-83A1-F6EECF244321}">
                <p14:modId xmlns:p14="http://schemas.microsoft.com/office/powerpoint/2010/main" val="2091041251"/>
              </p:ext>
            </p:extLst>
          </p:nvPr>
        </p:nvGraphicFramePr>
        <p:xfrm>
          <a:off x="460351" y="1012590"/>
          <a:ext cx="11271297" cy="5523457"/>
        </p:xfrm>
        <a:graphic>
          <a:graphicData uri="http://schemas.openxmlformats.org/drawingml/2006/table">
            <a:tbl>
              <a:tblPr firstRow="1"/>
              <a:tblGrid>
                <a:gridCol w="2838243">
                  <a:extLst>
                    <a:ext uri="{9D8B030D-6E8A-4147-A177-3AD203B41FA5}">
                      <a16:colId xmlns:a16="http://schemas.microsoft.com/office/drawing/2014/main" val="3008761079"/>
                    </a:ext>
                  </a:extLst>
                </a:gridCol>
                <a:gridCol w="2811018">
                  <a:extLst>
                    <a:ext uri="{9D8B030D-6E8A-4147-A177-3AD203B41FA5}">
                      <a16:colId xmlns:a16="http://schemas.microsoft.com/office/drawing/2014/main" val="1941815807"/>
                    </a:ext>
                  </a:extLst>
                </a:gridCol>
                <a:gridCol w="2811018">
                  <a:extLst>
                    <a:ext uri="{9D8B030D-6E8A-4147-A177-3AD203B41FA5}">
                      <a16:colId xmlns:a16="http://schemas.microsoft.com/office/drawing/2014/main" val="2895052743"/>
                    </a:ext>
                  </a:extLst>
                </a:gridCol>
                <a:gridCol w="2811018">
                  <a:extLst>
                    <a:ext uri="{9D8B030D-6E8A-4147-A177-3AD203B41FA5}">
                      <a16:colId xmlns:a16="http://schemas.microsoft.com/office/drawing/2014/main" val="1750868772"/>
                    </a:ext>
                  </a:extLst>
                </a:gridCol>
              </a:tblGrid>
              <a:tr h="613717">
                <a:tc>
                  <a:txBody>
                    <a:bodyPr/>
                    <a:lstStyle/>
                    <a:p>
                      <a:pPr>
                        <a:buNone/>
                      </a:pPr>
                      <a:r>
                        <a:rPr lang="en-US" sz="1500"/>
                        <a:t>Aspect</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buNone/>
                      </a:pPr>
                      <a:r>
                        <a:rPr lang="en-US" sz="1500"/>
                        <a:t>Strategy 1: Unstructured Input</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buNone/>
                      </a:pPr>
                      <a:r>
                        <a:rPr lang="en-US" sz="1500"/>
                        <a:t>Strategy 2: Guided Parallel Fuzzing</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a:buNone/>
                      </a:pPr>
                      <a:r>
                        <a:rPr lang="en-US" sz="1500"/>
                        <a:t>Strategy 3: Optimized Corpus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extLst>
                  <a:ext uri="{0D108BD9-81ED-4DB2-BD59-A6C34878D82A}">
                    <a16:rowId xmlns:a16="http://schemas.microsoft.com/office/drawing/2014/main" val="2327318615"/>
                  </a:ext>
                </a:extLst>
              </a:tr>
              <a:tr h="613717">
                <a:tc>
                  <a:txBody>
                    <a:bodyPr/>
                    <a:lstStyle/>
                    <a:p>
                      <a:pPr>
                        <a:buNone/>
                      </a:pPr>
                      <a:r>
                        <a:rPr lang="en-US" sz="1500" b="1"/>
                        <a:t>Input Type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Random / Non-JSON</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Structured JSON + Dictionary</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Prebuilt Valid JSON</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2666799"/>
                  </a:ext>
                </a:extLst>
              </a:tr>
              <a:tr h="613717">
                <a:tc>
                  <a:txBody>
                    <a:bodyPr/>
                    <a:lstStyle/>
                    <a:p>
                      <a:pPr>
                        <a:buNone/>
                      </a:pPr>
                      <a:r>
                        <a:rPr lang="en-US" sz="1500" b="1"/>
                        <a:t>Fuzzing Mode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Persistent Mode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fr-FR" sz="1500"/>
                        <a:t>Master–Slave (Explore / Exploit / Fast)</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Persistent Mode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3367235"/>
                  </a:ext>
                </a:extLst>
              </a:tr>
              <a:tr h="350696">
                <a:tc>
                  <a:txBody>
                    <a:bodyPr/>
                    <a:lstStyle/>
                    <a:p>
                      <a:pPr>
                        <a:buNone/>
                      </a:pPr>
                      <a:r>
                        <a:rPr lang="en-US" sz="1500" b="1"/>
                        <a:t>Guidance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None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Dictionary + </a:t>
                      </a:r>
                      <a:r>
                        <a:rPr lang="en-US" sz="1500" err="1"/>
                        <a:t>CmpLog</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High-quality Seeds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1146640"/>
                  </a:ext>
                </a:extLst>
              </a:tr>
              <a:tr h="350696">
                <a:tc>
                  <a:txBody>
                    <a:bodyPr/>
                    <a:lstStyle/>
                    <a:p>
                      <a:pPr>
                        <a:buNone/>
                      </a:pPr>
                      <a:r>
                        <a:rPr lang="en-US" sz="1500" b="1"/>
                        <a:t>Exec Speed</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~3,900 exec/s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~5,000–10,000 exec/s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~50,000 exec/s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156808"/>
                  </a:ext>
                </a:extLst>
              </a:tr>
              <a:tr h="350696">
                <a:tc>
                  <a:txBody>
                    <a:bodyPr/>
                    <a:lstStyle/>
                    <a:p>
                      <a:pPr>
                        <a:buNone/>
                      </a:pPr>
                      <a:r>
                        <a:rPr lang="en-US" sz="1500" b="1"/>
                        <a:t>Corpus Count</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533</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~700–800</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1,020</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4852309"/>
                  </a:ext>
                </a:extLst>
              </a:tr>
              <a:tr h="350696">
                <a:tc>
                  <a:txBody>
                    <a:bodyPr/>
                    <a:lstStyle/>
                    <a:p>
                      <a:pPr>
                        <a:buNone/>
                      </a:pPr>
                      <a:r>
                        <a:rPr lang="en-US" sz="1500" b="1"/>
                        <a:t>Map Density</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39.14%</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39.14%</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80.59%</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9030962"/>
                  </a:ext>
                </a:extLst>
              </a:tr>
              <a:tr h="350696">
                <a:tc>
                  <a:txBody>
                    <a:bodyPr/>
                    <a:lstStyle/>
                    <a:p>
                      <a:pPr>
                        <a:buNone/>
                      </a:pPr>
                      <a:r>
                        <a:rPr lang="en-US" sz="1500" b="1"/>
                        <a:t>Crash Quality</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Mostly shallow bugs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Deeper logic bugs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Deepest code paths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078908"/>
                  </a:ext>
                </a:extLst>
              </a:tr>
              <a:tr h="350696">
                <a:tc>
                  <a:txBody>
                    <a:bodyPr/>
                    <a:lstStyle/>
                    <a:p>
                      <a:pPr>
                        <a:buNone/>
                      </a:pPr>
                      <a:r>
                        <a:rPr lang="en-US" sz="1500" b="1"/>
                        <a:t>New Edge Discovery</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Low after early phase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High (50 new edges)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Very High</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0758913"/>
                  </a:ext>
                </a:extLst>
              </a:tr>
              <a:tr h="350696">
                <a:tc>
                  <a:txBody>
                    <a:bodyPr/>
                    <a:lstStyle/>
                    <a:p>
                      <a:pPr>
                        <a:buNone/>
                      </a:pPr>
                      <a:r>
                        <a:rPr lang="en-US" sz="1500" b="1"/>
                        <a:t>Stability</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100%</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100%</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100%</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4220447"/>
                  </a:ext>
                </a:extLst>
              </a:tr>
              <a:tr h="613717">
                <a:tc>
                  <a:txBody>
                    <a:bodyPr/>
                    <a:lstStyle/>
                    <a:p>
                      <a:pPr>
                        <a:buNone/>
                      </a:pPr>
                      <a:r>
                        <a:rPr lang="en-US" sz="1500" b="1"/>
                        <a:t>Strengths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Fast sanity checks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Breaks structural checks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Maximum coverage &amp; performance</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6270808"/>
                  </a:ext>
                </a:extLst>
              </a:tr>
              <a:tr h="613717">
                <a:tc>
                  <a:txBody>
                    <a:bodyPr/>
                    <a:lstStyle/>
                    <a:p>
                      <a:pPr>
                        <a:buNone/>
                      </a:pPr>
                      <a:r>
                        <a:rPr lang="en-US" sz="1500" b="1"/>
                        <a:t>Limitations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buNone/>
                      </a:pPr>
                      <a:r>
                        <a:rPr lang="en-US" sz="1500"/>
                        <a:t>Cannot pass JSON checks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Higher setup complexity</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500"/>
                        <a:t>Requires curated datasets</a:t>
                      </a:r>
                    </a:p>
                  </a:txBody>
                  <a:tcPr marL="77913" marR="77913" marT="38957" marB="3895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2691231"/>
                  </a:ext>
                </a:extLst>
              </a:tr>
            </a:tbl>
          </a:graphicData>
        </a:graphic>
      </p:graphicFrame>
    </p:spTree>
    <p:extLst>
      <p:ext uri="{BB962C8B-B14F-4D97-AF65-F5344CB8AC3E}">
        <p14:creationId xmlns:p14="http://schemas.microsoft.com/office/powerpoint/2010/main" val="7097859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8C998-0AC8-C954-E5EF-369897D6D734}"/>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7EEBFD21-32AC-5B34-E303-9ACA12B409B5}"/>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0453C22C-A1BB-3640-2C59-9AF51ED5D47A}"/>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HongFuzz</a:t>
            </a:r>
            <a:endParaRPr lang="en-US" sz="3200" b="1">
              <a:solidFill>
                <a:schemeClr val="bg1"/>
              </a:solidFill>
            </a:endParaRPr>
          </a:p>
        </p:txBody>
      </p:sp>
      <p:pic>
        <p:nvPicPr>
          <p:cNvPr id="2" name="Picture 1" descr="A black text on a white background&#10;&#10;AI-generated content may be incorrect.">
            <a:extLst>
              <a:ext uri="{FF2B5EF4-FFF2-40B4-BE49-F238E27FC236}">
                <a16:creationId xmlns:a16="http://schemas.microsoft.com/office/drawing/2014/main" id="{C93622C6-753D-7516-08E1-D7CCAAB861AF}"/>
              </a:ext>
            </a:extLst>
          </p:cNvPr>
          <p:cNvPicPr>
            <a:picLocks noChangeAspect="1"/>
          </p:cNvPicPr>
          <p:nvPr/>
        </p:nvPicPr>
        <p:blipFill>
          <a:blip r:embed="rId2"/>
          <a:stretch>
            <a:fillRect/>
          </a:stretch>
        </p:blipFill>
        <p:spPr>
          <a:xfrm>
            <a:off x="447090" y="3856897"/>
            <a:ext cx="10525125" cy="619125"/>
          </a:xfrm>
          <a:prstGeom prst="rect">
            <a:avLst/>
          </a:prstGeom>
        </p:spPr>
      </p:pic>
      <p:sp>
        <p:nvSpPr>
          <p:cNvPr id="5" name="TextBox 4">
            <a:extLst>
              <a:ext uri="{FF2B5EF4-FFF2-40B4-BE49-F238E27FC236}">
                <a16:creationId xmlns:a16="http://schemas.microsoft.com/office/drawing/2014/main" id="{A7561894-10D6-8F9D-D95F-103B7BADAC81}"/>
              </a:ext>
            </a:extLst>
          </p:cNvPr>
          <p:cNvSpPr txBox="1"/>
          <p:nvPr/>
        </p:nvSpPr>
        <p:spPr>
          <a:xfrm>
            <a:off x="340426" y="906006"/>
            <a:ext cx="1103473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a:p>
          <a:p>
            <a:r>
              <a:rPr lang="en-US" sz="2000">
                <a:ea typeface="+mn-lt"/>
                <a:cs typeface="+mn-lt"/>
              </a:rPr>
              <a:t>The harness for </a:t>
            </a:r>
            <a:r>
              <a:rPr lang="en-US" sz="2000" err="1">
                <a:ea typeface="+mn-lt"/>
                <a:cs typeface="+mn-lt"/>
              </a:rPr>
              <a:t>HonggFuzz</a:t>
            </a:r>
            <a:r>
              <a:rPr lang="en-US" sz="2000">
                <a:ea typeface="+mn-lt"/>
                <a:cs typeface="+mn-lt"/>
              </a:rPr>
              <a:t> is similar to AFL++, with a few differences:</a:t>
            </a:r>
            <a:endParaRPr lang="en-US" sz="2000"/>
          </a:p>
          <a:p>
            <a:endParaRPr lang="en-US" sz="2000">
              <a:ea typeface="+mn-lt"/>
              <a:cs typeface="+mn-lt"/>
            </a:endParaRPr>
          </a:p>
          <a:p>
            <a:pPr marL="285750" indent="-285750">
              <a:buFont typeface="Arial"/>
              <a:buChar char="•"/>
            </a:pPr>
            <a:r>
              <a:rPr lang="en-US" sz="2000" err="1">
                <a:ea typeface="+mn-lt"/>
                <a:cs typeface="+mn-lt"/>
              </a:rPr>
              <a:t>HonggFuzz</a:t>
            </a:r>
            <a:r>
              <a:rPr lang="en-US" sz="2000">
                <a:ea typeface="+mn-lt"/>
                <a:cs typeface="+mn-lt"/>
              </a:rPr>
              <a:t> writes directly into the input buffer via </a:t>
            </a:r>
            <a:r>
              <a:rPr lang="en-US" sz="2000">
                <a:highlight>
                  <a:srgbClr val="C0C0C0"/>
                </a:highlight>
                <a:latin typeface="Arial"/>
                <a:cs typeface="Arial"/>
              </a:rPr>
              <a:t>HF_ITER()</a:t>
            </a:r>
            <a:r>
              <a:rPr lang="en-US" sz="2000">
                <a:ea typeface="+mn-lt"/>
                <a:cs typeface="+mn-lt"/>
              </a:rPr>
              <a:t> instead of using shared memory like AFL++ (</a:t>
            </a:r>
            <a:r>
              <a:rPr lang="en-US" sz="2000">
                <a:highlight>
                  <a:srgbClr val="C0C0C0"/>
                </a:highlight>
                <a:latin typeface="Arial"/>
                <a:cs typeface="Arial"/>
              </a:rPr>
              <a:t>__AFL_FUZZ_TESTCASE_BUF</a:t>
            </a:r>
            <a:r>
              <a:rPr lang="en-US" sz="2000">
                <a:ea typeface="+mn-lt"/>
                <a:cs typeface="+mn-lt"/>
              </a:rPr>
              <a:t>), which requires an additional </a:t>
            </a:r>
            <a:r>
              <a:rPr lang="en-US" sz="2000" err="1">
                <a:latin typeface="Arial"/>
                <a:cs typeface="Arial"/>
              </a:rPr>
              <a:t>memcpy</a:t>
            </a:r>
            <a:r>
              <a:rPr lang="en-US" sz="2000">
                <a:latin typeface="Arial"/>
                <a:cs typeface="Arial"/>
              </a:rPr>
              <a:t>()</a:t>
            </a:r>
            <a:r>
              <a:rPr lang="en-US" sz="2000">
                <a:ea typeface="+mn-lt"/>
                <a:cs typeface="+mn-lt"/>
              </a:rPr>
              <a:t>.</a:t>
            </a:r>
            <a:endParaRPr lang="en-US" sz="2000"/>
          </a:p>
          <a:p>
            <a:pPr marL="285750" indent="-285750">
              <a:buFont typeface="Arial"/>
              <a:buChar char="•"/>
            </a:pPr>
            <a:r>
              <a:rPr lang="en-US" sz="2000">
                <a:ea typeface="+mn-lt"/>
                <a:cs typeface="+mn-lt"/>
              </a:rPr>
              <a:t>In persistent mode, the loop macro is changed from </a:t>
            </a:r>
            <a:r>
              <a:rPr lang="en-US" sz="2000">
                <a:highlight>
                  <a:srgbClr val="C0C0C0"/>
                </a:highlight>
                <a:latin typeface="Arial"/>
                <a:cs typeface="Arial"/>
              </a:rPr>
              <a:t>__AFL_LOOP</a:t>
            </a:r>
            <a:r>
              <a:rPr lang="en-US" sz="2000">
                <a:ea typeface="+mn-lt"/>
                <a:cs typeface="+mn-lt"/>
              </a:rPr>
              <a:t> to </a:t>
            </a:r>
            <a:r>
              <a:rPr lang="en-US" sz="2000">
                <a:highlight>
                  <a:srgbClr val="C0C0C0"/>
                </a:highlight>
                <a:latin typeface="Arial"/>
                <a:cs typeface="Arial"/>
              </a:rPr>
              <a:t>HF_ITER()</a:t>
            </a:r>
            <a:endParaRPr lang="en-US" sz="2000">
              <a:highlight>
                <a:srgbClr val="C0C0C0"/>
              </a:highlight>
            </a:endParaRPr>
          </a:p>
          <a:p>
            <a:endParaRPr lang="en-US" sz="2000"/>
          </a:p>
          <a:p>
            <a:endParaRPr lang="en-US" sz="2000"/>
          </a:p>
          <a:p>
            <a:r>
              <a:rPr lang="en-US" sz="2000" err="1"/>
              <a:t>Complie</a:t>
            </a:r>
            <a:r>
              <a:rPr lang="en-US" sz="2000"/>
              <a:t> with </a:t>
            </a:r>
            <a:r>
              <a:rPr lang="en-US" sz="2000" err="1"/>
              <a:t>HongFuzz</a:t>
            </a:r>
            <a:r>
              <a:rPr lang="en-US" sz="2000"/>
              <a:t> </a:t>
            </a:r>
            <a:r>
              <a:rPr lang="en-US" sz="2000">
                <a:cs typeface="Arial"/>
              </a:rPr>
              <a:t>Clang </a:t>
            </a:r>
            <a:r>
              <a:rPr lang="en-US" sz="2000"/>
              <a:t> + </a:t>
            </a:r>
            <a:r>
              <a:rPr lang="en-US" sz="2000" err="1"/>
              <a:t>ASan</a:t>
            </a:r>
            <a:r>
              <a:rPr lang="en-US" sz="2000"/>
              <a:t> enable:</a:t>
            </a:r>
          </a:p>
        </p:txBody>
      </p:sp>
    </p:spTree>
    <p:extLst>
      <p:ext uri="{BB962C8B-B14F-4D97-AF65-F5344CB8AC3E}">
        <p14:creationId xmlns:p14="http://schemas.microsoft.com/office/powerpoint/2010/main" val="39519617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7B0A0-7CEC-6363-E149-771950D732B5}"/>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CFC7C79A-BC21-2C5F-B4FF-AC6661461572}"/>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89EB787C-1A5B-D569-7203-D24162F2CEE5}"/>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HongFuzz</a:t>
            </a:r>
            <a:endParaRPr lang="en-US" sz="3200" b="1">
              <a:solidFill>
                <a:schemeClr val="bg1"/>
              </a:solidFill>
            </a:endParaRPr>
          </a:p>
        </p:txBody>
      </p:sp>
      <p:pic>
        <p:nvPicPr>
          <p:cNvPr id="2" name="Picture 1" descr="A black text on a white background&#10;&#10;AI-generated content may be incorrect.">
            <a:extLst>
              <a:ext uri="{FF2B5EF4-FFF2-40B4-BE49-F238E27FC236}">
                <a16:creationId xmlns:a16="http://schemas.microsoft.com/office/drawing/2014/main" id="{32402152-2BB6-81EE-4153-A359DC902303}"/>
              </a:ext>
            </a:extLst>
          </p:cNvPr>
          <p:cNvPicPr>
            <a:picLocks noChangeAspect="1"/>
          </p:cNvPicPr>
          <p:nvPr/>
        </p:nvPicPr>
        <p:blipFill>
          <a:blip r:embed="rId2"/>
          <a:stretch>
            <a:fillRect/>
          </a:stretch>
        </p:blipFill>
        <p:spPr>
          <a:xfrm>
            <a:off x="470903" y="3844990"/>
            <a:ext cx="10525125" cy="619125"/>
          </a:xfrm>
          <a:prstGeom prst="rect">
            <a:avLst/>
          </a:prstGeom>
        </p:spPr>
      </p:pic>
      <p:sp>
        <p:nvSpPr>
          <p:cNvPr id="5" name="TextBox 4">
            <a:extLst>
              <a:ext uri="{FF2B5EF4-FFF2-40B4-BE49-F238E27FC236}">
                <a16:creationId xmlns:a16="http://schemas.microsoft.com/office/drawing/2014/main" id="{89FD7984-0766-4361-7C97-52BB5F6C6805}"/>
              </a:ext>
            </a:extLst>
          </p:cNvPr>
          <p:cNvSpPr txBox="1"/>
          <p:nvPr/>
        </p:nvSpPr>
        <p:spPr>
          <a:xfrm>
            <a:off x="340426" y="906006"/>
            <a:ext cx="1103473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a:p>
          <a:p>
            <a:r>
              <a:rPr lang="en-US" sz="2000">
                <a:ea typeface="+mn-lt"/>
                <a:cs typeface="+mn-lt"/>
              </a:rPr>
              <a:t>The harness for </a:t>
            </a:r>
            <a:r>
              <a:rPr lang="en-US" sz="2000" err="1">
                <a:ea typeface="+mn-lt"/>
                <a:cs typeface="+mn-lt"/>
              </a:rPr>
              <a:t>HonggFuzz</a:t>
            </a:r>
            <a:r>
              <a:rPr lang="en-US" sz="2000">
                <a:ea typeface="+mn-lt"/>
                <a:cs typeface="+mn-lt"/>
              </a:rPr>
              <a:t> is similar to AFL++, with a few differences:</a:t>
            </a:r>
            <a:endParaRPr lang="en-US" sz="2000"/>
          </a:p>
          <a:p>
            <a:endParaRPr lang="en-US" sz="2000">
              <a:ea typeface="+mn-lt"/>
              <a:cs typeface="+mn-lt"/>
            </a:endParaRPr>
          </a:p>
          <a:p>
            <a:pPr marL="285750" indent="-285750">
              <a:buFont typeface="Arial"/>
              <a:buChar char="•"/>
            </a:pPr>
            <a:r>
              <a:rPr lang="en-US" sz="2000" err="1">
                <a:ea typeface="+mn-lt"/>
                <a:cs typeface="+mn-lt"/>
              </a:rPr>
              <a:t>HonggFuzz</a:t>
            </a:r>
            <a:r>
              <a:rPr lang="en-US" sz="2000">
                <a:ea typeface="+mn-lt"/>
                <a:cs typeface="+mn-lt"/>
              </a:rPr>
              <a:t> writes directly into the input buffer via </a:t>
            </a:r>
            <a:r>
              <a:rPr lang="en-US" sz="2000">
                <a:highlight>
                  <a:srgbClr val="C0C0C0"/>
                </a:highlight>
                <a:latin typeface="Arial"/>
                <a:cs typeface="Arial"/>
              </a:rPr>
              <a:t>HF_ITER()</a:t>
            </a:r>
            <a:r>
              <a:rPr lang="en-US" sz="2000">
                <a:ea typeface="+mn-lt"/>
                <a:cs typeface="+mn-lt"/>
              </a:rPr>
              <a:t> instead of using shared memory like AFL++ (</a:t>
            </a:r>
            <a:r>
              <a:rPr lang="en-US" sz="2000">
                <a:highlight>
                  <a:srgbClr val="C0C0C0"/>
                </a:highlight>
                <a:latin typeface="Arial"/>
                <a:cs typeface="Arial"/>
              </a:rPr>
              <a:t>__AFL_FUZZ_TESTCASE_BUF</a:t>
            </a:r>
            <a:r>
              <a:rPr lang="en-US" sz="2000">
                <a:ea typeface="+mn-lt"/>
                <a:cs typeface="+mn-lt"/>
              </a:rPr>
              <a:t>), which requires an additional </a:t>
            </a:r>
            <a:r>
              <a:rPr lang="en-US" sz="2000" err="1">
                <a:latin typeface="Arial"/>
                <a:cs typeface="Arial"/>
              </a:rPr>
              <a:t>memcpy</a:t>
            </a:r>
            <a:r>
              <a:rPr lang="en-US" sz="2000">
                <a:latin typeface="Arial"/>
                <a:cs typeface="Arial"/>
              </a:rPr>
              <a:t>()</a:t>
            </a:r>
            <a:r>
              <a:rPr lang="en-US" sz="2000">
                <a:ea typeface="+mn-lt"/>
                <a:cs typeface="+mn-lt"/>
              </a:rPr>
              <a:t>.</a:t>
            </a:r>
            <a:endParaRPr lang="en-US" sz="2000"/>
          </a:p>
          <a:p>
            <a:pPr marL="285750" indent="-285750">
              <a:buFont typeface="Arial"/>
              <a:buChar char="•"/>
            </a:pPr>
            <a:r>
              <a:rPr lang="en-US" sz="2000">
                <a:ea typeface="+mn-lt"/>
                <a:cs typeface="+mn-lt"/>
              </a:rPr>
              <a:t>In persistent mode, the loop macro is changed from </a:t>
            </a:r>
            <a:r>
              <a:rPr lang="en-US" sz="2000">
                <a:highlight>
                  <a:srgbClr val="C0C0C0"/>
                </a:highlight>
                <a:latin typeface="Arial"/>
                <a:cs typeface="Arial"/>
              </a:rPr>
              <a:t>__AFL_LOOP</a:t>
            </a:r>
            <a:r>
              <a:rPr lang="en-US" sz="2000">
                <a:ea typeface="+mn-lt"/>
                <a:cs typeface="+mn-lt"/>
              </a:rPr>
              <a:t> to </a:t>
            </a:r>
            <a:r>
              <a:rPr lang="en-US" sz="2000">
                <a:highlight>
                  <a:srgbClr val="C0C0C0"/>
                </a:highlight>
                <a:latin typeface="Arial"/>
                <a:cs typeface="Arial"/>
              </a:rPr>
              <a:t>HF_ITER()</a:t>
            </a:r>
            <a:endParaRPr lang="en-US" sz="2000">
              <a:highlight>
                <a:srgbClr val="C0C0C0"/>
              </a:highlight>
            </a:endParaRPr>
          </a:p>
          <a:p>
            <a:endParaRPr lang="en-US" sz="2000"/>
          </a:p>
          <a:p>
            <a:endParaRPr lang="en-US" sz="2000"/>
          </a:p>
          <a:p>
            <a:r>
              <a:rPr lang="en-US" sz="2000" err="1"/>
              <a:t>Complie</a:t>
            </a:r>
            <a:r>
              <a:rPr lang="en-US" sz="2000"/>
              <a:t> with </a:t>
            </a:r>
            <a:r>
              <a:rPr lang="en-US" sz="2000" err="1"/>
              <a:t>HongFuzz</a:t>
            </a:r>
            <a:r>
              <a:rPr lang="en-US" sz="2000"/>
              <a:t> </a:t>
            </a:r>
            <a:r>
              <a:rPr lang="en-US" sz="2000">
                <a:cs typeface="Arial"/>
              </a:rPr>
              <a:t>Clang </a:t>
            </a:r>
            <a:r>
              <a:rPr lang="en-US" sz="2000"/>
              <a:t> + </a:t>
            </a:r>
            <a:r>
              <a:rPr lang="en-US" sz="2000" err="1"/>
              <a:t>ASan</a:t>
            </a:r>
            <a:r>
              <a:rPr lang="en-US" sz="2000"/>
              <a:t> enable:</a:t>
            </a:r>
          </a:p>
        </p:txBody>
      </p:sp>
      <p:sp>
        <p:nvSpPr>
          <p:cNvPr id="8" name="TextBox 7">
            <a:extLst>
              <a:ext uri="{FF2B5EF4-FFF2-40B4-BE49-F238E27FC236}">
                <a16:creationId xmlns:a16="http://schemas.microsoft.com/office/drawing/2014/main" id="{C00A1E4B-6280-D15A-2208-6C3E5C9061AE}"/>
              </a:ext>
            </a:extLst>
          </p:cNvPr>
          <p:cNvSpPr txBox="1"/>
          <p:nvPr/>
        </p:nvSpPr>
        <p:spPr>
          <a:xfrm>
            <a:off x="763386" y="5302129"/>
            <a:ext cx="3036413" cy="646331"/>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-03 optimize </a:t>
            </a:r>
            <a:r>
              <a:rPr lang="en-US">
                <a:ea typeface="+mn-lt"/>
                <a:cs typeface="+mn-lt"/>
              </a:rPr>
              <a:t>the code heavily for performance</a:t>
            </a:r>
            <a:endParaRPr lang="en-US"/>
          </a:p>
        </p:txBody>
      </p:sp>
      <p:cxnSp>
        <p:nvCxnSpPr>
          <p:cNvPr id="10" name="Straight Arrow Connector 9">
            <a:extLst>
              <a:ext uri="{FF2B5EF4-FFF2-40B4-BE49-F238E27FC236}">
                <a16:creationId xmlns:a16="http://schemas.microsoft.com/office/drawing/2014/main" id="{4F2B11ED-ADB7-7B4E-C3B1-AE1DB45EB7E0}"/>
              </a:ext>
            </a:extLst>
          </p:cNvPr>
          <p:cNvCxnSpPr>
            <a:cxnSpLocks/>
          </p:cNvCxnSpPr>
          <p:nvPr/>
        </p:nvCxnSpPr>
        <p:spPr>
          <a:xfrm>
            <a:off x="1740980" y="4283939"/>
            <a:ext cx="300868" cy="99658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CFE0C65-D314-255E-4826-127F6D971651}"/>
              </a:ext>
            </a:extLst>
          </p:cNvPr>
          <p:cNvSpPr/>
          <p:nvPr/>
        </p:nvSpPr>
        <p:spPr>
          <a:xfrm>
            <a:off x="1471063" y="4032794"/>
            <a:ext cx="416573" cy="2398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2F00893E-4593-CF80-0030-FF41D1551352}"/>
              </a:ext>
            </a:extLst>
          </p:cNvPr>
          <p:cNvCxnSpPr>
            <a:cxnSpLocks/>
          </p:cNvCxnSpPr>
          <p:nvPr/>
        </p:nvCxnSpPr>
        <p:spPr>
          <a:xfrm>
            <a:off x="3455479" y="4307750"/>
            <a:ext cx="1050961" cy="81799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B0A17417-C38A-64E9-7E36-657FB54D0E63}"/>
              </a:ext>
            </a:extLst>
          </p:cNvPr>
          <p:cNvSpPr/>
          <p:nvPr/>
        </p:nvSpPr>
        <p:spPr>
          <a:xfrm>
            <a:off x="2006844" y="4032794"/>
            <a:ext cx="1797698" cy="23981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E446FCB-0159-CB07-DE57-59193731BBE8}"/>
              </a:ext>
            </a:extLst>
          </p:cNvPr>
          <p:cNvSpPr txBox="1"/>
          <p:nvPr/>
        </p:nvSpPr>
        <p:spPr>
          <a:xfrm>
            <a:off x="4097136" y="5302128"/>
            <a:ext cx="3036413" cy="369332"/>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Enable </a:t>
            </a:r>
            <a:r>
              <a:rPr lang="en-US" err="1"/>
              <a:t>ASan</a:t>
            </a:r>
            <a:endParaRPr lang="en-US" err="1">
              <a:cs typeface="Arial"/>
            </a:endParaRPr>
          </a:p>
        </p:txBody>
      </p:sp>
    </p:spTree>
    <p:extLst>
      <p:ext uri="{BB962C8B-B14F-4D97-AF65-F5344CB8AC3E}">
        <p14:creationId xmlns:p14="http://schemas.microsoft.com/office/powerpoint/2010/main" val="11898821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590A8-A29B-F4E3-23EF-F9EFFF4F412B}"/>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BC4891CE-6CC5-8318-8753-602C9393C844}"/>
              </a:ext>
            </a:extLst>
          </p:cNvPr>
          <p:cNvSpPr/>
          <p:nvPr/>
        </p:nvSpPr>
        <p:spPr>
          <a:xfrm>
            <a:off x="3102244" y="3260055"/>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E10B0616-9DCB-5CCF-A7E7-C2A4ED006F5C}"/>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HongFuzz</a:t>
            </a:r>
            <a:endParaRPr lang="en-US" sz="3200" b="1">
              <a:solidFill>
                <a:schemeClr val="bg1"/>
              </a:solidFill>
            </a:endParaRPr>
          </a:p>
        </p:txBody>
      </p:sp>
      <p:pic>
        <p:nvPicPr>
          <p:cNvPr id="6" name="Picture 5" descr="A black text on a white background&#10;&#10;AI-generated content may be incorrect.">
            <a:extLst>
              <a:ext uri="{FF2B5EF4-FFF2-40B4-BE49-F238E27FC236}">
                <a16:creationId xmlns:a16="http://schemas.microsoft.com/office/drawing/2014/main" id="{467C21E9-61D6-8CBE-2F36-9B04CE7E20E5}"/>
              </a:ext>
            </a:extLst>
          </p:cNvPr>
          <p:cNvPicPr>
            <a:picLocks noChangeAspect="1"/>
          </p:cNvPicPr>
          <p:nvPr/>
        </p:nvPicPr>
        <p:blipFill>
          <a:blip r:embed="rId2"/>
          <a:stretch>
            <a:fillRect/>
          </a:stretch>
        </p:blipFill>
        <p:spPr>
          <a:xfrm>
            <a:off x="234306" y="2520877"/>
            <a:ext cx="11501887" cy="573953"/>
          </a:xfrm>
          <a:prstGeom prst="rect">
            <a:avLst/>
          </a:prstGeom>
        </p:spPr>
      </p:pic>
    </p:spTree>
    <p:extLst>
      <p:ext uri="{BB962C8B-B14F-4D97-AF65-F5344CB8AC3E}">
        <p14:creationId xmlns:p14="http://schemas.microsoft.com/office/powerpoint/2010/main" val="40843723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7D1AD-AF0D-E654-2344-DE439D3331BF}"/>
            </a:ext>
          </a:extLst>
        </p:cNvPr>
        <p:cNvGrpSpPr/>
        <p:nvPr/>
      </p:nvGrpSpPr>
      <p:grpSpPr>
        <a:xfrm>
          <a:off x="0" y="0"/>
          <a:ext cx="0" cy="0"/>
          <a:chOff x="0" y="0"/>
          <a:chExt cx="0" cy="0"/>
        </a:xfrm>
      </p:grpSpPr>
      <p:sp>
        <p:nvSpPr>
          <p:cNvPr id="310" name="Freeform 1">
            <a:extLst>
              <a:ext uri="{FF2B5EF4-FFF2-40B4-BE49-F238E27FC236}">
                <a16:creationId xmlns:a16="http://schemas.microsoft.com/office/drawing/2014/main" id="{C649B42B-6CFB-EDC8-3383-84FAD763920B}"/>
              </a:ext>
            </a:extLst>
          </p:cNvPr>
          <p:cNvSpPr/>
          <p:nvPr/>
        </p:nvSpPr>
        <p:spPr>
          <a:xfrm>
            <a:off x="3102244" y="3260055"/>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65A7B2A7-8D32-5AE6-CEB9-BABC70F537A0}"/>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HongFuzz</a:t>
            </a:r>
            <a:endParaRPr lang="en-US" sz="3200" b="1">
              <a:solidFill>
                <a:schemeClr val="bg1"/>
              </a:solidFill>
            </a:endParaRPr>
          </a:p>
        </p:txBody>
      </p:sp>
      <p:pic>
        <p:nvPicPr>
          <p:cNvPr id="6" name="Picture 5" descr="A black text on a white background&#10;&#10;AI-generated content may be incorrect.">
            <a:extLst>
              <a:ext uri="{FF2B5EF4-FFF2-40B4-BE49-F238E27FC236}">
                <a16:creationId xmlns:a16="http://schemas.microsoft.com/office/drawing/2014/main" id="{2F50C645-3812-0745-065C-C8882696D692}"/>
              </a:ext>
            </a:extLst>
          </p:cNvPr>
          <p:cNvPicPr>
            <a:picLocks noChangeAspect="1"/>
          </p:cNvPicPr>
          <p:nvPr/>
        </p:nvPicPr>
        <p:blipFill>
          <a:blip r:embed="rId2"/>
          <a:stretch>
            <a:fillRect/>
          </a:stretch>
        </p:blipFill>
        <p:spPr>
          <a:xfrm>
            <a:off x="234306" y="2520877"/>
            <a:ext cx="11501887" cy="573953"/>
          </a:xfrm>
          <a:prstGeom prst="rect">
            <a:avLst/>
          </a:prstGeom>
        </p:spPr>
      </p:pic>
      <p:cxnSp>
        <p:nvCxnSpPr>
          <p:cNvPr id="8" name="Straight Arrow Connector 7">
            <a:extLst>
              <a:ext uri="{FF2B5EF4-FFF2-40B4-BE49-F238E27FC236}">
                <a16:creationId xmlns:a16="http://schemas.microsoft.com/office/drawing/2014/main" id="{9BAC9F94-4B1D-08E1-1EED-BF54E3AA8B10}"/>
              </a:ext>
            </a:extLst>
          </p:cNvPr>
          <p:cNvCxnSpPr>
            <a:cxnSpLocks/>
          </p:cNvCxnSpPr>
          <p:nvPr/>
        </p:nvCxnSpPr>
        <p:spPr>
          <a:xfrm flipH="1">
            <a:off x="4875535" y="3033783"/>
            <a:ext cx="996913" cy="90133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4419805F-ACA7-06C8-A33F-C4D74CBE1B79}"/>
              </a:ext>
            </a:extLst>
          </p:cNvPr>
          <p:cNvSpPr/>
          <p:nvPr/>
        </p:nvSpPr>
        <p:spPr>
          <a:xfrm>
            <a:off x="5477760" y="2649364"/>
            <a:ext cx="2237399" cy="3420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51BAAC3-8C33-90F3-A583-5C0173C6BFAE}"/>
              </a:ext>
            </a:extLst>
          </p:cNvPr>
          <p:cNvSpPr txBox="1"/>
          <p:nvPr/>
        </p:nvSpPr>
        <p:spPr>
          <a:xfrm>
            <a:off x="2942229" y="3980535"/>
            <a:ext cx="2036289" cy="369332"/>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-w for dictionary</a:t>
            </a:r>
            <a:endParaRPr lang="en-US">
              <a:cs typeface="Arial"/>
            </a:endParaRPr>
          </a:p>
        </p:txBody>
      </p:sp>
      <p:sp>
        <p:nvSpPr>
          <p:cNvPr id="13" name="Rectangle 12">
            <a:extLst>
              <a:ext uri="{FF2B5EF4-FFF2-40B4-BE49-F238E27FC236}">
                <a16:creationId xmlns:a16="http://schemas.microsoft.com/office/drawing/2014/main" id="{3E9F4D17-53B0-D0C9-5047-BBB429AF9B7A}"/>
              </a:ext>
            </a:extLst>
          </p:cNvPr>
          <p:cNvSpPr/>
          <p:nvPr/>
        </p:nvSpPr>
        <p:spPr>
          <a:xfrm>
            <a:off x="7799479" y="2649363"/>
            <a:ext cx="915806" cy="34200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99C17382-71D1-C405-AABA-F889D1E9ADB6}"/>
              </a:ext>
            </a:extLst>
          </p:cNvPr>
          <p:cNvCxnSpPr>
            <a:cxnSpLocks/>
          </p:cNvCxnSpPr>
          <p:nvPr/>
        </p:nvCxnSpPr>
        <p:spPr>
          <a:xfrm>
            <a:off x="8313227" y="2998064"/>
            <a:ext cx="3212" cy="85370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CCAAF1F-81FD-890C-476F-06EB09494F6E}"/>
              </a:ext>
            </a:extLst>
          </p:cNvPr>
          <p:cNvSpPr txBox="1"/>
          <p:nvPr/>
        </p:nvSpPr>
        <p:spPr>
          <a:xfrm>
            <a:off x="6990354" y="3980535"/>
            <a:ext cx="2036289" cy="646331"/>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Arial"/>
              </a:rPr>
              <a:t>Run parallel on all CPU Cores</a:t>
            </a:r>
          </a:p>
        </p:txBody>
      </p:sp>
    </p:spTree>
    <p:extLst>
      <p:ext uri="{BB962C8B-B14F-4D97-AF65-F5344CB8AC3E}">
        <p14:creationId xmlns:p14="http://schemas.microsoft.com/office/powerpoint/2010/main" val="191942505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FD3B5-CC44-6D78-8F41-E1834CDBB3A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BAD16B2-8CBC-E960-49B5-B412F5782482}"/>
              </a:ext>
            </a:extLst>
          </p:cNvPr>
          <p:cNvSpPr/>
          <p:nvPr/>
        </p:nvSpPr>
        <p:spPr>
          <a:xfrm>
            <a:off x="91966"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Freeform 1">
            <a:extLst>
              <a:ext uri="{FF2B5EF4-FFF2-40B4-BE49-F238E27FC236}">
                <a16:creationId xmlns:a16="http://schemas.microsoft.com/office/drawing/2014/main" id="{333F3F9E-D29D-E8BA-ED5C-1C054E80F88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76E9558D-53C1-7583-601B-8FE0CD600C04}"/>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ea typeface="Arial"/>
                <a:cs typeface="Arial"/>
              </a:rPr>
              <a:t>3. Dynamic analysis: HongFuzz</a:t>
            </a:r>
            <a:endParaRPr lang="en-US" sz="3200" b="1">
              <a:solidFill>
                <a:schemeClr val="bg1"/>
              </a:solidFill>
            </a:endParaRPr>
          </a:p>
        </p:txBody>
      </p:sp>
      <p:pic>
        <p:nvPicPr>
          <p:cNvPr id="5" name="Picture 4" descr="A screenshot of a computer program&#10;&#10;AI-generated content may be incorrect.">
            <a:extLst>
              <a:ext uri="{FF2B5EF4-FFF2-40B4-BE49-F238E27FC236}">
                <a16:creationId xmlns:a16="http://schemas.microsoft.com/office/drawing/2014/main" id="{30D03C16-7590-F20F-BF19-B41AC6CEDCE9}"/>
              </a:ext>
            </a:extLst>
          </p:cNvPr>
          <p:cNvPicPr>
            <a:picLocks noChangeAspect="1"/>
          </p:cNvPicPr>
          <p:nvPr/>
        </p:nvPicPr>
        <p:blipFill>
          <a:blip r:embed="rId2"/>
          <a:stretch>
            <a:fillRect/>
          </a:stretch>
        </p:blipFill>
        <p:spPr>
          <a:xfrm>
            <a:off x="1096735" y="1145381"/>
            <a:ext cx="8953500" cy="2590800"/>
          </a:xfrm>
          <a:prstGeom prst="rect">
            <a:avLst/>
          </a:prstGeom>
        </p:spPr>
      </p:pic>
      <p:sp>
        <p:nvSpPr>
          <p:cNvPr id="6" name="TextBox 5">
            <a:extLst>
              <a:ext uri="{FF2B5EF4-FFF2-40B4-BE49-F238E27FC236}">
                <a16:creationId xmlns:a16="http://schemas.microsoft.com/office/drawing/2014/main" id="{9DC4C700-13A9-022B-68ED-7C25D1700CA8}"/>
              </a:ext>
            </a:extLst>
          </p:cNvPr>
          <p:cNvSpPr txBox="1"/>
          <p:nvPr/>
        </p:nvSpPr>
        <p:spPr>
          <a:xfrm>
            <a:off x="620826" y="3967843"/>
            <a:ext cx="10957491"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t>Biggest advantage is </a:t>
            </a:r>
            <a:r>
              <a:rPr lang="en-US" sz="2000" b="1">
                <a:solidFill>
                  <a:srgbClr val="FF0000"/>
                </a:solidFill>
              </a:rPr>
              <a:t>speed</a:t>
            </a:r>
            <a:r>
              <a:rPr lang="en-US"/>
              <a:t>. </a:t>
            </a:r>
          </a:p>
          <a:p>
            <a:endParaRPr lang="en-US"/>
          </a:p>
          <a:p>
            <a:pPr marL="285750" indent="-285750">
              <a:buFont typeface="Arial"/>
              <a:buChar char="•"/>
            </a:pPr>
            <a:r>
              <a:rPr lang="en-US"/>
              <a:t>With the same hardware configuration and using the same optimized seed set (from the AFL++ Strategy 3 stage), Honggfuzz achieves an average execution speed of around 185,000 exec/s, which is approximately 3.5 times higher than AFL++ (about 50,000 exec/s).</a:t>
            </a:r>
          </a:p>
          <a:p>
            <a:pPr marL="285750" indent="-285750">
              <a:buFont typeface="Arial"/>
              <a:buChar char="•"/>
            </a:pPr>
            <a:endParaRPr lang="en-US"/>
          </a:p>
          <a:p>
            <a:pPr marL="285750" indent="-285750">
              <a:buFont typeface="Arial"/>
              <a:buChar char="•"/>
            </a:pPr>
            <a:r>
              <a:rPr lang="en-US"/>
              <a:t>The number of unique crashes found is 45, which is equivalent to the result achieved by AFL++ within the same time frame. However, due to its much higher execution speed, </a:t>
            </a:r>
            <a:r>
              <a:rPr lang="en-US" err="1"/>
              <a:t>Honggfuzz</a:t>
            </a:r>
            <a:r>
              <a:rPr lang="en-US"/>
              <a:t> reaches saturation significantly faster.</a:t>
            </a:r>
          </a:p>
          <a:p>
            <a:pPr algn="ctr"/>
            <a:endParaRPr lang="en-US"/>
          </a:p>
        </p:txBody>
      </p:sp>
    </p:spTree>
    <p:extLst>
      <p:ext uri="{BB962C8B-B14F-4D97-AF65-F5344CB8AC3E}">
        <p14:creationId xmlns:p14="http://schemas.microsoft.com/office/powerpoint/2010/main" val="36716800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02532-25D3-449E-CD7F-6AE0F5D0085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EDF06D8-EBF7-4BD8-DB31-5EBEF0312CD0}"/>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1ADABBC-49CE-4852-31B1-E84EAB076C88}"/>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1</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03FC0049-8611-F44C-07ED-EECB3E5A1129}"/>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8B9420DE-1076-48EB-9639-B8536A0CA618}"/>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FFA97DA8-31ED-48F7-2DD3-E6391B47DE28}"/>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FBC35F5E-03D2-DF24-81A9-AD07D41E318F}"/>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4DECC8F5-6424-3FC9-25A1-0C64FBDD7A55}"/>
              </a:ext>
            </a:extLst>
          </p:cNvPr>
          <p:cNvSpPr txBox="1"/>
          <p:nvPr/>
        </p:nvSpPr>
        <p:spPr>
          <a:xfrm>
            <a:off x="161605" y="1329590"/>
            <a:ext cx="7289061" cy="400110"/>
          </a:xfrm>
          <a:prstGeom prst="rect">
            <a:avLst/>
          </a:prstGeom>
          <a:noFill/>
        </p:spPr>
        <p:txBody>
          <a:bodyPr wrap="square" lIns="91440" tIns="45720" rIns="91440" bIns="45720" rtlCol="0" anchor="t">
            <a:spAutoFit/>
          </a:bodyPr>
          <a:lstStyle/>
          <a:p>
            <a:r>
              <a:rPr lang="en-US" sz="2000"/>
              <a:t>Output:</a:t>
            </a:r>
          </a:p>
        </p:txBody>
      </p:sp>
      <p:pic>
        <p:nvPicPr>
          <p:cNvPr id="10" name="Picture 9" descr="A close-up of a computer code&#10;&#10;AI-generated content may be incorrect.">
            <a:extLst>
              <a:ext uri="{FF2B5EF4-FFF2-40B4-BE49-F238E27FC236}">
                <a16:creationId xmlns:a16="http://schemas.microsoft.com/office/drawing/2014/main" id="{6F0409F4-460D-5F5B-93C9-C77FADFE0CDA}"/>
              </a:ext>
            </a:extLst>
          </p:cNvPr>
          <p:cNvPicPr>
            <a:picLocks noChangeAspect="1"/>
          </p:cNvPicPr>
          <p:nvPr/>
        </p:nvPicPr>
        <p:blipFill>
          <a:blip r:embed="rId3"/>
          <a:stretch>
            <a:fillRect/>
          </a:stretch>
        </p:blipFill>
        <p:spPr>
          <a:xfrm>
            <a:off x="273638" y="1828801"/>
            <a:ext cx="7825317" cy="1243660"/>
          </a:xfrm>
          <a:prstGeom prst="rect">
            <a:avLst/>
          </a:prstGeom>
        </p:spPr>
      </p:pic>
      <p:sp>
        <p:nvSpPr>
          <p:cNvPr id="16" name="Rectangle 15">
            <a:extLst>
              <a:ext uri="{FF2B5EF4-FFF2-40B4-BE49-F238E27FC236}">
                <a16:creationId xmlns:a16="http://schemas.microsoft.com/office/drawing/2014/main" id="{3FA8D666-A426-285B-0288-F448B6388026}"/>
              </a:ext>
            </a:extLst>
          </p:cNvPr>
          <p:cNvSpPr/>
          <p:nvPr/>
        </p:nvSpPr>
        <p:spPr>
          <a:xfrm>
            <a:off x="348075" y="2173113"/>
            <a:ext cx="2866520" cy="40844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34850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16A3E-5C1F-921C-F1D3-727E5373D94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A295E6F-9A2E-4C90-9085-42B6DFCB1EF4}"/>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E0ABA5B-2DFB-203C-EC97-263670263EB4}"/>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1</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DB384F06-B28E-1745-B2B4-567DEE74252F}"/>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38264377-F7E9-961C-CC17-BDD3B64D58DD}"/>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92B2E5E1-4579-BD29-CE52-12FAA033DB9F}"/>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B4FA8101-D49C-0FFA-938D-8FE0965FD236}"/>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E60E5884-5BF2-BE7E-B9BB-D856A47FC95E}"/>
              </a:ext>
            </a:extLst>
          </p:cNvPr>
          <p:cNvSpPr txBox="1"/>
          <p:nvPr/>
        </p:nvSpPr>
        <p:spPr>
          <a:xfrm>
            <a:off x="161605" y="1329590"/>
            <a:ext cx="7289061" cy="400110"/>
          </a:xfrm>
          <a:prstGeom prst="rect">
            <a:avLst/>
          </a:prstGeom>
          <a:noFill/>
        </p:spPr>
        <p:txBody>
          <a:bodyPr wrap="square" lIns="91440" tIns="45720" rIns="91440" bIns="45720" rtlCol="0" anchor="t">
            <a:spAutoFit/>
          </a:bodyPr>
          <a:lstStyle/>
          <a:p>
            <a:r>
              <a:rPr lang="en-US" sz="2000"/>
              <a:t>Output:</a:t>
            </a:r>
          </a:p>
        </p:txBody>
      </p:sp>
      <p:pic>
        <p:nvPicPr>
          <p:cNvPr id="10" name="Picture 9" descr="A close-up of a computer code&#10;&#10;AI-generated content may be incorrect.">
            <a:extLst>
              <a:ext uri="{FF2B5EF4-FFF2-40B4-BE49-F238E27FC236}">
                <a16:creationId xmlns:a16="http://schemas.microsoft.com/office/drawing/2014/main" id="{83293D8F-5F37-64B3-0590-E70362185AAD}"/>
              </a:ext>
            </a:extLst>
          </p:cNvPr>
          <p:cNvPicPr>
            <a:picLocks noChangeAspect="1"/>
          </p:cNvPicPr>
          <p:nvPr/>
        </p:nvPicPr>
        <p:blipFill>
          <a:blip r:embed="rId3"/>
          <a:stretch>
            <a:fillRect/>
          </a:stretch>
        </p:blipFill>
        <p:spPr>
          <a:xfrm>
            <a:off x="273638" y="1828801"/>
            <a:ext cx="7825317" cy="1243660"/>
          </a:xfrm>
          <a:prstGeom prst="rect">
            <a:avLst/>
          </a:prstGeom>
        </p:spPr>
      </p:pic>
      <p:pic>
        <p:nvPicPr>
          <p:cNvPr id="13" name="Picture 12" descr="A screenshot of a computer code&#10;&#10;AI-generated content may be incorrect.">
            <a:extLst>
              <a:ext uri="{FF2B5EF4-FFF2-40B4-BE49-F238E27FC236}">
                <a16:creationId xmlns:a16="http://schemas.microsoft.com/office/drawing/2014/main" id="{BC786C4A-9625-A493-573E-916BFCED55D7}"/>
              </a:ext>
            </a:extLst>
          </p:cNvPr>
          <p:cNvPicPr>
            <a:picLocks noChangeAspect="1"/>
          </p:cNvPicPr>
          <p:nvPr/>
        </p:nvPicPr>
        <p:blipFill>
          <a:blip r:embed="rId4"/>
          <a:stretch>
            <a:fillRect/>
          </a:stretch>
        </p:blipFill>
        <p:spPr>
          <a:xfrm>
            <a:off x="274344" y="3216863"/>
            <a:ext cx="7711017" cy="2889015"/>
          </a:xfrm>
          <a:prstGeom prst="rect">
            <a:avLst/>
          </a:prstGeom>
        </p:spPr>
      </p:pic>
    </p:spTree>
    <p:extLst>
      <p:ext uri="{BB962C8B-B14F-4D97-AF65-F5344CB8AC3E}">
        <p14:creationId xmlns:p14="http://schemas.microsoft.com/office/powerpoint/2010/main" val="55564212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48408-7A8D-09C1-2C8C-E46F8944B02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F6DF001-0950-20BE-BC22-93B507571F2D}"/>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14DE8A5-0847-0959-680F-04D25C9EA6B7}"/>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1</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C50CCDAF-C82A-5B47-D444-87BEE4355F37}"/>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644941AB-0287-6D58-36F1-19F6B08A2D29}"/>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FCA8F794-C3B8-C003-3BA3-FA0C4E67FDF4}"/>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66BA8826-0608-7CE8-F248-3F00AEBBE82B}"/>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8947184B-23DA-A26D-072B-9EA66C3F2D63}"/>
              </a:ext>
            </a:extLst>
          </p:cNvPr>
          <p:cNvSpPr txBox="1"/>
          <p:nvPr/>
        </p:nvSpPr>
        <p:spPr>
          <a:xfrm>
            <a:off x="161605" y="1329590"/>
            <a:ext cx="7289061" cy="400110"/>
          </a:xfrm>
          <a:prstGeom prst="rect">
            <a:avLst/>
          </a:prstGeom>
          <a:noFill/>
        </p:spPr>
        <p:txBody>
          <a:bodyPr wrap="square" lIns="91440" tIns="45720" rIns="91440" bIns="45720" rtlCol="0" anchor="t">
            <a:spAutoFit/>
          </a:bodyPr>
          <a:lstStyle/>
          <a:p>
            <a:r>
              <a:rPr lang="en-US" sz="2000"/>
              <a:t>Output:</a:t>
            </a:r>
          </a:p>
        </p:txBody>
      </p:sp>
      <p:pic>
        <p:nvPicPr>
          <p:cNvPr id="10" name="Picture 9" descr="A close-up of a computer code&#10;&#10;AI-generated content may be incorrect.">
            <a:extLst>
              <a:ext uri="{FF2B5EF4-FFF2-40B4-BE49-F238E27FC236}">
                <a16:creationId xmlns:a16="http://schemas.microsoft.com/office/drawing/2014/main" id="{F857D5A6-BBFD-E44F-569A-69964B54D52C}"/>
              </a:ext>
            </a:extLst>
          </p:cNvPr>
          <p:cNvPicPr>
            <a:picLocks noChangeAspect="1"/>
          </p:cNvPicPr>
          <p:nvPr/>
        </p:nvPicPr>
        <p:blipFill>
          <a:blip r:embed="rId3"/>
          <a:stretch>
            <a:fillRect/>
          </a:stretch>
        </p:blipFill>
        <p:spPr>
          <a:xfrm>
            <a:off x="273638" y="1828801"/>
            <a:ext cx="7825317" cy="1243660"/>
          </a:xfrm>
          <a:prstGeom prst="rect">
            <a:avLst/>
          </a:prstGeom>
        </p:spPr>
      </p:pic>
      <p:pic>
        <p:nvPicPr>
          <p:cNvPr id="13" name="Picture 12" descr="A screenshot of a computer code&#10;&#10;AI-generated content may be incorrect.">
            <a:extLst>
              <a:ext uri="{FF2B5EF4-FFF2-40B4-BE49-F238E27FC236}">
                <a16:creationId xmlns:a16="http://schemas.microsoft.com/office/drawing/2014/main" id="{555F77B7-C4EB-4F08-3EAA-72D92B1AEA6B}"/>
              </a:ext>
            </a:extLst>
          </p:cNvPr>
          <p:cNvPicPr>
            <a:picLocks noChangeAspect="1"/>
          </p:cNvPicPr>
          <p:nvPr/>
        </p:nvPicPr>
        <p:blipFill>
          <a:blip r:embed="rId4"/>
          <a:stretch>
            <a:fillRect/>
          </a:stretch>
        </p:blipFill>
        <p:spPr>
          <a:xfrm>
            <a:off x="274344" y="3216863"/>
            <a:ext cx="7711017" cy="2889015"/>
          </a:xfrm>
          <a:prstGeom prst="rect">
            <a:avLst/>
          </a:prstGeom>
        </p:spPr>
      </p:pic>
      <p:sp>
        <p:nvSpPr>
          <p:cNvPr id="14" name="TextBox 13">
            <a:extLst>
              <a:ext uri="{FF2B5EF4-FFF2-40B4-BE49-F238E27FC236}">
                <a16:creationId xmlns:a16="http://schemas.microsoft.com/office/drawing/2014/main" id="{FA57CF80-C033-FB48-D9B8-9C3E9CEF5CDA}"/>
              </a:ext>
            </a:extLst>
          </p:cNvPr>
          <p:cNvSpPr txBox="1"/>
          <p:nvPr/>
        </p:nvSpPr>
        <p:spPr>
          <a:xfrm>
            <a:off x="8098955" y="2027346"/>
            <a:ext cx="3991010" cy="41960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t>According to the results, at line </a:t>
            </a:r>
            <a:r>
              <a:rPr lang="en-US" b="1"/>
              <a:t>643</a:t>
            </a:r>
            <a:r>
              <a:rPr lang="en-US"/>
              <a:t> (</a:t>
            </a:r>
            <a:r>
              <a:rPr lang="en-US">
                <a:highlight>
                  <a:srgbClr val="C0C0C0"/>
                </a:highlight>
              </a:rPr>
              <a:t>if (top &amp;&amp; top-&gt;type == </a:t>
            </a:r>
            <a:r>
              <a:rPr lang="en-US" err="1">
                <a:highlight>
                  <a:srgbClr val="C0C0C0"/>
                </a:highlight>
              </a:rPr>
              <a:t>json_array</a:t>
            </a:r>
            <a:r>
              <a:rPr lang="en-US">
                <a:highlight>
                  <a:srgbClr val="C0C0C0"/>
                </a:highlight>
              </a:rPr>
              <a:t>)</a:t>
            </a:r>
            <a:r>
              <a:rPr lang="en-US"/>
              <a:t>), </a:t>
            </a:r>
          </a:p>
          <a:p>
            <a:pPr>
              <a:lnSpc>
                <a:spcPct val="150000"/>
              </a:lnSpc>
            </a:pPr>
            <a:r>
              <a:rPr lang="en-US"/>
              <a:t>the pointer </a:t>
            </a:r>
            <a:r>
              <a:rPr lang="en-US">
                <a:highlight>
                  <a:srgbClr val="C0C0C0"/>
                </a:highlight>
              </a:rPr>
              <a:t>top</a:t>
            </a:r>
            <a:r>
              <a:rPr lang="en-US"/>
              <a:t> is accessed (the program attempts to read data from this memory region  </a:t>
            </a:r>
            <a:r>
              <a:rPr lang="en-US" i="1">
                <a:highlight>
                  <a:srgbClr val="C0C0C0"/>
                </a:highlight>
              </a:rPr>
              <a:t>READ of size 4 at 0x504000000018, thread T0</a:t>
            </a:r>
            <a:r>
              <a:rPr lang="en-US"/>
              <a:t>).</a:t>
            </a:r>
          </a:p>
          <a:p>
            <a:pPr>
              <a:lnSpc>
                <a:spcPct val="150000"/>
              </a:lnSpc>
            </a:pPr>
            <a:endParaRPr lang="en-US"/>
          </a:p>
          <a:p>
            <a:pPr>
              <a:lnSpc>
                <a:spcPct val="150000"/>
              </a:lnSpc>
            </a:pPr>
            <a:r>
              <a:rPr lang="en-US"/>
              <a:t> However, it had already been freed at line </a:t>
            </a:r>
            <a:r>
              <a:rPr lang="en-US" b="1"/>
              <a:t>137</a:t>
            </a:r>
            <a:r>
              <a:rPr lang="en-US"/>
              <a:t> (</a:t>
            </a:r>
            <a:r>
              <a:rPr lang="en-US">
                <a:highlight>
                  <a:srgbClr val="C0C0C0"/>
                </a:highlight>
              </a:rPr>
              <a:t>free(*top);</a:t>
            </a:r>
            <a:r>
              <a:rPr lang="en-US"/>
              <a:t>), which leads to a </a:t>
            </a:r>
            <a:r>
              <a:rPr lang="en-US" b="1"/>
              <a:t>heap-use-after-free</a:t>
            </a:r>
            <a:r>
              <a:rPr lang="en-US"/>
              <a:t> error.</a:t>
            </a:r>
          </a:p>
        </p:txBody>
      </p:sp>
      <p:sp>
        <p:nvSpPr>
          <p:cNvPr id="7" name="TextBox 6">
            <a:extLst>
              <a:ext uri="{FF2B5EF4-FFF2-40B4-BE49-F238E27FC236}">
                <a16:creationId xmlns:a16="http://schemas.microsoft.com/office/drawing/2014/main" id="{3D659BEB-4EC5-36F9-6BF3-0A9A59946DB5}"/>
              </a:ext>
            </a:extLst>
          </p:cNvPr>
          <p:cNvSpPr txBox="1"/>
          <p:nvPr/>
        </p:nvSpPr>
        <p:spPr>
          <a:xfrm>
            <a:off x="274493" y="6282607"/>
            <a:ext cx="3796589" cy="400110"/>
          </a:xfrm>
          <a:prstGeom prst="rect">
            <a:avLst/>
          </a:prstGeom>
          <a:noFill/>
        </p:spPr>
        <p:txBody>
          <a:bodyPr wrap="square" lIns="91440" tIns="45720" rIns="91440" bIns="45720" rtlCol="0" anchor="t">
            <a:spAutoFit/>
          </a:bodyPr>
          <a:lstStyle/>
          <a:p>
            <a:r>
              <a:rPr lang="en-US" b="1">
                <a:solidFill>
                  <a:srgbClr val="FF0000"/>
                </a:solidFill>
              </a:rPr>
              <a:t>Error 1 found </a:t>
            </a:r>
            <a:r>
              <a:rPr lang="en-US" sz="2000" b="1">
                <a:solidFill>
                  <a:srgbClr val="FF0000"/>
                </a:solidFill>
              </a:rPr>
              <a:t>!</a:t>
            </a:r>
          </a:p>
        </p:txBody>
      </p:sp>
      <p:sp>
        <p:nvSpPr>
          <p:cNvPr id="8" name="Rectangle 7">
            <a:extLst>
              <a:ext uri="{FF2B5EF4-FFF2-40B4-BE49-F238E27FC236}">
                <a16:creationId xmlns:a16="http://schemas.microsoft.com/office/drawing/2014/main" id="{87F00FA7-4120-A81B-4E2D-A8CD866A0E40}"/>
              </a:ext>
            </a:extLst>
          </p:cNvPr>
          <p:cNvSpPr/>
          <p:nvPr/>
        </p:nvSpPr>
        <p:spPr>
          <a:xfrm>
            <a:off x="272817" y="3668891"/>
            <a:ext cx="3910741" cy="2202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88131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37919-7E91-96A2-C2D4-6E315638C58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B004313-B6E9-BFBD-61F1-B947A4B93B8D}"/>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EC1ABA9-2841-4805-CCDE-631075FFCBFA}"/>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2</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F8E6DA2E-FF42-F837-5A27-B625E61321ED}"/>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42CA0E67-8636-0C7E-1A12-E7F6ADCF4AB0}"/>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E1F3965F-8E97-9120-D88A-DE8ACBB9F10A}"/>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DBE41D73-595C-82BB-64A3-9A78718188D1}"/>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DB6D78F1-10B4-FE0F-47F8-889B5C36E22B}"/>
              </a:ext>
            </a:extLst>
          </p:cNvPr>
          <p:cNvSpPr txBox="1"/>
          <p:nvPr/>
        </p:nvSpPr>
        <p:spPr>
          <a:xfrm>
            <a:off x="161605" y="1329590"/>
            <a:ext cx="7289061" cy="400110"/>
          </a:xfrm>
          <a:prstGeom prst="rect">
            <a:avLst/>
          </a:prstGeom>
          <a:noFill/>
        </p:spPr>
        <p:txBody>
          <a:bodyPr wrap="square" lIns="91440" tIns="45720" rIns="91440" bIns="45720" rtlCol="0" anchor="t">
            <a:spAutoFit/>
          </a:bodyPr>
          <a:lstStyle/>
          <a:p>
            <a:r>
              <a:rPr lang="en-US" sz="2000"/>
              <a:t>Output:</a:t>
            </a:r>
          </a:p>
        </p:txBody>
      </p:sp>
      <p:pic>
        <p:nvPicPr>
          <p:cNvPr id="5" name="Picture 4">
            <a:extLst>
              <a:ext uri="{FF2B5EF4-FFF2-40B4-BE49-F238E27FC236}">
                <a16:creationId xmlns:a16="http://schemas.microsoft.com/office/drawing/2014/main" id="{8E580CF5-5A9A-8733-E4ED-B54798B6711D}"/>
              </a:ext>
            </a:extLst>
          </p:cNvPr>
          <p:cNvPicPr>
            <a:picLocks noChangeAspect="1"/>
          </p:cNvPicPr>
          <p:nvPr/>
        </p:nvPicPr>
        <p:blipFill>
          <a:blip r:embed="rId3"/>
          <a:stretch>
            <a:fillRect/>
          </a:stretch>
        </p:blipFill>
        <p:spPr>
          <a:xfrm>
            <a:off x="240889" y="2086269"/>
            <a:ext cx="8568150" cy="1528351"/>
          </a:xfrm>
          <a:prstGeom prst="rect">
            <a:avLst/>
          </a:prstGeom>
        </p:spPr>
      </p:pic>
      <p:sp>
        <p:nvSpPr>
          <p:cNvPr id="15" name="Rectangle 14">
            <a:extLst>
              <a:ext uri="{FF2B5EF4-FFF2-40B4-BE49-F238E27FC236}">
                <a16:creationId xmlns:a16="http://schemas.microsoft.com/office/drawing/2014/main" id="{9F2F5968-CCEC-782E-A81F-29C65FF3B025}"/>
              </a:ext>
            </a:extLst>
          </p:cNvPr>
          <p:cNvSpPr/>
          <p:nvPr/>
        </p:nvSpPr>
        <p:spPr>
          <a:xfrm>
            <a:off x="310446" y="2173113"/>
            <a:ext cx="2904149" cy="1151628"/>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5305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DB059-32F9-0F82-688B-BE370FEA155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D6EA47A-596B-6B4A-954E-26323E8526A5}"/>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42558F5-1ECA-5C7C-5706-24F89DFD981A}"/>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2</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B732EE8B-DB57-82D1-5DEA-89913A6645EE}"/>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C670325C-6D28-57A3-3053-872005142803}"/>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1CCE47AD-637F-23E6-9EB8-FBDD40C7C094}"/>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7AFA28D7-99C2-BBB8-F53B-0D5AF625419E}"/>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CBA1A1EC-262B-6EC5-F9E0-12879F95773F}"/>
              </a:ext>
            </a:extLst>
          </p:cNvPr>
          <p:cNvSpPr txBox="1"/>
          <p:nvPr/>
        </p:nvSpPr>
        <p:spPr>
          <a:xfrm>
            <a:off x="161605" y="1329590"/>
            <a:ext cx="7289061" cy="400110"/>
          </a:xfrm>
          <a:prstGeom prst="rect">
            <a:avLst/>
          </a:prstGeom>
          <a:noFill/>
        </p:spPr>
        <p:txBody>
          <a:bodyPr wrap="square" lIns="91440" tIns="45720" rIns="91440" bIns="45720" rtlCol="0" anchor="t">
            <a:spAutoFit/>
          </a:bodyPr>
          <a:lstStyle/>
          <a:p>
            <a:r>
              <a:rPr lang="en-US" sz="2000"/>
              <a:t>Output:</a:t>
            </a:r>
          </a:p>
        </p:txBody>
      </p:sp>
      <p:pic>
        <p:nvPicPr>
          <p:cNvPr id="5" name="Picture 4">
            <a:extLst>
              <a:ext uri="{FF2B5EF4-FFF2-40B4-BE49-F238E27FC236}">
                <a16:creationId xmlns:a16="http://schemas.microsoft.com/office/drawing/2014/main" id="{E17846A1-F2FE-CC1C-6C28-5EA91DB6678C}"/>
              </a:ext>
            </a:extLst>
          </p:cNvPr>
          <p:cNvPicPr>
            <a:picLocks noChangeAspect="1"/>
          </p:cNvPicPr>
          <p:nvPr/>
        </p:nvPicPr>
        <p:blipFill>
          <a:blip r:embed="rId3"/>
          <a:stretch>
            <a:fillRect/>
          </a:stretch>
        </p:blipFill>
        <p:spPr>
          <a:xfrm>
            <a:off x="240889" y="1860491"/>
            <a:ext cx="7994299" cy="1443685"/>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4C53A066-75B9-0409-C60F-532ABEB18713}"/>
              </a:ext>
            </a:extLst>
          </p:cNvPr>
          <p:cNvPicPr>
            <a:picLocks noChangeAspect="1"/>
          </p:cNvPicPr>
          <p:nvPr/>
        </p:nvPicPr>
        <p:blipFill>
          <a:blip r:embed="rId4"/>
          <a:stretch>
            <a:fillRect/>
          </a:stretch>
        </p:blipFill>
        <p:spPr>
          <a:xfrm>
            <a:off x="278401" y="3534362"/>
            <a:ext cx="7928681" cy="2065867"/>
          </a:xfrm>
          <a:prstGeom prst="rect">
            <a:avLst/>
          </a:prstGeom>
        </p:spPr>
      </p:pic>
      <p:sp>
        <p:nvSpPr>
          <p:cNvPr id="13" name="TextBox 12">
            <a:extLst>
              <a:ext uri="{FF2B5EF4-FFF2-40B4-BE49-F238E27FC236}">
                <a16:creationId xmlns:a16="http://schemas.microsoft.com/office/drawing/2014/main" id="{EC8FD246-838F-A141-05E9-2AD9AE1AA213}"/>
              </a:ext>
            </a:extLst>
          </p:cNvPr>
          <p:cNvSpPr txBox="1"/>
          <p:nvPr/>
        </p:nvSpPr>
        <p:spPr>
          <a:xfrm>
            <a:off x="8223753" y="5106682"/>
            <a:ext cx="3796589" cy="400110"/>
          </a:xfrm>
          <a:prstGeom prst="rect">
            <a:avLst/>
          </a:prstGeom>
          <a:noFill/>
        </p:spPr>
        <p:txBody>
          <a:bodyPr wrap="square" lIns="91440" tIns="45720" rIns="91440" bIns="45720" rtlCol="0" anchor="t">
            <a:spAutoFit/>
          </a:bodyPr>
          <a:lstStyle/>
          <a:p>
            <a:r>
              <a:rPr lang="en-US" b="1">
                <a:solidFill>
                  <a:srgbClr val="FF0000"/>
                </a:solidFill>
              </a:rPr>
              <a:t>Error 2 found </a:t>
            </a:r>
            <a:r>
              <a:rPr lang="en-US" sz="2000" b="1">
                <a:solidFill>
                  <a:srgbClr val="FF0000"/>
                </a:solidFill>
              </a:rPr>
              <a:t>!</a:t>
            </a:r>
          </a:p>
        </p:txBody>
      </p:sp>
      <p:sp>
        <p:nvSpPr>
          <p:cNvPr id="8" name="TextBox 7">
            <a:extLst>
              <a:ext uri="{FF2B5EF4-FFF2-40B4-BE49-F238E27FC236}">
                <a16:creationId xmlns:a16="http://schemas.microsoft.com/office/drawing/2014/main" id="{03BD612B-A9B7-17B2-B36E-B793DAB3D499}"/>
              </a:ext>
            </a:extLst>
          </p:cNvPr>
          <p:cNvSpPr txBox="1"/>
          <p:nvPr/>
        </p:nvSpPr>
        <p:spPr>
          <a:xfrm>
            <a:off x="84667" y="5940777"/>
            <a:ext cx="1201325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0" i="0">
                <a:solidFill>
                  <a:srgbClr val="3B3B3B"/>
                </a:solidFill>
                <a:latin typeface="Arial"/>
                <a:ea typeface="-apple-system"/>
                <a:cs typeface="-apple-system"/>
              </a:rPr>
              <a:t>Error raised in line </a:t>
            </a:r>
            <a:r>
              <a:rPr lang="en-US" sz="2000" b="1" i="0">
                <a:solidFill>
                  <a:srgbClr val="3B3B3B"/>
                </a:solidFill>
                <a:latin typeface="Arial"/>
                <a:ea typeface="-apple-system"/>
                <a:cs typeface="-apple-system"/>
              </a:rPr>
              <a:t>258</a:t>
            </a:r>
            <a:r>
              <a:rPr lang="en-US" sz="2000" b="0" i="0">
                <a:solidFill>
                  <a:srgbClr val="3B3B3B"/>
                </a:solidFill>
                <a:latin typeface="Arial"/>
                <a:ea typeface="-apple-system"/>
                <a:cs typeface="-apple-system"/>
              </a:rPr>
              <a:t> of file </a:t>
            </a:r>
            <a:r>
              <a:rPr lang="en-US" sz="2000" err="1"/>
              <a:t>fuzzgoat.c</a:t>
            </a:r>
            <a:r>
              <a:rPr lang="en-US" sz="2000" b="0" i="0">
                <a:solidFill>
                  <a:srgbClr val="3B3B3B"/>
                </a:solidFill>
                <a:latin typeface="Arial"/>
                <a:ea typeface="-apple-system"/>
                <a:cs typeface="-apple-system"/>
              </a:rPr>
              <a:t>: </a:t>
            </a:r>
            <a:r>
              <a:rPr lang="en-US" sz="2000">
                <a:highlight>
                  <a:srgbClr val="C0C0C0"/>
                </a:highlight>
              </a:rPr>
              <a:t>value = value-&gt;</a:t>
            </a:r>
            <a:r>
              <a:rPr lang="en-US" sz="2000" err="1">
                <a:highlight>
                  <a:srgbClr val="C0C0C0"/>
                </a:highlight>
              </a:rPr>
              <a:t>u.object.values</a:t>
            </a:r>
            <a:r>
              <a:rPr lang="en-US" sz="2000">
                <a:highlight>
                  <a:srgbClr val="C0C0C0"/>
                </a:highlight>
              </a:rPr>
              <a:t> [value-&gt;</a:t>
            </a:r>
            <a:r>
              <a:rPr lang="en-US" sz="2000" err="1">
                <a:highlight>
                  <a:srgbClr val="C0C0C0"/>
                </a:highlight>
              </a:rPr>
              <a:t>u.object.length</a:t>
            </a:r>
            <a:r>
              <a:rPr lang="en-US" sz="2000">
                <a:highlight>
                  <a:srgbClr val="C0C0C0"/>
                </a:highlight>
              </a:rPr>
              <a:t>--].value;</a:t>
            </a:r>
          </a:p>
          <a:p>
            <a:pPr algn="ctr"/>
            <a:endParaRPr lang="en-US" sz="2000"/>
          </a:p>
        </p:txBody>
      </p:sp>
      <p:sp>
        <p:nvSpPr>
          <p:cNvPr id="10" name="Rectangle 9">
            <a:extLst>
              <a:ext uri="{FF2B5EF4-FFF2-40B4-BE49-F238E27FC236}">
                <a16:creationId xmlns:a16="http://schemas.microsoft.com/office/drawing/2014/main" id="{BB7BBA45-382F-63A2-EEF9-6A96F2EA342A}"/>
              </a:ext>
            </a:extLst>
          </p:cNvPr>
          <p:cNvSpPr/>
          <p:nvPr/>
        </p:nvSpPr>
        <p:spPr>
          <a:xfrm>
            <a:off x="282224" y="5023557"/>
            <a:ext cx="7805408" cy="5119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95983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9FCE9-DFCB-B8F6-988E-8E5D353CB66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8EC452F-65A7-685C-EBCF-3BFF2A6F9BF1}"/>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4FC9600-AB34-248F-922D-6C414F59C255}"/>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56374905-5A37-3A0B-53A1-EDCCD2336AB6}"/>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759CD2BF-0B7B-D876-30C7-614DBEBFE08E}"/>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E729F1DA-D77B-8404-8149-677F3F2BC159}"/>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D80601CA-726E-886E-8B4C-C8692F1B15A5}"/>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4931C86A-5960-ABC0-5B3C-E2C7B73680F7}"/>
              </a:ext>
            </a:extLst>
          </p:cNvPr>
          <p:cNvSpPr txBox="1"/>
          <p:nvPr/>
        </p:nvSpPr>
        <p:spPr>
          <a:xfrm>
            <a:off x="171012" y="1207294"/>
            <a:ext cx="7289061" cy="400110"/>
          </a:xfrm>
          <a:prstGeom prst="rect">
            <a:avLst/>
          </a:prstGeom>
          <a:noFill/>
        </p:spPr>
        <p:txBody>
          <a:bodyPr wrap="square" lIns="91440" tIns="45720" rIns="91440" bIns="45720" rtlCol="0" anchor="t">
            <a:spAutoFit/>
          </a:bodyPr>
          <a:lstStyle/>
          <a:p>
            <a:r>
              <a:rPr lang="en-US" sz="2000"/>
              <a:t>Output:</a:t>
            </a:r>
          </a:p>
        </p:txBody>
      </p:sp>
      <p:pic>
        <p:nvPicPr>
          <p:cNvPr id="9" name="Picture 8" descr="A screenshot of a computer code&#10;&#10;AI-generated content may be incorrect.">
            <a:extLst>
              <a:ext uri="{FF2B5EF4-FFF2-40B4-BE49-F238E27FC236}">
                <a16:creationId xmlns:a16="http://schemas.microsoft.com/office/drawing/2014/main" id="{72F737D4-B8FF-4D4A-F40A-98474D30375F}"/>
              </a:ext>
            </a:extLst>
          </p:cNvPr>
          <p:cNvPicPr>
            <a:picLocks noChangeAspect="1"/>
          </p:cNvPicPr>
          <p:nvPr/>
        </p:nvPicPr>
        <p:blipFill>
          <a:blip r:embed="rId3"/>
          <a:stretch>
            <a:fillRect/>
          </a:stretch>
        </p:blipFill>
        <p:spPr>
          <a:xfrm>
            <a:off x="248708" y="1717381"/>
            <a:ext cx="10001250" cy="3724275"/>
          </a:xfrm>
          <a:prstGeom prst="rect">
            <a:avLst/>
          </a:prstGeom>
        </p:spPr>
      </p:pic>
    </p:spTree>
    <p:extLst>
      <p:ext uri="{BB962C8B-B14F-4D97-AF65-F5344CB8AC3E}">
        <p14:creationId xmlns:p14="http://schemas.microsoft.com/office/powerpoint/2010/main" val="41540536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46F99-F792-2E0B-0D4C-66FFBB787F2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3B917F5-A7A1-A509-4B1D-89F7B009B954}"/>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E9A56F7-B2F2-E940-37B8-CA2867B2A596}"/>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0D022673-9A13-74A6-CEA7-96CFA65FD577}"/>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9D32E186-20B0-ED7D-37B5-5E9FA33DDBFF}"/>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09EDB568-F7C4-8B6C-6558-8F64CF835065}"/>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5227CB79-1910-6D83-B8C8-14BF79C3E283}"/>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C7F570A9-4422-1151-2D68-E3649D8B062A}"/>
              </a:ext>
            </a:extLst>
          </p:cNvPr>
          <p:cNvSpPr txBox="1"/>
          <p:nvPr/>
        </p:nvSpPr>
        <p:spPr>
          <a:xfrm>
            <a:off x="171012" y="1207294"/>
            <a:ext cx="7289061" cy="400110"/>
          </a:xfrm>
          <a:prstGeom prst="rect">
            <a:avLst/>
          </a:prstGeom>
          <a:noFill/>
        </p:spPr>
        <p:txBody>
          <a:bodyPr wrap="square" lIns="91440" tIns="45720" rIns="91440" bIns="45720" rtlCol="0" anchor="t">
            <a:spAutoFit/>
          </a:bodyPr>
          <a:lstStyle/>
          <a:p>
            <a:r>
              <a:rPr lang="en-US" sz="2000"/>
              <a:t>Output:</a:t>
            </a:r>
          </a:p>
        </p:txBody>
      </p:sp>
      <p:pic>
        <p:nvPicPr>
          <p:cNvPr id="9" name="Picture 8" descr="A screenshot of a computer code&#10;&#10;AI-generated content may be incorrect.">
            <a:extLst>
              <a:ext uri="{FF2B5EF4-FFF2-40B4-BE49-F238E27FC236}">
                <a16:creationId xmlns:a16="http://schemas.microsoft.com/office/drawing/2014/main" id="{FF4CA05B-DD5E-D176-F12B-308769E73E14}"/>
              </a:ext>
            </a:extLst>
          </p:cNvPr>
          <p:cNvPicPr>
            <a:picLocks noChangeAspect="1"/>
          </p:cNvPicPr>
          <p:nvPr/>
        </p:nvPicPr>
        <p:blipFill>
          <a:blip r:embed="rId3"/>
          <a:stretch>
            <a:fillRect/>
          </a:stretch>
        </p:blipFill>
        <p:spPr>
          <a:xfrm>
            <a:off x="248708" y="1717381"/>
            <a:ext cx="10001250" cy="3724275"/>
          </a:xfrm>
          <a:prstGeom prst="rect">
            <a:avLst/>
          </a:prstGeom>
        </p:spPr>
      </p:pic>
      <p:sp>
        <p:nvSpPr>
          <p:cNvPr id="7" name="Rectangle 6">
            <a:extLst>
              <a:ext uri="{FF2B5EF4-FFF2-40B4-BE49-F238E27FC236}">
                <a16:creationId xmlns:a16="http://schemas.microsoft.com/office/drawing/2014/main" id="{FBF27AA5-F5E0-C425-13D6-4E27C1BC0191}"/>
              </a:ext>
            </a:extLst>
          </p:cNvPr>
          <p:cNvSpPr/>
          <p:nvPr/>
        </p:nvSpPr>
        <p:spPr>
          <a:xfrm>
            <a:off x="298541" y="2089770"/>
            <a:ext cx="4320991" cy="1365940"/>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792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02705-5157-EC32-9BFA-1187C7BE429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9CBF5C1-C837-6727-AE3D-D90883C646EB}"/>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8E9A07B-2BD7-5BBB-A484-7FCAAE7185EF}"/>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292C0DBA-9005-C692-C133-CF57898AD7BE}"/>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50D4A7D4-9889-9F4F-95EC-B22A5364BF97}"/>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2D93E58E-19A5-9ECE-5285-EC2C185F92AD}"/>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BB5202DB-0A55-52FE-B1C5-87E9BBD49A2A}"/>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pic>
        <p:nvPicPr>
          <p:cNvPr id="5" name="Picture 4" descr="A screenshot of a computer code&#10;&#10;AI-generated content may be incorrect.">
            <a:extLst>
              <a:ext uri="{FF2B5EF4-FFF2-40B4-BE49-F238E27FC236}">
                <a16:creationId xmlns:a16="http://schemas.microsoft.com/office/drawing/2014/main" id="{2954BCA7-69AC-95E8-CBAF-96508FC1CACF}"/>
              </a:ext>
            </a:extLst>
          </p:cNvPr>
          <p:cNvPicPr>
            <a:picLocks noChangeAspect="1"/>
          </p:cNvPicPr>
          <p:nvPr/>
        </p:nvPicPr>
        <p:blipFill>
          <a:blip r:embed="rId3"/>
          <a:stretch>
            <a:fillRect/>
          </a:stretch>
        </p:blipFill>
        <p:spPr>
          <a:xfrm>
            <a:off x="289214" y="1813214"/>
            <a:ext cx="8120444" cy="4665133"/>
          </a:xfrm>
          <a:prstGeom prst="rect">
            <a:avLst/>
          </a:prstGeom>
        </p:spPr>
      </p:pic>
      <p:sp>
        <p:nvSpPr>
          <p:cNvPr id="8" name="TextBox 7">
            <a:extLst>
              <a:ext uri="{FF2B5EF4-FFF2-40B4-BE49-F238E27FC236}">
                <a16:creationId xmlns:a16="http://schemas.microsoft.com/office/drawing/2014/main" id="{E663F561-97A0-884E-4349-FFEFFD84EB97}"/>
              </a:ext>
            </a:extLst>
          </p:cNvPr>
          <p:cNvSpPr txBox="1"/>
          <p:nvPr/>
        </p:nvSpPr>
        <p:spPr>
          <a:xfrm>
            <a:off x="293874" y="1312615"/>
            <a:ext cx="7092604" cy="400110"/>
          </a:xfrm>
          <a:prstGeom prst="rect">
            <a:avLst/>
          </a:prstGeom>
          <a:noFill/>
        </p:spPr>
        <p:txBody>
          <a:bodyPr wrap="square" lIns="91440" tIns="45720" rIns="91440" bIns="45720" rtlCol="0" anchor="t">
            <a:spAutoFit/>
          </a:bodyPr>
          <a:lstStyle/>
          <a:p>
            <a:r>
              <a:rPr lang="en-US" sz="2000"/>
              <a:t>Then we use </a:t>
            </a:r>
            <a:r>
              <a:rPr lang="en-US" sz="2000">
                <a:highlight>
                  <a:srgbClr val="C0C0C0"/>
                </a:highlight>
              </a:rPr>
              <a:t>(</a:t>
            </a:r>
            <a:r>
              <a:rPr lang="en-US" sz="2000" err="1">
                <a:highlight>
                  <a:srgbClr val="C0C0C0"/>
                </a:highlight>
              </a:rPr>
              <a:t>gdb</a:t>
            </a:r>
            <a:r>
              <a:rPr lang="en-US" sz="2000">
                <a:highlight>
                  <a:srgbClr val="C0C0C0"/>
                </a:highlight>
              </a:rPr>
              <a:t>) </a:t>
            </a:r>
            <a:r>
              <a:rPr lang="en-US" sz="2000" err="1">
                <a:highlight>
                  <a:srgbClr val="C0C0C0"/>
                </a:highlight>
              </a:rPr>
              <a:t>bt</a:t>
            </a:r>
            <a:r>
              <a:rPr lang="en-US" sz="2000"/>
              <a:t> to see all the error frames:</a:t>
            </a:r>
          </a:p>
        </p:txBody>
      </p:sp>
    </p:spTree>
    <p:extLst>
      <p:ext uri="{BB962C8B-B14F-4D97-AF65-F5344CB8AC3E}">
        <p14:creationId xmlns:p14="http://schemas.microsoft.com/office/powerpoint/2010/main" val="42774150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44B08-B51F-0110-2AF6-35E0CAD431A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2F40B39-44BF-781C-C948-9DCE45C6C279}"/>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CEBB3DE-ECB6-3AAE-4F5A-A7163E22394C}"/>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9C88F62A-A06E-9755-7D53-792D9A49638E}"/>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6BC36F13-2F10-61EA-C602-BDFFB3F8F309}"/>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9786FD02-73BE-BE2B-A879-008B4E8CECB3}"/>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284BDDC1-C1A4-5732-8ACD-C65FA910C671}"/>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pic>
        <p:nvPicPr>
          <p:cNvPr id="5" name="Picture 4" descr="A screenshot of a computer code&#10;&#10;AI-generated content may be incorrect.">
            <a:extLst>
              <a:ext uri="{FF2B5EF4-FFF2-40B4-BE49-F238E27FC236}">
                <a16:creationId xmlns:a16="http://schemas.microsoft.com/office/drawing/2014/main" id="{550D97E3-CFF0-0A8C-6967-DAC8F2B4C186}"/>
              </a:ext>
            </a:extLst>
          </p:cNvPr>
          <p:cNvPicPr>
            <a:picLocks noChangeAspect="1"/>
          </p:cNvPicPr>
          <p:nvPr/>
        </p:nvPicPr>
        <p:blipFill>
          <a:blip r:embed="rId3"/>
          <a:stretch>
            <a:fillRect/>
          </a:stretch>
        </p:blipFill>
        <p:spPr>
          <a:xfrm>
            <a:off x="289214" y="1813214"/>
            <a:ext cx="8120444" cy="4665133"/>
          </a:xfrm>
          <a:prstGeom prst="rect">
            <a:avLst/>
          </a:prstGeom>
        </p:spPr>
      </p:pic>
      <p:sp>
        <p:nvSpPr>
          <p:cNvPr id="8" name="TextBox 7">
            <a:extLst>
              <a:ext uri="{FF2B5EF4-FFF2-40B4-BE49-F238E27FC236}">
                <a16:creationId xmlns:a16="http://schemas.microsoft.com/office/drawing/2014/main" id="{740D56C2-5226-981F-16AF-4D1EE302FB63}"/>
              </a:ext>
            </a:extLst>
          </p:cNvPr>
          <p:cNvSpPr txBox="1"/>
          <p:nvPr/>
        </p:nvSpPr>
        <p:spPr>
          <a:xfrm>
            <a:off x="293874" y="1312615"/>
            <a:ext cx="7092604" cy="400110"/>
          </a:xfrm>
          <a:prstGeom prst="rect">
            <a:avLst/>
          </a:prstGeom>
          <a:noFill/>
        </p:spPr>
        <p:txBody>
          <a:bodyPr wrap="square" lIns="91440" tIns="45720" rIns="91440" bIns="45720" rtlCol="0" anchor="t">
            <a:spAutoFit/>
          </a:bodyPr>
          <a:lstStyle/>
          <a:p>
            <a:r>
              <a:rPr lang="en-US" sz="2000"/>
              <a:t>Then we use </a:t>
            </a:r>
            <a:r>
              <a:rPr lang="en-US" sz="2000">
                <a:highlight>
                  <a:srgbClr val="C0C0C0"/>
                </a:highlight>
              </a:rPr>
              <a:t>(</a:t>
            </a:r>
            <a:r>
              <a:rPr lang="en-US" sz="2000" err="1">
                <a:highlight>
                  <a:srgbClr val="C0C0C0"/>
                </a:highlight>
              </a:rPr>
              <a:t>gdb</a:t>
            </a:r>
            <a:r>
              <a:rPr lang="en-US" sz="2000">
                <a:highlight>
                  <a:srgbClr val="C0C0C0"/>
                </a:highlight>
              </a:rPr>
              <a:t>) </a:t>
            </a:r>
            <a:r>
              <a:rPr lang="en-US" sz="2000" err="1">
                <a:highlight>
                  <a:srgbClr val="C0C0C0"/>
                </a:highlight>
              </a:rPr>
              <a:t>bt</a:t>
            </a:r>
            <a:r>
              <a:rPr lang="en-US" sz="2000"/>
              <a:t> to see all the error frames:</a:t>
            </a:r>
          </a:p>
        </p:txBody>
      </p:sp>
      <p:sp>
        <p:nvSpPr>
          <p:cNvPr id="7" name="Rectangle 6">
            <a:extLst>
              <a:ext uri="{FF2B5EF4-FFF2-40B4-BE49-F238E27FC236}">
                <a16:creationId xmlns:a16="http://schemas.microsoft.com/office/drawing/2014/main" id="{08B6BDF9-A79B-5A0E-D3F4-6FF73575B564}"/>
              </a:ext>
            </a:extLst>
          </p:cNvPr>
          <p:cNvSpPr/>
          <p:nvPr/>
        </p:nvSpPr>
        <p:spPr>
          <a:xfrm>
            <a:off x="298540" y="5530676"/>
            <a:ext cx="6749867" cy="38962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05882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381A6-3978-C5AA-DD5A-0D05E2CD54F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F04BAC8-77D2-0C79-4625-95D294321469}"/>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29CB9BF-BA6E-17AE-8A77-5C26E075C35E}"/>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5AFCCA65-C04D-7442-BE95-47E2990427FA}"/>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AC5EB1D6-8A3C-126D-1871-D4C251046929}"/>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E11DE75C-1353-8BF2-0863-B4056FF200E2}"/>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3821F95C-90BA-175C-8E95-FFAEC4376DF2}"/>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8" name="TextBox 7">
            <a:extLst>
              <a:ext uri="{FF2B5EF4-FFF2-40B4-BE49-F238E27FC236}">
                <a16:creationId xmlns:a16="http://schemas.microsoft.com/office/drawing/2014/main" id="{68528A9C-015A-C498-21DE-EDD16D6D4AED}"/>
              </a:ext>
            </a:extLst>
          </p:cNvPr>
          <p:cNvSpPr txBox="1"/>
          <p:nvPr/>
        </p:nvSpPr>
        <p:spPr>
          <a:xfrm>
            <a:off x="293874" y="1312615"/>
            <a:ext cx="11855103" cy="719792"/>
          </a:xfrm>
          <a:prstGeom prst="rect">
            <a:avLst/>
          </a:prstGeom>
          <a:noFill/>
        </p:spPr>
        <p:txBody>
          <a:bodyPr wrap="square" lIns="91440" tIns="45720" rIns="91440" bIns="45720" rtlCol="0" anchor="t">
            <a:spAutoFit/>
          </a:bodyPr>
          <a:lstStyle/>
          <a:p>
            <a:r>
              <a:rPr lang="en-US" sz="2000"/>
              <a:t>The error occurs in the function </a:t>
            </a:r>
            <a:r>
              <a:rPr lang="en-US" err="1">
                <a:highlight>
                  <a:srgbClr val="C0C0C0"/>
                </a:highlight>
              </a:rPr>
              <a:t>json_value_free_ex</a:t>
            </a:r>
            <a:r>
              <a:rPr lang="en-US" sz="2000"/>
              <a:t> at line 302 of the file </a:t>
            </a:r>
            <a:r>
              <a:rPr lang="en-US" err="1"/>
              <a:t>fuzzgoat.c</a:t>
            </a:r>
            <a:r>
              <a:rPr lang="en-US" sz="2000"/>
              <a:t>. Set a breakpoint at this location:</a:t>
            </a:r>
          </a:p>
        </p:txBody>
      </p:sp>
      <p:pic>
        <p:nvPicPr>
          <p:cNvPr id="4" name="Picture 3" descr="A black text with black text&#10;&#10;AI-generated content may be incorrect.">
            <a:extLst>
              <a:ext uri="{FF2B5EF4-FFF2-40B4-BE49-F238E27FC236}">
                <a16:creationId xmlns:a16="http://schemas.microsoft.com/office/drawing/2014/main" id="{2FB011E5-8441-139C-7763-DACCB25E318F}"/>
              </a:ext>
            </a:extLst>
          </p:cNvPr>
          <p:cNvPicPr>
            <a:picLocks noChangeAspect="1"/>
          </p:cNvPicPr>
          <p:nvPr/>
        </p:nvPicPr>
        <p:blipFill>
          <a:blip r:embed="rId3"/>
          <a:srcRect t="-645" r="4986"/>
          <a:stretch>
            <a:fillRect/>
          </a:stretch>
        </p:blipFill>
        <p:spPr>
          <a:xfrm>
            <a:off x="484423" y="2038896"/>
            <a:ext cx="4081584" cy="575187"/>
          </a:xfrm>
          <a:prstGeom prst="rect">
            <a:avLst/>
          </a:prstGeom>
        </p:spPr>
      </p:pic>
      <p:pic>
        <p:nvPicPr>
          <p:cNvPr id="7" name="Picture 6" descr="A screenshot of a computer program&#10;&#10;AI-generated content may be incorrect.">
            <a:extLst>
              <a:ext uri="{FF2B5EF4-FFF2-40B4-BE49-F238E27FC236}">
                <a16:creationId xmlns:a16="http://schemas.microsoft.com/office/drawing/2014/main" id="{D91AC429-9CBF-7DF6-5170-1ABC2FEF2325}"/>
              </a:ext>
            </a:extLst>
          </p:cNvPr>
          <p:cNvPicPr>
            <a:picLocks noChangeAspect="1"/>
          </p:cNvPicPr>
          <p:nvPr/>
        </p:nvPicPr>
        <p:blipFill>
          <a:blip r:embed="rId4"/>
          <a:stretch>
            <a:fillRect/>
          </a:stretch>
        </p:blipFill>
        <p:spPr>
          <a:xfrm>
            <a:off x="482718" y="2668794"/>
            <a:ext cx="9316862" cy="3804944"/>
          </a:xfrm>
          <a:prstGeom prst="rect">
            <a:avLst/>
          </a:prstGeom>
        </p:spPr>
      </p:pic>
    </p:spTree>
    <p:extLst>
      <p:ext uri="{BB962C8B-B14F-4D97-AF65-F5344CB8AC3E}">
        <p14:creationId xmlns:p14="http://schemas.microsoft.com/office/powerpoint/2010/main" val="9688777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9DA36-9474-3CFF-AFE9-8E9F1EEBBF7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9215643-0C3D-CB0A-FD6E-8FBA1E1197BC}"/>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718DED78-BD1E-7947-61F6-B9B7DCE9F845}"/>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0C4BBF2F-1CAE-9CF7-5182-016ECDE87E5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BB916098-1D94-7FC5-504C-3FE9D28812A6}"/>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A3B41DBD-B46A-D6FC-F28D-698B2E552A6E}"/>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568FC9FE-DF38-A2EA-E386-46EC93303F7D}"/>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8" name="TextBox 7">
            <a:extLst>
              <a:ext uri="{FF2B5EF4-FFF2-40B4-BE49-F238E27FC236}">
                <a16:creationId xmlns:a16="http://schemas.microsoft.com/office/drawing/2014/main" id="{3F2EBBDC-6526-FA08-AF62-DBAA9499470F}"/>
              </a:ext>
            </a:extLst>
          </p:cNvPr>
          <p:cNvSpPr txBox="1"/>
          <p:nvPr/>
        </p:nvSpPr>
        <p:spPr>
          <a:xfrm>
            <a:off x="293874" y="1312615"/>
            <a:ext cx="11166011" cy="707886"/>
          </a:xfrm>
          <a:prstGeom prst="rect">
            <a:avLst/>
          </a:prstGeom>
          <a:noFill/>
        </p:spPr>
        <p:txBody>
          <a:bodyPr wrap="square" lIns="91440" tIns="45720" rIns="91440" bIns="45720" rtlCol="0" anchor="t">
            <a:spAutoFit/>
          </a:bodyPr>
          <a:lstStyle/>
          <a:p>
            <a:r>
              <a:rPr lang="en-US" sz="2000"/>
              <a:t>The PC is currently stopped at the beginning of the </a:t>
            </a:r>
            <a:r>
              <a:rPr lang="en-US" err="1">
                <a:highlight>
                  <a:srgbClr val="C0C0C0"/>
                </a:highlight>
              </a:rPr>
              <a:t>json_value_free_ex</a:t>
            </a:r>
            <a:r>
              <a:rPr lang="en-US" sz="2000">
                <a:highlight>
                  <a:srgbClr val="C0C0C0"/>
                </a:highlight>
              </a:rPr>
              <a:t> </a:t>
            </a:r>
            <a:r>
              <a:rPr lang="en-US" sz="2000"/>
              <a:t>function, where we set the breakpoint. As in the C source code:</a:t>
            </a:r>
          </a:p>
        </p:txBody>
      </p:sp>
      <p:pic>
        <p:nvPicPr>
          <p:cNvPr id="5" name="Picture 4" descr="A screenshot of a computer code&#10;&#10;AI-generated content may be incorrect.">
            <a:extLst>
              <a:ext uri="{FF2B5EF4-FFF2-40B4-BE49-F238E27FC236}">
                <a16:creationId xmlns:a16="http://schemas.microsoft.com/office/drawing/2014/main" id="{1107D2D5-5276-4493-1612-0B837D30D325}"/>
              </a:ext>
            </a:extLst>
          </p:cNvPr>
          <p:cNvPicPr>
            <a:picLocks noChangeAspect="1"/>
          </p:cNvPicPr>
          <p:nvPr/>
        </p:nvPicPr>
        <p:blipFill>
          <a:blip r:embed="rId3"/>
          <a:stretch>
            <a:fillRect/>
          </a:stretch>
        </p:blipFill>
        <p:spPr>
          <a:xfrm>
            <a:off x="401285" y="2026268"/>
            <a:ext cx="7437144" cy="4335051"/>
          </a:xfrm>
          <a:prstGeom prst="rect">
            <a:avLst/>
          </a:prstGeom>
        </p:spPr>
      </p:pic>
      <p:sp>
        <p:nvSpPr>
          <p:cNvPr id="13" name="Rectangle 2">
            <a:extLst>
              <a:ext uri="{FF2B5EF4-FFF2-40B4-BE49-F238E27FC236}">
                <a16:creationId xmlns:a16="http://schemas.microsoft.com/office/drawing/2014/main" id="{C6237381-C221-15DA-BFC3-A2C861C5C15C}"/>
              </a:ext>
            </a:extLst>
          </p:cNvPr>
          <p:cNvSpPr>
            <a:spLocks noChangeArrowheads="1"/>
          </p:cNvSpPr>
          <p:nvPr/>
        </p:nvSpPr>
        <p:spPr bwMode="auto">
          <a:xfrm>
            <a:off x="0" y="136267"/>
            <a:ext cx="20550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chemeClr val="tx1"/>
                </a:solidFill>
                <a:effectLst/>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07814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A920F-D4AE-2092-5BB4-7C9F4CA51C6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29A6A88-A5E6-F6C3-1F7C-0333A91B4000}"/>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682506D2-C78E-1C82-53CC-E278610D1039}"/>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8D1EF796-79CE-99BB-A823-41406F296D34}"/>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F13129D0-DBFE-507D-2721-A176DE26D658}"/>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EE7F6617-30C2-13E8-7CCD-AC1CA0A3C17B}"/>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4F54ADC3-8269-D7F7-FDE9-04DBE069272C}"/>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8" name="TextBox 7">
            <a:extLst>
              <a:ext uri="{FF2B5EF4-FFF2-40B4-BE49-F238E27FC236}">
                <a16:creationId xmlns:a16="http://schemas.microsoft.com/office/drawing/2014/main" id="{2F1F9BED-D703-E85B-2638-5DED885D8268}"/>
              </a:ext>
            </a:extLst>
          </p:cNvPr>
          <p:cNvSpPr txBox="1"/>
          <p:nvPr/>
        </p:nvSpPr>
        <p:spPr>
          <a:xfrm>
            <a:off x="293874" y="1312615"/>
            <a:ext cx="11166011" cy="707886"/>
          </a:xfrm>
          <a:prstGeom prst="rect">
            <a:avLst/>
          </a:prstGeom>
          <a:noFill/>
        </p:spPr>
        <p:txBody>
          <a:bodyPr wrap="square" lIns="91440" tIns="45720" rIns="91440" bIns="45720" rtlCol="0" anchor="t">
            <a:spAutoFit/>
          </a:bodyPr>
          <a:lstStyle/>
          <a:p>
            <a:r>
              <a:rPr lang="en-US" sz="2000"/>
              <a:t>The PC is currently stopped at the beginning of the </a:t>
            </a:r>
            <a:r>
              <a:rPr lang="en-US" err="1">
                <a:highlight>
                  <a:srgbClr val="C0C0C0"/>
                </a:highlight>
              </a:rPr>
              <a:t>json_value_free_ex</a:t>
            </a:r>
            <a:r>
              <a:rPr lang="en-US" sz="2000">
                <a:highlight>
                  <a:srgbClr val="C0C0C0"/>
                </a:highlight>
              </a:rPr>
              <a:t> </a:t>
            </a:r>
            <a:r>
              <a:rPr lang="en-US" sz="2000"/>
              <a:t>function, where we set the breakpoint. As in the C source code:</a:t>
            </a:r>
          </a:p>
        </p:txBody>
      </p:sp>
      <p:pic>
        <p:nvPicPr>
          <p:cNvPr id="5" name="Picture 4" descr="A screenshot of a computer code&#10;&#10;AI-generated content may be incorrect.">
            <a:extLst>
              <a:ext uri="{FF2B5EF4-FFF2-40B4-BE49-F238E27FC236}">
                <a16:creationId xmlns:a16="http://schemas.microsoft.com/office/drawing/2014/main" id="{C053037E-19C8-BAD6-77CD-9C26F9FF0593}"/>
              </a:ext>
            </a:extLst>
          </p:cNvPr>
          <p:cNvPicPr>
            <a:picLocks noChangeAspect="1"/>
          </p:cNvPicPr>
          <p:nvPr/>
        </p:nvPicPr>
        <p:blipFill>
          <a:blip r:embed="rId3"/>
          <a:stretch>
            <a:fillRect/>
          </a:stretch>
        </p:blipFill>
        <p:spPr>
          <a:xfrm>
            <a:off x="401285" y="2026268"/>
            <a:ext cx="7437144" cy="4335051"/>
          </a:xfrm>
          <a:prstGeom prst="rect">
            <a:avLst/>
          </a:prstGeom>
        </p:spPr>
      </p:pic>
      <p:sp>
        <p:nvSpPr>
          <p:cNvPr id="9" name="TextBox 8">
            <a:extLst>
              <a:ext uri="{FF2B5EF4-FFF2-40B4-BE49-F238E27FC236}">
                <a16:creationId xmlns:a16="http://schemas.microsoft.com/office/drawing/2014/main" id="{EE41CFF7-1951-A21D-506F-766845981035}"/>
              </a:ext>
            </a:extLst>
          </p:cNvPr>
          <p:cNvSpPr txBox="1"/>
          <p:nvPr/>
        </p:nvSpPr>
        <p:spPr>
          <a:xfrm>
            <a:off x="8236314" y="2717864"/>
            <a:ext cx="3228996" cy="2118529"/>
          </a:xfrm>
          <a:prstGeom prst="rect">
            <a:avLst/>
          </a:prstGeom>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t>Because </a:t>
            </a:r>
            <a:r>
              <a:rPr lang="en-US">
                <a:highlight>
                  <a:srgbClr val="C0C0C0"/>
                </a:highlight>
              </a:rPr>
              <a:t>value</a:t>
            </a:r>
            <a:r>
              <a:rPr lang="en-US"/>
              <a:t> is only a pointer to a shared data structure -&gt; need to track its internal components to find which case it is pointing to</a:t>
            </a:r>
          </a:p>
        </p:txBody>
      </p:sp>
      <p:sp>
        <p:nvSpPr>
          <p:cNvPr id="13" name="Rectangle 2">
            <a:extLst>
              <a:ext uri="{FF2B5EF4-FFF2-40B4-BE49-F238E27FC236}">
                <a16:creationId xmlns:a16="http://schemas.microsoft.com/office/drawing/2014/main" id="{E193EF20-F224-A756-5850-0F0B2CD00C07}"/>
              </a:ext>
            </a:extLst>
          </p:cNvPr>
          <p:cNvSpPr>
            <a:spLocks noChangeArrowheads="1"/>
          </p:cNvSpPr>
          <p:nvPr/>
        </p:nvSpPr>
        <p:spPr bwMode="auto">
          <a:xfrm>
            <a:off x="0" y="136267"/>
            <a:ext cx="205505"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a:ln>
                  <a:noFill/>
                </a:ln>
                <a:solidFill>
                  <a:schemeClr val="tx1"/>
                </a:solidFill>
                <a:effectLst/>
              </a:rPr>
              <a:t>:</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8224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3D1EA-058B-BFAF-C104-6DBE881B905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EBE76BB-D462-673A-480A-2B82459CBD3F}"/>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3D51E58-7681-CD6D-7B8A-DA08B1AE4134}"/>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8B5D42B3-028E-5B7D-BA59-8F89AF30BE67}"/>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8B1C8065-C397-679A-E535-ABCDDCFB2A50}"/>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C6B06D6B-1D59-55B3-651A-0AE3A9D942D7}"/>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288122A0-B9A8-6687-4B4C-8344D1425DDF}"/>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8" name="TextBox 7">
            <a:extLst>
              <a:ext uri="{FF2B5EF4-FFF2-40B4-BE49-F238E27FC236}">
                <a16:creationId xmlns:a16="http://schemas.microsoft.com/office/drawing/2014/main" id="{48CA2B61-6ED1-6F9C-F4BB-9646C484552F}"/>
              </a:ext>
            </a:extLst>
          </p:cNvPr>
          <p:cNvSpPr txBox="1"/>
          <p:nvPr/>
        </p:nvSpPr>
        <p:spPr>
          <a:xfrm>
            <a:off x="293874" y="1312615"/>
            <a:ext cx="11166011" cy="400110"/>
          </a:xfrm>
          <a:prstGeom prst="rect">
            <a:avLst/>
          </a:prstGeom>
          <a:noFill/>
        </p:spPr>
        <p:txBody>
          <a:bodyPr wrap="square" lIns="91440" tIns="45720" rIns="91440" bIns="45720" rtlCol="0" anchor="t">
            <a:spAutoFit/>
          </a:bodyPr>
          <a:lstStyle/>
          <a:p>
            <a:r>
              <a:rPr lang="en-US" sz="2000"/>
              <a:t>Check which case </a:t>
            </a:r>
            <a:r>
              <a:rPr lang="en-US"/>
              <a:t>value</a:t>
            </a:r>
            <a:r>
              <a:rPr lang="en-US" sz="2000"/>
              <a:t> is pointing to for the given input:</a:t>
            </a:r>
            <a:endParaRPr lang="en-US"/>
          </a:p>
        </p:txBody>
      </p:sp>
      <p:pic>
        <p:nvPicPr>
          <p:cNvPr id="4" name="Picture 3" descr="A screenshot of a computer&#10;&#10;AI-generated content may be incorrect.">
            <a:extLst>
              <a:ext uri="{FF2B5EF4-FFF2-40B4-BE49-F238E27FC236}">
                <a16:creationId xmlns:a16="http://schemas.microsoft.com/office/drawing/2014/main" id="{BAE48837-2ED6-D05F-B929-8A21D7B9F1BC}"/>
              </a:ext>
            </a:extLst>
          </p:cNvPr>
          <p:cNvPicPr>
            <a:picLocks noChangeAspect="1"/>
          </p:cNvPicPr>
          <p:nvPr/>
        </p:nvPicPr>
        <p:blipFill>
          <a:blip r:embed="rId3"/>
          <a:srcRect l="2" t="-43" r="1124" b="7910"/>
          <a:stretch>
            <a:fillRect/>
          </a:stretch>
        </p:blipFill>
        <p:spPr>
          <a:xfrm>
            <a:off x="171578" y="1707726"/>
            <a:ext cx="8283576" cy="1532286"/>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046B8112-E22F-BF3D-2A33-BBAB5C4B5A52}"/>
              </a:ext>
            </a:extLst>
          </p:cNvPr>
          <p:cNvPicPr>
            <a:picLocks noChangeAspect="1"/>
          </p:cNvPicPr>
          <p:nvPr/>
        </p:nvPicPr>
        <p:blipFill>
          <a:blip r:embed="rId4"/>
          <a:stretch>
            <a:fillRect/>
          </a:stretch>
        </p:blipFill>
        <p:spPr>
          <a:xfrm>
            <a:off x="308387" y="4012407"/>
            <a:ext cx="6153621" cy="2459450"/>
          </a:xfrm>
          <a:prstGeom prst="rect">
            <a:avLst/>
          </a:prstGeom>
        </p:spPr>
      </p:pic>
      <p:sp>
        <p:nvSpPr>
          <p:cNvPr id="10" name="TextBox 9">
            <a:extLst>
              <a:ext uri="{FF2B5EF4-FFF2-40B4-BE49-F238E27FC236}">
                <a16:creationId xmlns:a16="http://schemas.microsoft.com/office/drawing/2014/main" id="{0A2EF568-6675-B39D-03C4-BB7676179757}"/>
              </a:ext>
            </a:extLst>
          </p:cNvPr>
          <p:cNvSpPr txBox="1"/>
          <p:nvPr/>
        </p:nvSpPr>
        <p:spPr>
          <a:xfrm>
            <a:off x="310591" y="3427824"/>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0" i="0">
                <a:solidFill>
                  <a:srgbClr val="3B3B3B"/>
                </a:solidFill>
                <a:latin typeface="Arial"/>
                <a:ea typeface="-apple-system"/>
                <a:cs typeface="-apple-system"/>
              </a:rPr>
              <a:t>In case string:</a:t>
            </a:r>
            <a:endParaRPr lang="en-US" sz="2000">
              <a:latin typeface="Arial"/>
            </a:endParaRPr>
          </a:p>
          <a:p>
            <a:pPr algn="ctr"/>
            <a:endParaRPr lang="en-US"/>
          </a:p>
        </p:txBody>
      </p:sp>
    </p:spTree>
    <p:extLst>
      <p:ext uri="{BB962C8B-B14F-4D97-AF65-F5344CB8AC3E}">
        <p14:creationId xmlns:p14="http://schemas.microsoft.com/office/powerpoint/2010/main" val="25648019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C4CFE-A5A6-1B0B-7167-893690E94EB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B8F93B9-8A8C-90E4-824C-CBB78062CDB1}"/>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A7A2401-1AFD-DCDD-B30A-B6D7FA3FAA62}"/>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8BEA000E-01B2-692F-83AA-0EC343E2DDBE}"/>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A1F8D8BE-C376-C6AC-3D70-2348A2CCAE62}"/>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9DDCA3AD-2525-8447-0777-5399EF2178A2}"/>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370D1DDF-6669-A79B-9ED2-68163DC71A30}"/>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8" name="TextBox 7">
            <a:extLst>
              <a:ext uri="{FF2B5EF4-FFF2-40B4-BE49-F238E27FC236}">
                <a16:creationId xmlns:a16="http://schemas.microsoft.com/office/drawing/2014/main" id="{CB0FAA84-9435-B99D-8A71-23F6CDA9C061}"/>
              </a:ext>
            </a:extLst>
          </p:cNvPr>
          <p:cNvSpPr txBox="1"/>
          <p:nvPr/>
        </p:nvSpPr>
        <p:spPr>
          <a:xfrm>
            <a:off x="293874" y="1312615"/>
            <a:ext cx="11166011" cy="677108"/>
          </a:xfrm>
          <a:prstGeom prst="rect">
            <a:avLst/>
          </a:prstGeom>
          <a:noFill/>
        </p:spPr>
        <p:txBody>
          <a:bodyPr wrap="square" lIns="91440" tIns="45720" rIns="91440" bIns="45720" rtlCol="0" anchor="t">
            <a:spAutoFit/>
          </a:bodyPr>
          <a:lstStyle/>
          <a:p>
            <a:r>
              <a:rPr lang="en-US" sz="2000"/>
              <a:t>In this case, </a:t>
            </a:r>
            <a:r>
              <a:rPr lang="en-US">
                <a:highlight>
                  <a:srgbClr val="C0C0C0"/>
                </a:highlight>
              </a:rPr>
              <a:t>value</a:t>
            </a:r>
            <a:r>
              <a:rPr lang="en-US" sz="2000"/>
              <a:t> points to </a:t>
            </a:r>
            <a:r>
              <a:rPr lang="en-US">
                <a:highlight>
                  <a:srgbClr val="C0C0C0"/>
                </a:highlight>
              </a:rPr>
              <a:t>value-&gt;</a:t>
            </a:r>
            <a:r>
              <a:rPr lang="en-US" err="1">
                <a:highlight>
                  <a:srgbClr val="C0C0C0"/>
                </a:highlight>
              </a:rPr>
              <a:t>u.string.ptr</a:t>
            </a:r>
            <a:r>
              <a:rPr lang="en-US" sz="2000"/>
              <a:t>. By tracking this variable, we can see that:</a:t>
            </a:r>
            <a:br>
              <a:rPr lang="en-US"/>
            </a:br>
            <a:endParaRPr lang="en-US"/>
          </a:p>
        </p:txBody>
      </p:sp>
      <p:pic>
        <p:nvPicPr>
          <p:cNvPr id="5" name="Picture 4" descr="A close-up of a word&#10;&#10;AI-generated content may be incorrect.">
            <a:extLst>
              <a:ext uri="{FF2B5EF4-FFF2-40B4-BE49-F238E27FC236}">
                <a16:creationId xmlns:a16="http://schemas.microsoft.com/office/drawing/2014/main" id="{B6B446B2-A7FB-49EB-7D2F-9F57088D3526}"/>
              </a:ext>
            </a:extLst>
          </p:cNvPr>
          <p:cNvPicPr>
            <a:picLocks noChangeAspect="1"/>
          </p:cNvPicPr>
          <p:nvPr/>
        </p:nvPicPr>
        <p:blipFill>
          <a:blip r:embed="rId3"/>
          <a:stretch>
            <a:fillRect/>
          </a:stretch>
        </p:blipFill>
        <p:spPr>
          <a:xfrm>
            <a:off x="296862" y="1733021"/>
            <a:ext cx="10582275" cy="1190625"/>
          </a:xfrm>
          <a:prstGeom prst="rect">
            <a:avLst/>
          </a:prstGeom>
        </p:spPr>
      </p:pic>
      <p:pic>
        <p:nvPicPr>
          <p:cNvPr id="9" name="Picture 8" descr="A computer code with black text&#10;&#10;AI-generated content may be incorrect.">
            <a:extLst>
              <a:ext uri="{FF2B5EF4-FFF2-40B4-BE49-F238E27FC236}">
                <a16:creationId xmlns:a16="http://schemas.microsoft.com/office/drawing/2014/main" id="{7EDF4AB1-2442-D24A-5F4E-DB29ECE75BD8}"/>
              </a:ext>
            </a:extLst>
          </p:cNvPr>
          <p:cNvPicPr>
            <a:picLocks noChangeAspect="1"/>
          </p:cNvPicPr>
          <p:nvPr/>
        </p:nvPicPr>
        <p:blipFill>
          <a:blip r:embed="rId4"/>
          <a:stretch>
            <a:fillRect/>
          </a:stretch>
        </p:blipFill>
        <p:spPr>
          <a:xfrm>
            <a:off x="301390" y="3065521"/>
            <a:ext cx="10610850" cy="2495550"/>
          </a:xfrm>
          <a:prstGeom prst="rect">
            <a:avLst/>
          </a:prstGeom>
        </p:spPr>
      </p:pic>
    </p:spTree>
    <p:extLst>
      <p:ext uri="{BB962C8B-B14F-4D97-AF65-F5344CB8AC3E}">
        <p14:creationId xmlns:p14="http://schemas.microsoft.com/office/powerpoint/2010/main" val="20848683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09F36-B8C9-4C5C-D3B8-D7EDCA9FC85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3C82DA8-BCFF-2455-7267-E0519929AB9B}"/>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1E08DAA-D50D-CF09-62C0-32D8DDDC3DE4}"/>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3</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36D62D61-DE3C-D20E-9E2B-7826D6A1027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ED7596F2-C7A0-BFDF-9496-BD3E0F3AF117}"/>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5C933E82-DCE0-F4F4-92F8-5C81301C5822}"/>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9833AE22-2A4A-3311-40FC-4CE10BDB21F7}"/>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pic>
        <p:nvPicPr>
          <p:cNvPr id="9" name="Picture 8" descr="A computer code with black text&#10;&#10;AI-generated content may be incorrect.">
            <a:extLst>
              <a:ext uri="{FF2B5EF4-FFF2-40B4-BE49-F238E27FC236}">
                <a16:creationId xmlns:a16="http://schemas.microsoft.com/office/drawing/2014/main" id="{19447465-E42C-CF42-DEAB-B886FE01208C}"/>
              </a:ext>
            </a:extLst>
          </p:cNvPr>
          <p:cNvPicPr>
            <a:picLocks noChangeAspect="1"/>
          </p:cNvPicPr>
          <p:nvPr/>
        </p:nvPicPr>
        <p:blipFill>
          <a:blip r:embed="rId3"/>
          <a:stretch>
            <a:fillRect/>
          </a:stretch>
        </p:blipFill>
        <p:spPr>
          <a:xfrm>
            <a:off x="171504" y="1316385"/>
            <a:ext cx="10610850" cy="2495550"/>
          </a:xfrm>
          <a:prstGeom prst="rect">
            <a:avLst/>
          </a:prstGeom>
        </p:spPr>
      </p:pic>
      <p:sp>
        <p:nvSpPr>
          <p:cNvPr id="4" name="TextBox 3">
            <a:extLst>
              <a:ext uri="{FF2B5EF4-FFF2-40B4-BE49-F238E27FC236}">
                <a16:creationId xmlns:a16="http://schemas.microsoft.com/office/drawing/2014/main" id="{2BF4ECA3-22B5-5FA5-CA40-55D819CF1617}"/>
              </a:ext>
            </a:extLst>
          </p:cNvPr>
          <p:cNvSpPr txBox="1"/>
          <p:nvPr/>
        </p:nvSpPr>
        <p:spPr>
          <a:xfrm>
            <a:off x="160488" y="3989092"/>
            <a:ext cx="11316268" cy="21185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a:t>At this point, the value of </a:t>
            </a:r>
            <a:r>
              <a:rPr lang="en-US">
                <a:highlight>
                  <a:srgbClr val="C0C0C0"/>
                </a:highlight>
              </a:rPr>
              <a:t>value-&gt;</a:t>
            </a:r>
            <a:r>
              <a:rPr lang="en-US" err="1">
                <a:highlight>
                  <a:srgbClr val="C0C0C0"/>
                </a:highlight>
              </a:rPr>
              <a:t>u.string.ptr</a:t>
            </a:r>
            <a:r>
              <a:rPr lang="en-US">
                <a:highlight>
                  <a:srgbClr val="C0C0C0"/>
                </a:highlight>
              </a:rPr>
              <a:t> </a:t>
            </a:r>
            <a:r>
              <a:rPr lang="en-US"/>
              <a:t>is decreased by 1 byte due to the statement immediately before line 296. Specifically, line 279 (</a:t>
            </a:r>
            <a:r>
              <a:rPr lang="en-US">
                <a:highlight>
                  <a:srgbClr val="C0C0C0"/>
                </a:highlight>
              </a:rPr>
              <a:t>value-&gt;</a:t>
            </a:r>
            <a:r>
              <a:rPr lang="en-US" err="1">
                <a:highlight>
                  <a:srgbClr val="C0C0C0"/>
                </a:highlight>
              </a:rPr>
              <a:t>u.string.ptr</a:t>
            </a:r>
            <a:r>
              <a:rPr lang="en-US">
                <a:highlight>
                  <a:srgbClr val="C0C0C0"/>
                </a:highlight>
              </a:rPr>
              <a:t>--;</a:t>
            </a:r>
            <a:r>
              <a:rPr lang="en-US"/>
              <a:t>) moves the pointer back by one byte, causing it to point to an incorrect memory location. As a result, when </a:t>
            </a:r>
            <a:r>
              <a:rPr lang="en-US">
                <a:highlight>
                  <a:srgbClr val="C0C0C0"/>
                </a:highlight>
              </a:rPr>
              <a:t>settings-&gt;</a:t>
            </a:r>
            <a:r>
              <a:rPr lang="en-US" err="1">
                <a:highlight>
                  <a:srgbClr val="C0C0C0"/>
                </a:highlight>
              </a:rPr>
              <a:t>mem_free</a:t>
            </a:r>
            <a:r>
              <a:rPr lang="en-US">
                <a:highlight>
                  <a:srgbClr val="C0C0C0"/>
                </a:highlight>
              </a:rPr>
              <a:t>(value-&gt;</a:t>
            </a:r>
            <a:r>
              <a:rPr lang="en-US" err="1">
                <a:highlight>
                  <a:srgbClr val="C0C0C0"/>
                </a:highlight>
              </a:rPr>
              <a:t>u.string.ptr</a:t>
            </a:r>
            <a:r>
              <a:rPr lang="en-US">
                <a:highlight>
                  <a:srgbClr val="C0C0C0"/>
                </a:highlight>
              </a:rPr>
              <a:t>, settings-&gt;</a:t>
            </a:r>
            <a:r>
              <a:rPr lang="en-US" err="1">
                <a:highlight>
                  <a:srgbClr val="C0C0C0"/>
                </a:highlight>
              </a:rPr>
              <a:t>user_data</a:t>
            </a:r>
            <a:r>
              <a:rPr lang="en-US">
                <a:highlight>
                  <a:srgbClr val="C0C0C0"/>
                </a:highlight>
              </a:rPr>
              <a:t>);</a:t>
            </a:r>
            <a:r>
              <a:rPr lang="en-US"/>
              <a:t> is executed later at line 302, it frees an invalid pointer, leading to the crash observed in the initial stack trace.</a:t>
            </a:r>
          </a:p>
          <a:p>
            <a:pPr algn="ctr">
              <a:lnSpc>
                <a:spcPct val="150000"/>
              </a:lnSpc>
            </a:pPr>
            <a:endParaRPr lang="en-US"/>
          </a:p>
        </p:txBody>
      </p:sp>
      <p:sp>
        <p:nvSpPr>
          <p:cNvPr id="10" name="Rectangle 9">
            <a:extLst>
              <a:ext uri="{FF2B5EF4-FFF2-40B4-BE49-F238E27FC236}">
                <a16:creationId xmlns:a16="http://schemas.microsoft.com/office/drawing/2014/main" id="{CCAD1093-FCD0-74BC-EB93-7BA414BE919A}"/>
              </a:ext>
            </a:extLst>
          </p:cNvPr>
          <p:cNvSpPr/>
          <p:nvPr/>
        </p:nvSpPr>
        <p:spPr>
          <a:xfrm>
            <a:off x="253047" y="2448557"/>
            <a:ext cx="3508525" cy="65121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258FD12-6BFC-53A1-FBCE-66A4D1F73ABD}"/>
              </a:ext>
            </a:extLst>
          </p:cNvPr>
          <p:cNvSpPr txBox="1"/>
          <p:nvPr/>
        </p:nvSpPr>
        <p:spPr>
          <a:xfrm>
            <a:off x="4075086" y="2369126"/>
            <a:ext cx="3796589" cy="400110"/>
          </a:xfrm>
          <a:prstGeom prst="rect">
            <a:avLst/>
          </a:prstGeom>
          <a:noFill/>
        </p:spPr>
        <p:txBody>
          <a:bodyPr wrap="square" lIns="91440" tIns="45720" rIns="91440" bIns="45720" rtlCol="0" anchor="t">
            <a:spAutoFit/>
          </a:bodyPr>
          <a:lstStyle/>
          <a:p>
            <a:r>
              <a:rPr lang="en-US" b="1">
                <a:solidFill>
                  <a:srgbClr val="FF0000"/>
                </a:solidFill>
              </a:rPr>
              <a:t>Error 3 found </a:t>
            </a:r>
            <a:r>
              <a:rPr lang="en-US" sz="2000" b="1">
                <a:solidFill>
                  <a:srgbClr val="FF0000"/>
                </a:solidFill>
              </a:rPr>
              <a:t>!</a:t>
            </a:r>
          </a:p>
        </p:txBody>
      </p:sp>
    </p:spTree>
    <p:extLst>
      <p:ext uri="{BB962C8B-B14F-4D97-AF65-F5344CB8AC3E}">
        <p14:creationId xmlns:p14="http://schemas.microsoft.com/office/powerpoint/2010/main" val="9248741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76762-04FF-A47F-2AE3-27B47B88B04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A064BC9-EAE1-AB0E-D7C1-A2CD8F63984C}"/>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AF44E4A-0C4D-58D8-4D04-93DCC4E7BCB8}"/>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4</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3AA84AD7-4F6C-0CE9-CFB4-840DBFCE260D}"/>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pic>
        <p:nvPicPr>
          <p:cNvPr id="2" name="Picture 1">
            <a:extLst>
              <a:ext uri="{FF2B5EF4-FFF2-40B4-BE49-F238E27FC236}">
                <a16:creationId xmlns:a16="http://schemas.microsoft.com/office/drawing/2014/main" id="{6ECE2F72-9E9F-C420-F3EE-E492714EAAB0}"/>
              </a:ext>
            </a:extLst>
          </p:cNvPr>
          <p:cNvPicPr>
            <a:picLocks noChangeAspect="1"/>
          </p:cNvPicPr>
          <p:nvPr/>
        </p:nvPicPr>
        <p:blipFill>
          <a:blip r:embed="rId3"/>
          <a:srcRect l="611" r="91" b="2174"/>
          <a:stretch>
            <a:fillRect/>
          </a:stretch>
        </p:blipFill>
        <p:spPr>
          <a:xfrm>
            <a:off x="259350" y="2406352"/>
            <a:ext cx="11082609" cy="418559"/>
          </a:xfrm>
          <a:prstGeom prst="rect">
            <a:avLst/>
          </a:prstGeom>
        </p:spPr>
      </p:pic>
      <p:sp>
        <p:nvSpPr>
          <p:cNvPr id="5" name="TextBox 4">
            <a:extLst>
              <a:ext uri="{FF2B5EF4-FFF2-40B4-BE49-F238E27FC236}">
                <a16:creationId xmlns:a16="http://schemas.microsoft.com/office/drawing/2014/main" id="{D32D39B9-E819-3652-C63B-0C014373F5E4}"/>
              </a:ext>
            </a:extLst>
          </p:cNvPr>
          <p:cNvSpPr txBox="1"/>
          <p:nvPr/>
        </p:nvSpPr>
        <p:spPr>
          <a:xfrm>
            <a:off x="171578" y="1257485"/>
            <a:ext cx="11160991" cy="1323439"/>
          </a:xfrm>
          <a:prstGeom prst="rect">
            <a:avLst/>
          </a:prstGeom>
          <a:noFill/>
        </p:spPr>
        <p:txBody>
          <a:bodyPr wrap="square" lIns="91440" tIns="45720" rIns="91440" bIns="45720" rtlCol="0" anchor="t">
            <a:spAutoFit/>
          </a:bodyPr>
          <a:lstStyle/>
          <a:p>
            <a:pPr>
              <a:lnSpc>
                <a:spcPct val="150000"/>
              </a:lnSpc>
            </a:pPr>
            <a:r>
              <a:rPr lang="en-US" sz="2000"/>
              <a:t>For example, one crash id recorded by AFL++:</a:t>
            </a:r>
            <a:endParaRPr lang="en-US"/>
          </a:p>
          <a:p>
            <a:pPr>
              <a:lnSpc>
                <a:spcPct val="150000"/>
              </a:lnSpc>
            </a:pPr>
            <a:r>
              <a:rPr lang="en-US" sz="2000">
                <a:highlight>
                  <a:srgbClr val="C0C0C0"/>
                </a:highlight>
              </a:rPr>
              <a:t>crashes/id:000003,sig:06,src:000193+000313,time:2888,execs:12608,op:splice,rep:3</a:t>
            </a:r>
          </a:p>
          <a:p>
            <a:endParaRPr lang="en-US" sz="2000"/>
          </a:p>
        </p:txBody>
      </p:sp>
      <p:sp>
        <p:nvSpPr>
          <p:cNvPr id="9" name="TextBox 8">
            <a:extLst>
              <a:ext uri="{FF2B5EF4-FFF2-40B4-BE49-F238E27FC236}">
                <a16:creationId xmlns:a16="http://schemas.microsoft.com/office/drawing/2014/main" id="{B39A5142-428C-C76C-3E83-8AD6CC12C0E9}"/>
              </a:ext>
            </a:extLst>
          </p:cNvPr>
          <p:cNvSpPr txBox="1"/>
          <p:nvPr/>
        </p:nvSpPr>
        <p:spPr>
          <a:xfrm>
            <a:off x="191168" y="2951703"/>
            <a:ext cx="6388526" cy="369332"/>
          </a:xfrm>
          <a:prstGeom prst="rect">
            <a:avLst/>
          </a:prstGeom>
          <a:noFill/>
        </p:spPr>
        <p:txBody>
          <a:bodyPr wrap="square" rtlCol="0">
            <a:spAutoFit/>
          </a:bodyPr>
          <a:lstStyle/>
          <a:p>
            <a:r>
              <a:rPr lang="en-US"/>
              <a:t>Here is the result:</a:t>
            </a:r>
          </a:p>
        </p:txBody>
      </p:sp>
      <p:sp>
        <p:nvSpPr>
          <p:cNvPr id="11" name="TextBox 10">
            <a:extLst>
              <a:ext uri="{FF2B5EF4-FFF2-40B4-BE49-F238E27FC236}">
                <a16:creationId xmlns:a16="http://schemas.microsoft.com/office/drawing/2014/main" id="{25D54F76-D651-75CA-2A86-3DBBC56FE71F}"/>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pic>
        <p:nvPicPr>
          <p:cNvPr id="16" name="Picture 15">
            <a:extLst>
              <a:ext uri="{FF2B5EF4-FFF2-40B4-BE49-F238E27FC236}">
                <a16:creationId xmlns:a16="http://schemas.microsoft.com/office/drawing/2014/main" id="{F4410038-73A0-8639-A7C7-697FFF498C8B}"/>
              </a:ext>
            </a:extLst>
          </p:cNvPr>
          <p:cNvPicPr>
            <a:picLocks noChangeAspect="1"/>
          </p:cNvPicPr>
          <p:nvPr/>
        </p:nvPicPr>
        <p:blipFill>
          <a:blip r:embed="rId4"/>
          <a:stretch>
            <a:fillRect/>
          </a:stretch>
        </p:blipFill>
        <p:spPr>
          <a:xfrm>
            <a:off x="259350" y="3431352"/>
            <a:ext cx="7487003" cy="2968038"/>
          </a:xfrm>
          <a:prstGeom prst="rect">
            <a:avLst/>
          </a:prstGeom>
        </p:spPr>
      </p:pic>
    </p:spTree>
    <p:extLst>
      <p:ext uri="{BB962C8B-B14F-4D97-AF65-F5344CB8AC3E}">
        <p14:creationId xmlns:p14="http://schemas.microsoft.com/office/powerpoint/2010/main" val="32054322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12173-DD79-710C-B787-832FC2581EE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D0077B9-01FE-8F2C-E35A-0417782857AC}"/>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F0C1AF7-2A50-4FB7-5175-922D96BC6981}"/>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4</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6A0C9BA4-DAA9-3D28-1011-4728605069F3}"/>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pic>
        <p:nvPicPr>
          <p:cNvPr id="2" name="Picture 1">
            <a:extLst>
              <a:ext uri="{FF2B5EF4-FFF2-40B4-BE49-F238E27FC236}">
                <a16:creationId xmlns:a16="http://schemas.microsoft.com/office/drawing/2014/main" id="{45E8B726-EC00-CE65-9A64-B1E22799D949}"/>
              </a:ext>
            </a:extLst>
          </p:cNvPr>
          <p:cNvPicPr>
            <a:picLocks noChangeAspect="1"/>
          </p:cNvPicPr>
          <p:nvPr/>
        </p:nvPicPr>
        <p:blipFill>
          <a:blip r:embed="rId3"/>
          <a:srcRect l="611" r="91" b="2174"/>
          <a:stretch>
            <a:fillRect/>
          </a:stretch>
        </p:blipFill>
        <p:spPr>
          <a:xfrm>
            <a:off x="259350" y="2406352"/>
            <a:ext cx="11082609" cy="418559"/>
          </a:xfrm>
          <a:prstGeom prst="rect">
            <a:avLst/>
          </a:prstGeom>
        </p:spPr>
      </p:pic>
      <p:sp>
        <p:nvSpPr>
          <p:cNvPr id="5" name="TextBox 4">
            <a:extLst>
              <a:ext uri="{FF2B5EF4-FFF2-40B4-BE49-F238E27FC236}">
                <a16:creationId xmlns:a16="http://schemas.microsoft.com/office/drawing/2014/main" id="{7F46064B-DAB8-8103-77ED-B04D3F405296}"/>
              </a:ext>
            </a:extLst>
          </p:cNvPr>
          <p:cNvSpPr txBox="1"/>
          <p:nvPr/>
        </p:nvSpPr>
        <p:spPr>
          <a:xfrm>
            <a:off x="171578" y="1257485"/>
            <a:ext cx="11160991" cy="1323439"/>
          </a:xfrm>
          <a:prstGeom prst="rect">
            <a:avLst/>
          </a:prstGeom>
          <a:noFill/>
        </p:spPr>
        <p:txBody>
          <a:bodyPr wrap="square" lIns="91440" tIns="45720" rIns="91440" bIns="45720" rtlCol="0" anchor="t">
            <a:spAutoFit/>
          </a:bodyPr>
          <a:lstStyle/>
          <a:p>
            <a:pPr>
              <a:lnSpc>
                <a:spcPct val="150000"/>
              </a:lnSpc>
            </a:pPr>
            <a:r>
              <a:rPr lang="en-US" sz="2000"/>
              <a:t>For example, one crash id recorded by AFL++:</a:t>
            </a:r>
            <a:endParaRPr lang="en-US"/>
          </a:p>
          <a:p>
            <a:pPr>
              <a:lnSpc>
                <a:spcPct val="150000"/>
              </a:lnSpc>
            </a:pPr>
            <a:r>
              <a:rPr lang="en-US" sz="2000">
                <a:highlight>
                  <a:srgbClr val="C0C0C0"/>
                </a:highlight>
              </a:rPr>
              <a:t>crashes/id:000003,sig:06,src:000193+000313,time:2888,execs:12608,op:splice,rep:3</a:t>
            </a:r>
          </a:p>
          <a:p>
            <a:endParaRPr lang="en-US" sz="2000"/>
          </a:p>
        </p:txBody>
      </p:sp>
      <p:sp>
        <p:nvSpPr>
          <p:cNvPr id="9" name="TextBox 8">
            <a:extLst>
              <a:ext uri="{FF2B5EF4-FFF2-40B4-BE49-F238E27FC236}">
                <a16:creationId xmlns:a16="http://schemas.microsoft.com/office/drawing/2014/main" id="{CE4B35F1-0287-ABFF-605A-2F62735E0A9D}"/>
              </a:ext>
            </a:extLst>
          </p:cNvPr>
          <p:cNvSpPr txBox="1"/>
          <p:nvPr/>
        </p:nvSpPr>
        <p:spPr>
          <a:xfrm>
            <a:off x="191168" y="2951703"/>
            <a:ext cx="6388526" cy="369332"/>
          </a:xfrm>
          <a:prstGeom prst="rect">
            <a:avLst/>
          </a:prstGeom>
          <a:noFill/>
        </p:spPr>
        <p:txBody>
          <a:bodyPr wrap="square" rtlCol="0">
            <a:spAutoFit/>
          </a:bodyPr>
          <a:lstStyle/>
          <a:p>
            <a:r>
              <a:rPr lang="en-US"/>
              <a:t>Here is the result:</a:t>
            </a:r>
          </a:p>
        </p:txBody>
      </p:sp>
      <p:sp>
        <p:nvSpPr>
          <p:cNvPr id="11" name="TextBox 10">
            <a:extLst>
              <a:ext uri="{FF2B5EF4-FFF2-40B4-BE49-F238E27FC236}">
                <a16:creationId xmlns:a16="http://schemas.microsoft.com/office/drawing/2014/main" id="{3C5B9842-F704-CA3F-BE6B-8E35738FB831}"/>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pic>
        <p:nvPicPr>
          <p:cNvPr id="16" name="Picture 15" descr="A screenshot of a computer code&#10;&#10;AI-generated content may be incorrect.">
            <a:extLst>
              <a:ext uri="{FF2B5EF4-FFF2-40B4-BE49-F238E27FC236}">
                <a16:creationId xmlns:a16="http://schemas.microsoft.com/office/drawing/2014/main" id="{E15FFD74-C5FF-24DC-E53D-0B53213EF29B}"/>
              </a:ext>
            </a:extLst>
          </p:cNvPr>
          <p:cNvPicPr>
            <a:picLocks noChangeAspect="1"/>
          </p:cNvPicPr>
          <p:nvPr/>
        </p:nvPicPr>
        <p:blipFill>
          <a:blip r:embed="rId4"/>
          <a:stretch>
            <a:fillRect/>
          </a:stretch>
        </p:blipFill>
        <p:spPr>
          <a:xfrm>
            <a:off x="259350" y="3431352"/>
            <a:ext cx="7487003" cy="2968038"/>
          </a:xfrm>
          <a:prstGeom prst="rect">
            <a:avLst/>
          </a:prstGeom>
        </p:spPr>
      </p:pic>
      <p:sp>
        <p:nvSpPr>
          <p:cNvPr id="7" name="Rectangle 6">
            <a:extLst>
              <a:ext uri="{FF2B5EF4-FFF2-40B4-BE49-F238E27FC236}">
                <a16:creationId xmlns:a16="http://schemas.microsoft.com/office/drawing/2014/main" id="{51E36881-5AC4-DCA4-D702-CF2C8B537C32}"/>
              </a:ext>
            </a:extLst>
          </p:cNvPr>
          <p:cNvSpPr/>
          <p:nvPr/>
        </p:nvSpPr>
        <p:spPr>
          <a:xfrm>
            <a:off x="263408" y="5334001"/>
            <a:ext cx="2953925" cy="1063035"/>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82902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39235-4091-B4B1-A50F-847A996E48C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8AE2ACF-14E3-F190-CB70-5B1C01B808F2}"/>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1744841-B536-ADEA-1EA6-548D5330CD69}"/>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4</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469D7C0F-DE6F-A226-991F-8BBB5F2271FF}"/>
              </a:ext>
            </a:extLst>
          </p:cNvPr>
          <p:cNvSpPr/>
          <p:nvPr/>
        </p:nvSpPr>
        <p:spPr>
          <a:xfrm>
            <a:off x="2870108" y="2225594"/>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F45277A3-F5BB-876A-F576-DA830D2F1B93}"/>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6207F8B0-CDB1-6037-0B49-B5211C92DB4D}"/>
              </a:ext>
            </a:extLst>
          </p:cNvPr>
          <p:cNvSpPr/>
          <p:nvPr/>
        </p:nvSpPr>
        <p:spPr>
          <a:xfrm>
            <a:off x="3022508" y="2377994"/>
            <a:ext cx="360" cy="360"/>
          </a:xfrm>
          <a:custGeom>
            <a:avLst/>
            <a:gdLst/>
            <a:ahLst/>
            <a:cxnLst/>
            <a:rect l="0" t="0" r="r" b="b"/>
            <a:pathLst>
              <a:path w="1" h="1">
                <a:moveTo>
                  <a:pt x="0" y="0"/>
                </a:moveTo>
                <a:lnTo>
                  <a:pt x="0" y="0"/>
                </a:lnTo>
              </a:path>
            </a:pathLst>
          </a:custGeom>
          <a:ln/>
        </p:spPr>
        <p:txBody>
          <a:bodyPr/>
          <a:lstStyle/>
          <a:p>
            <a:endParaRPr lang="en-US"/>
          </a:p>
        </p:txBody>
      </p:sp>
      <p:pic>
        <p:nvPicPr>
          <p:cNvPr id="10" name="Picture 9" descr="A screenshot of a computer code&#10;&#10;AI-generated content may be incorrect.">
            <a:extLst>
              <a:ext uri="{FF2B5EF4-FFF2-40B4-BE49-F238E27FC236}">
                <a16:creationId xmlns:a16="http://schemas.microsoft.com/office/drawing/2014/main" id="{1BE3FDF7-B825-FCB2-B268-139213D47EE8}"/>
              </a:ext>
            </a:extLst>
          </p:cNvPr>
          <p:cNvPicPr>
            <a:picLocks noChangeAspect="1"/>
          </p:cNvPicPr>
          <p:nvPr/>
        </p:nvPicPr>
        <p:blipFill>
          <a:blip r:embed="rId3"/>
          <a:srcRect l="-84" r="1181" b="-156"/>
          <a:stretch>
            <a:fillRect/>
          </a:stretch>
        </p:blipFill>
        <p:spPr>
          <a:xfrm>
            <a:off x="171578" y="1964165"/>
            <a:ext cx="11031419" cy="4207094"/>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A6E5F679-7C90-10B2-1D32-5A62232E05B7}"/>
              </a:ext>
            </a:extLst>
          </p:cNvPr>
          <p:cNvSpPr txBox="1"/>
          <p:nvPr/>
        </p:nvSpPr>
        <p:spPr>
          <a:xfrm>
            <a:off x="171578" y="1369059"/>
            <a:ext cx="7092604" cy="400110"/>
          </a:xfrm>
          <a:prstGeom prst="rect">
            <a:avLst/>
          </a:prstGeom>
          <a:noFill/>
        </p:spPr>
        <p:txBody>
          <a:bodyPr wrap="square" lIns="91440" tIns="45720" rIns="91440" bIns="45720" rtlCol="0" anchor="t">
            <a:spAutoFit/>
          </a:bodyPr>
          <a:lstStyle/>
          <a:p>
            <a:r>
              <a:rPr lang="en-US" sz="2000"/>
              <a:t>Then we use </a:t>
            </a:r>
            <a:r>
              <a:rPr lang="en-US" sz="2000">
                <a:highlight>
                  <a:srgbClr val="C0C0C0"/>
                </a:highlight>
              </a:rPr>
              <a:t>(</a:t>
            </a:r>
            <a:r>
              <a:rPr lang="en-US" sz="2000" err="1">
                <a:highlight>
                  <a:srgbClr val="C0C0C0"/>
                </a:highlight>
              </a:rPr>
              <a:t>gdb</a:t>
            </a:r>
            <a:r>
              <a:rPr lang="en-US" sz="2000">
                <a:highlight>
                  <a:srgbClr val="C0C0C0"/>
                </a:highlight>
              </a:rPr>
              <a:t>) </a:t>
            </a:r>
            <a:r>
              <a:rPr lang="en-US" sz="2000" err="1">
                <a:highlight>
                  <a:srgbClr val="C0C0C0"/>
                </a:highlight>
              </a:rPr>
              <a:t>bt</a:t>
            </a:r>
            <a:r>
              <a:rPr lang="en-US" sz="2000"/>
              <a:t> to see all the error frames:</a:t>
            </a:r>
          </a:p>
        </p:txBody>
      </p:sp>
    </p:spTree>
    <p:extLst>
      <p:ext uri="{BB962C8B-B14F-4D97-AF65-F5344CB8AC3E}">
        <p14:creationId xmlns:p14="http://schemas.microsoft.com/office/powerpoint/2010/main" val="39438751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AA4EE-889D-1061-02EB-940147EE045C}"/>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A48CBDD-78BC-407C-9609-6CE758BB67A8}"/>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BCCF439-1511-59BF-BB2A-EFB335441502}"/>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4</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50A90E84-1E8D-C784-385F-D70744C92E29}"/>
              </a:ext>
            </a:extLst>
          </p:cNvPr>
          <p:cNvSpPr/>
          <p:nvPr/>
        </p:nvSpPr>
        <p:spPr>
          <a:xfrm>
            <a:off x="2870108" y="2225594"/>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C70183D5-A7EE-AAB1-CF19-5B9FB490DF8F}"/>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0DC45E1A-018C-2D60-B9F8-6EAAD54C680B}"/>
              </a:ext>
            </a:extLst>
          </p:cNvPr>
          <p:cNvSpPr/>
          <p:nvPr/>
        </p:nvSpPr>
        <p:spPr>
          <a:xfrm>
            <a:off x="3022508" y="2377994"/>
            <a:ext cx="360" cy="360"/>
          </a:xfrm>
          <a:custGeom>
            <a:avLst/>
            <a:gdLst/>
            <a:ahLst/>
            <a:cxnLst/>
            <a:rect l="0" t="0" r="r" b="b"/>
            <a:pathLst>
              <a:path w="1" h="1">
                <a:moveTo>
                  <a:pt x="0" y="0"/>
                </a:moveTo>
                <a:lnTo>
                  <a:pt x="0" y="0"/>
                </a:lnTo>
              </a:path>
            </a:pathLst>
          </a:custGeom>
          <a:ln/>
        </p:spPr>
        <p:txBody>
          <a:bodyPr/>
          <a:lstStyle/>
          <a:p>
            <a:endParaRPr lang="en-US"/>
          </a:p>
        </p:txBody>
      </p:sp>
      <p:pic>
        <p:nvPicPr>
          <p:cNvPr id="10" name="Picture 9" descr="A screenshot of a computer code&#10;&#10;AI-generated content may be incorrect.">
            <a:extLst>
              <a:ext uri="{FF2B5EF4-FFF2-40B4-BE49-F238E27FC236}">
                <a16:creationId xmlns:a16="http://schemas.microsoft.com/office/drawing/2014/main" id="{F17F9C5C-9F58-D4CE-5773-38E7A3906AEF}"/>
              </a:ext>
            </a:extLst>
          </p:cNvPr>
          <p:cNvPicPr>
            <a:picLocks noChangeAspect="1"/>
          </p:cNvPicPr>
          <p:nvPr/>
        </p:nvPicPr>
        <p:blipFill>
          <a:blip r:embed="rId3"/>
          <a:srcRect l="-84" r="1181" b="-156"/>
          <a:stretch>
            <a:fillRect/>
          </a:stretch>
        </p:blipFill>
        <p:spPr>
          <a:xfrm>
            <a:off x="171578" y="1964165"/>
            <a:ext cx="11031419" cy="4207094"/>
          </a:xfrm>
          <a:prstGeom prst="rect">
            <a:avLst/>
          </a:prstGeom>
          <a:ln>
            <a:noFill/>
          </a:ln>
          <a:effectLst>
            <a:outerShdw blurRad="292100" dist="139700" dir="2700000" algn="tl" rotWithShape="0">
              <a:srgbClr val="333333">
                <a:alpha val="65000"/>
              </a:srgbClr>
            </a:outerShdw>
          </a:effectLst>
        </p:spPr>
      </p:pic>
      <p:sp>
        <p:nvSpPr>
          <p:cNvPr id="14" name="TextBox 13">
            <a:extLst>
              <a:ext uri="{FF2B5EF4-FFF2-40B4-BE49-F238E27FC236}">
                <a16:creationId xmlns:a16="http://schemas.microsoft.com/office/drawing/2014/main" id="{67E1773F-7E09-49D8-0597-0DEF118D16CA}"/>
              </a:ext>
            </a:extLst>
          </p:cNvPr>
          <p:cNvSpPr txBox="1"/>
          <p:nvPr/>
        </p:nvSpPr>
        <p:spPr>
          <a:xfrm>
            <a:off x="171578" y="1369059"/>
            <a:ext cx="7092604" cy="400110"/>
          </a:xfrm>
          <a:prstGeom prst="rect">
            <a:avLst/>
          </a:prstGeom>
          <a:noFill/>
        </p:spPr>
        <p:txBody>
          <a:bodyPr wrap="square" lIns="91440" tIns="45720" rIns="91440" bIns="45720" rtlCol="0" anchor="t">
            <a:spAutoFit/>
          </a:bodyPr>
          <a:lstStyle/>
          <a:p>
            <a:r>
              <a:rPr lang="en-US" sz="2000"/>
              <a:t>Then we use </a:t>
            </a:r>
            <a:r>
              <a:rPr lang="en-US" sz="2000">
                <a:highlight>
                  <a:srgbClr val="C0C0C0"/>
                </a:highlight>
              </a:rPr>
              <a:t>(</a:t>
            </a:r>
            <a:r>
              <a:rPr lang="en-US" sz="2000" err="1">
                <a:highlight>
                  <a:srgbClr val="C0C0C0"/>
                </a:highlight>
              </a:rPr>
              <a:t>gdb</a:t>
            </a:r>
            <a:r>
              <a:rPr lang="en-US" sz="2000">
                <a:highlight>
                  <a:srgbClr val="C0C0C0"/>
                </a:highlight>
              </a:rPr>
              <a:t>) </a:t>
            </a:r>
            <a:r>
              <a:rPr lang="en-US" sz="2000" err="1">
                <a:highlight>
                  <a:srgbClr val="C0C0C0"/>
                </a:highlight>
              </a:rPr>
              <a:t>bt</a:t>
            </a:r>
            <a:r>
              <a:rPr lang="en-US" sz="2000"/>
              <a:t> to see all the error frames:</a:t>
            </a:r>
          </a:p>
        </p:txBody>
      </p:sp>
      <p:sp>
        <p:nvSpPr>
          <p:cNvPr id="4" name="Rectangle 3">
            <a:extLst>
              <a:ext uri="{FF2B5EF4-FFF2-40B4-BE49-F238E27FC236}">
                <a16:creationId xmlns:a16="http://schemas.microsoft.com/office/drawing/2014/main" id="{F4036D96-FC86-9BF3-DB53-D255B6FAA246}"/>
              </a:ext>
            </a:extLst>
          </p:cNvPr>
          <p:cNvSpPr/>
          <p:nvPr/>
        </p:nvSpPr>
        <p:spPr>
          <a:xfrm>
            <a:off x="254001" y="5277557"/>
            <a:ext cx="10872222" cy="314369"/>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73837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9A931-710E-D412-86BE-583983850B2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7865E8D-E27F-5E2C-3A68-0A56BF9932F4}"/>
              </a:ext>
            </a:extLst>
          </p:cNvPr>
          <p:cNvSpPr/>
          <p:nvPr/>
        </p:nvSpPr>
        <p:spPr>
          <a:xfrm>
            <a:off x="171578" y="6105514"/>
            <a:ext cx="11843925" cy="75259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2DA9361-E981-A681-797C-E0CB34B7180B}"/>
              </a:ext>
            </a:extLst>
          </p:cNvPr>
          <p:cNvSpPr txBox="1"/>
          <p:nvPr/>
        </p:nvSpPr>
        <p:spPr>
          <a:xfrm>
            <a:off x="168270" y="686741"/>
            <a:ext cx="688137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cs typeface="Arial"/>
              </a:rPr>
              <a:t>Error</a:t>
            </a:r>
            <a:r>
              <a:rPr lang="en-US" sz="2400" b="1">
                <a:solidFill>
                  <a:schemeClr val="bg1"/>
                </a:solidFill>
                <a:ea typeface="+mn-lt"/>
                <a:cs typeface="+mn-lt"/>
              </a:rPr>
              <a:t> 4</a:t>
            </a:r>
            <a:endParaRPr lang="en-US" sz="2400" b="1">
              <a:solidFill>
                <a:schemeClr val="bg1"/>
              </a:solidFill>
              <a:cs typeface="Arial"/>
            </a:endParaRPr>
          </a:p>
          <a:p>
            <a:endParaRPr lang="en-US" sz="2400" b="1"/>
          </a:p>
        </p:txBody>
      </p:sp>
      <p:sp>
        <p:nvSpPr>
          <p:cNvPr id="310" name="Freeform 1">
            <a:extLst>
              <a:ext uri="{FF2B5EF4-FFF2-40B4-BE49-F238E27FC236}">
                <a16:creationId xmlns:a16="http://schemas.microsoft.com/office/drawing/2014/main" id="{B272EA49-639F-DCBF-A388-4D0A717F66FA}"/>
              </a:ext>
            </a:extLst>
          </p:cNvPr>
          <p:cNvSpPr/>
          <p:nvPr/>
        </p:nvSpPr>
        <p:spPr>
          <a:xfrm>
            <a:off x="3209400" y="2164680"/>
            <a:ext cx="360" cy="360"/>
          </a:xfrm>
          <a:custGeom>
            <a:avLst/>
            <a:gdLst/>
            <a:ahLst/>
            <a:cxnLst/>
            <a:rect l="0" t="0" r="r" b="b"/>
            <a:pathLst>
              <a:path w="1" h="1">
                <a:moveTo>
                  <a:pt x="0" y="0"/>
                </a:moveTo>
                <a:lnTo>
                  <a:pt x="0" y="0"/>
                </a:lnTo>
              </a:path>
            </a:pathLst>
          </a:custGeom>
          <a:ln/>
        </p:spPr>
        <p:txBody>
          <a:bodyPr/>
          <a:lstStyle/>
          <a:p>
            <a:endParaRPr lang="en-US"/>
          </a:p>
        </p:txBody>
      </p:sp>
      <p:sp>
        <p:nvSpPr>
          <p:cNvPr id="11" name="TextBox 10">
            <a:extLst>
              <a:ext uri="{FF2B5EF4-FFF2-40B4-BE49-F238E27FC236}">
                <a16:creationId xmlns:a16="http://schemas.microsoft.com/office/drawing/2014/main" id="{62290CE8-F54B-A07D-6D02-4BBF53D878B7}"/>
              </a:ext>
            </a:extLst>
          </p:cNvPr>
          <p:cNvSpPr txBox="1"/>
          <p:nvPr/>
        </p:nvSpPr>
        <p:spPr>
          <a:xfrm>
            <a:off x="164523" y="69273"/>
            <a:ext cx="1009025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chemeClr val="bg1"/>
                </a:solidFill>
                <a:latin typeface="Arial"/>
                <a:ea typeface="Arial"/>
                <a:cs typeface="Arial"/>
              </a:rPr>
              <a:t>4. Finding error</a:t>
            </a:r>
            <a:endParaRPr lang="en-US" sz="3200" b="1">
              <a:solidFill>
                <a:schemeClr val="bg1"/>
              </a:solidFill>
            </a:endParaRPr>
          </a:p>
        </p:txBody>
      </p:sp>
      <p:sp>
        <p:nvSpPr>
          <p:cNvPr id="6" name="Freeform 1">
            <a:extLst>
              <a:ext uri="{FF2B5EF4-FFF2-40B4-BE49-F238E27FC236}">
                <a16:creationId xmlns:a16="http://schemas.microsoft.com/office/drawing/2014/main" id="{CEB830A6-4291-94AD-889A-7FF1F20B7A3A}"/>
              </a:ext>
            </a:extLst>
          </p:cNvPr>
          <p:cNvSpPr/>
          <p:nvPr/>
        </p:nvSpPr>
        <p:spPr>
          <a:xfrm>
            <a:off x="3361800" y="2317080"/>
            <a:ext cx="360" cy="360"/>
          </a:xfrm>
          <a:custGeom>
            <a:avLst/>
            <a:gdLst/>
            <a:ahLst/>
            <a:cxnLst/>
            <a:rect l="0" t="0" r="r" b="b"/>
            <a:pathLst>
              <a:path w="1" h="1">
                <a:moveTo>
                  <a:pt x="0" y="0"/>
                </a:moveTo>
                <a:lnTo>
                  <a:pt x="0" y="0"/>
                </a:lnTo>
              </a:path>
            </a:pathLst>
          </a:custGeom>
          <a:ln/>
        </p:spPr>
        <p:txBody>
          <a:bodyPr/>
          <a:lstStyle/>
          <a:p>
            <a:endParaRPr lang="en-US"/>
          </a:p>
        </p:txBody>
      </p:sp>
      <p:sp>
        <p:nvSpPr>
          <p:cNvPr id="2" name="Freeform 1">
            <a:extLst>
              <a:ext uri="{FF2B5EF4-FFF2-40B4-BE49-F238E27FC236}">
                <a16:creationId xmlns:a16="http://schemas.microsoft.com/office/drawing/2014/main" id="{10262C3F-A80B-5DFE-49F0-E54509EF33A1}"/>
              </a:ext>
            </a:extLst>
          </p:cNvPr>
          <p:cNvSpPr/>
          <p:nvPr/>
        </p:nvSpPr>
        <p:spPr>
          <a:xfrm>
            <a:off x="3206482" y="2841661"/>
            <a:ext cx="360" cy="360"/>
          </a:xfrm>
          <a:custGeom>
            <a:avLst/>
            <a:gdLst/>
            <a:ahLst/>
            <a:cxnLst/>
            <a:rect l="0" t="0" r="r" b="b"/>
            <a:pathLst>
              <a:path w="1" h="1">
                <a:moveTo>
                  <a:pt x="0" y="0"/>
                </a:moveTo>
                <a:lnTo>
                  <a:pt x="0" y="0"/>
                </a:lnTo>
              </a:path>
            </a:pathLst>
          </a:custGeom>
          <a:ln/>
        </p:spPr>
        <p:txBody>
          <a:bodyPr/>
          <a:lstStyle/>
          <a:p>
            <a:endParaRPr lang="en-US"/>
          </a:p>
        </p:txBody>
      </p:sp>
      <p:sp>
        <p:nvSpPr>
          <p:cNvPr id="4" name="TextBox 3">
            <a:extLst>
              <a:ext uri="{FF2B5EF4-FFF2-40B4-BE49-F238E27FC236}">
                <a16:creationId xmlns:a16="http://schemas.microsoft.com/office/drawing/2014/main" id="{D68D9D8E-4675-E0F5-A6A7-050BC14D1D22}"/>
              </a:ext>
            </a:extLst>
          </p:cNvPr>
          <p:cNvSpPr txBox="1"/>
          <p:nvPr/>
        </p:nvSpPr>
        <p:spPr>
          <a:xfrm>
            <a:off x="161605" y="1329590"/>
            <a:ext cx="7289061" cy="400110"/>
          </a:xfrm>
          <a:prstGeom prst="rect">
            <a:avLst/>
          </a:prstGeom>
          <a:noFill/>
        </p:spPr>
        <p:txBody>
          <a:bodyPr wrap="square" lIns="91440" tIns="45720" rIns="91440" bIns="45720" rtlCol="0" anchor="t">
            <a:spAutoFit/>
          </a:bodyPr>
          <a:lstStyle/>
          <a:p>
            <a:r>
              <a:rPr lang="en-US" sz="2000"/>
              <a:t>Using </a:t>
            </a:r>
            <a:r>
              <a:rPr lang="en-US" sz="2000">
                <a:highlight>
                  <a:srgbClr val="C0C0C0"/>
                </a:highlight>
              </a:rPr>
              <a:t>(</a:t>
            </a:r>
            <a:r>
              <a:rPr lang="en-US" sz="2000" err="1">
                <a:highlight>
                  <a:srgbClr val="C0C0C0"/>
                </a:highlight>
              </a:rPr>
              <a:t>gdb</a:t>
            </a:r>
            <a:r>
              <a:rPr lang="en-US" sz="2000">
                <a:highlight>
                  <a:srgbClr val="C0C0C0"/>
                </a:highlight>
              </a:rPr>
              <a:t>) frame 10</a:t>
            </a:r>
            <a:r>
              <a:rPr lang="en-US" sz="2000"/>
              <a:t> to inspect more about frame 10:</a:t>
            </a:r>
          </a:p>
        </p:txBody>
      </p:sp>
      <p:pic>
        <p:nvPicPr>
          <p:cNvPr id="5" name="Picture 4">
            <a:extLst>
              <a:ext uri="{FF2B5EF4-FFF2-40B4-BE49-F238E27FC236}">
                <a16:creationId xmlns:a16="http://schemas.microsoft.com/office/drawing/2014/main" id="{A26C4C94-53BE-09BA-E71D-40112D295C35}"/>
              </a:ext>
            </a:extLst>
          </p:cNvPr>
          <p:cNvPicPr>
            <a:picLocks noChangeAspect="1"/>
          </p:cNvPicPr>
          <p:nvPr/>
        </p:nvPicPr>
        <p:blipFill>
          <a:blip r:embed="rId3"/>
          <a:stretch>
            <a:fillRect/>
          </a:stretch>
        </p:blipFill>
        <p:spPr>
          <a:xfrm>
            <a:off x="161605" y="1904567"/>
            <a:ext cx="11088647" cy="7621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extBox 6">
            <a:extLst>
              <a:ext uri="{FF2B5EF4-FFF2-40B4-BE49-F238E27FC236}">
                <a16:creationId xmlns:a16="http://schemas.microsoft.com/office/drawing/2014/main" id="{CBBE06BD-B38F-23D9-5920-4E3F71DE9AAF}"/>
              </a:ext>
            </a:extLst>
          </p:cNvPr>
          <p:cNvSpPr txBox="1"/>
          <p:nvPr/>
        </p:nvSpPr>
        <p:spPr>
          <a:xfrm>
            <a:off x="161605" y="2826603"/>
            <a:ext cx="5903367" cy="400110"/>
          </a:xfrm>
          <a:prstGeom prst="rect">
            <a:avLst/>
          </a:prstGeom>
          <a:noFill/>
        </p:spPr>
        <p:txBody>
          <a:bodyPr wrap="square" lIns="91440" tIns="45720" rIns="91440" bIns="45720" rtlCol="0" anchor="t">
            <a:spAutoFit/>
          </a:bodyPr>
          <a:lstStyle/>
          <a:p>
            <a:r>
              <a:rPr lang="en-US" sz="2000"/>
              <a:t>Inspect the surrounding code:</a:t>
            </a:r>
          </a:p>
        </p:txBody>
      </p:sp>
      <p:sp>
        <p:nvSpPr>
          <p:cNvPr id="8" name="TextBox 7">
            <a:extLst>
              <a:ext uri="{FF2B5EF4-FFF2-40B4-BE49-F238E27FC236}">
                <a16:creationId xmlns:a16="http://schemas.microsoft.com/office/drawing/2014/main" id="{728EE631-D39C-7F4B-B054-48A30F9FACDD}"/>
              </a:ext>
            </a:extLst>
          </p:cNvPr>
          <p:cNvSpPr txBox="1"/>
          <p:nvPr/>
        </p:nvSpPr>
        <p:spPr>
          <a:xfrm>
            <a:off x="171012" y="5925126"/>
            <a:ext cx="3796589" cy="400110"/>
          </a:xfrm>
          <a:prstGeom prst="rect">
            <a:avLst/>
          </a:prstGeom>
          <a:noFill/>
        </p:spPr>
        <p:txBody>
          <a:bodyPr wrap="square" lIns="91440" tIns="45720" rIns="91440" bIns="45720" rtlCol="0" anchor="t">
            <a:spAutoFit/>
          </a:bodyPr>
          <a:lstStyle/>
          <a:p>
            <a:r>
              <a:rPr lang="en-US" b="1">
                <a:solidFill>
                  <a:srgbClr val="FF0000"/>
                </a:solidFill>
              </a:rPr>
              <a:t>Error 4 found </a:t>
            </a:r>
            <a:r>
              <a:rPr lang="en-US" sz="2000" b="1">
                <a:solidFill>
                  <a:srgbClr val="FF0000"/>
                </a:solidFill>
              </a:rPr>
              <a:t>!</a:t>
            </a:r>
          </a:p>
        </p:txBody>
      </p:sp>
      <p:pic>
        <p:nvPicPr>
          <p:cNvPr id="10" name="Picture 9">
            <a:extLst>
              <a:ext uri="{FF2B5EF4-FFF2-40B4-BE49-F238E27FC236}">
                <a16:creationId xmlns:a16="http://schemas.microsoft.com/office/drawing/2014/main" id="{A3D0A79B-ADC1-146C-0DE2-735678A4CC67}"/>
              </a:ext>
            </a:extLst>
          </p:cNvPr>
          <p:cNvPicPr>
            <a:picLocks noChangeAspect="1"/>
          </p:cNvPicPr>
          <p:nvPr/>
        </p:nvPicPr>
        <p:blipFill>
          <a:blip r:embed="rId4"/>
          <a:stretch>
            <a:fillRect/>
          </a:stretch>
        </p:blipFill>
        <p:spPr>
          <a:xfrm>
            <a:off x="300903" y="3232006"/>
            <a:ext cx="9096375" cy="2524125"/>
          </a:xfrm>
          <a:prstGeom prst="rect">
            <a:avLst/>
          </a:prstGeom>
        </p:spPr>
      </p:pic>
    </p:spTree>
    <p:extLst>
      <p:ext uri="{BB962C8B-B14F-4D97-AF65-F5344CB8AC3E}">
        <p14:creationId xmlns:p14="http://schemas.microsoft.com/office/powerpoint/2010/main" val="21609460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CustomShape 1"/>
          <p:cNvSpPr/>
          <p:nvPr/>
        </p:nvSpPr>
        <p:spPr>
          <a:xfrm>
            <a:off x="5756400" y="2824200"/>
            <a:ext cx="5136480" cy="9709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a:lnSpc>
                <a:spcPct val="90000"/>
              </a:lnSpc>
            </a:pPr>
            <a:r>
              <a:rPr lang="en-US" sz="6000" b="1" strike="noStrike" spc="-1">
                <a:solidFill>
                  <a:srgbClr val="C00000"/>
                </a:solidFill>
                <a:latin typeface="Lato"/>
                <a:ea typeface="Lato"/>
              </a:rPr>
              <a:t>THANK YOU !</a:t>
            </a:r>
            <a:endParaRPr lang="en-US" sz="6000" b="0" strike="noStrike" spc="-1">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c80d803b-ee30-4cf1-8997-d5dbef288d4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885E8D135CD643938305DEC3E1B53E" ma:contentTypeVersion="10" ma:contentTypeDescription="Create a new document." ma:contentTypeScope="" ma:versionID="da00761b783a11a1a05d1e79b2ebd702">
  <xsd:schema xmlns:xsd="http://www.w3.org/2001/XMLSchema" xmlns:xs="http://www.w3.org/2001/XMLSchema" xmlns:p="http://schemas.microsoft.com/office/2006/metadata/properties" xmlns:ns3="c80d803b-ee30-4cf1-8997-d5dbef288d47" targetNamespace="http://schemas.microsoft.com/office/2006/metadata/properties" ma:root="true" ma:fieldsID="1582b54370e3200b74c3b4b7eb6383bc" ns3:_="">
    <xsd:import namespace="c80d803b-ee30-4cf1-8997-d5dbef288d47"/>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3:MediaServiceSearchProperties" minOccurs="0"/>
                <xsd:element ref="ns3:MediaServiceGenerationTime" minOccurs="0"/>
                <xsd:element ref="ns3:MediaServiceEventHashCode" minOccurs="0"/>
                <xsd:element ref="ns3:MediaServiceSystemTags" minOccurs="0"/>
                <xsd:element ref="ns3:MediaLengthInSecond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0d803b-ee30-4cf1-8997-d5dbef288d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ystemTags" ma:index="15" nillable="true" ma:displayName="MediaServiceSystemTags" ma:hidden="true" ma:internalName="MediaServiceSystemTags" ma:readOnly="true">
      <xsd:simpleType>
        <xsd:restriction base="dms:Note"/>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F80DFC3-D477-4DFB-B72C-090BD3C3A71A}">
  <ds:schemaRefs>
    <ds:schemaRef ds:uri="http://schemas.microsoft.com/sharepoint/v3/contenttype/forms"/>
  </ds:schemaRefs>
</ds:datastoreItem>
</file>

<file path=customXml/itemProps2.xml><?xml version="1.0" encoding="utf-8"?>
<ds:datastoreItem xmlns:ds="http://schemas.openxmlformats.org/officeDocument/2006/customXml" ds:itemID="{2FF7D677-39B8-47C9-BB0A-1916EA7B352E}">
  <ds:schemaRefs>
    <ds:schemaRef ds:uri="c80d803b-ee30-4cf1-8997-d5dbef288d4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576B468-69FB-43C8-8DA1-D8894A823E79}">
  <ds:schemaRefs>
    <ds:schemaRef ds:uri="c80d803b-ee30-4cf1-8997-d5dbef288d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80</Slides>
  <Notes>72</Notes>
  <HiddenSlides>0</HiddenSlides>
  <ScaleCrop>false</ScaleCrop>
  <HeadingPairs>
    <vt:vector size="4" baseType="variant">
      <vt:variant>
        <vt:lpstr>Theme</vt:lpstr>
      </vt:variant>
      <vt:variant>
        <vt:i4>5</vt:i4>
      </vt:variant>
      <vt:variant>
        <vt:lpstr>Slide Titles</vt:lpstr>
      </vt:variant>
      <vt:variant>
        <vt:i4>80</vt:i4>
      </vt:variant>
    </vt:vector>
  </HeadingPairs>
  <TitlesOfParts>
    <vt:vector size="85" baseType="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Phong TT &amp; QTTH</dc:creator>
  <dc:description/>
  <cp:revision>2</cp:revision>
  <dcterms:created xsi:type="dcterms:W3CDTF">2020-12-31T09:57:48Z</dcterms:created>
  <dcterms:modified xsi:type="dcterms:W3CDTF">2025-12-22T10:16:52Z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0x01010091885E8D135CD643938305DEC3E1B53E</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